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2" r:id="rId2"/>
  </p:sldMasterIdLst>
  <p:notesMasterIdLst>
    <p:notesMasterId r:id="rId26"/>
  </p:notesMasterIdLst>
  <p:sldIdLst>
    <p:sldId id="262" r:id="rId9"/>
    <p:sldId id="265" r:id="rId12"/>
    <p:sldId id="267" r:id="rId14"/>
    <p:sldId id="269" r:id="rId16"/>
    <p:sldId id="270" r:id="rId17"/>
    <p:sldId id="275" r:id="rId22"/>
    <p:sldId id="276" r:id="rId23"/>
  </p:sldIdLst>
  <p:sldSz cx="9144000" cy="5143500" type="screen16x9"/>
  <p:notesSz cx="5143500" cy="9144000"/>
  <p:embeddedFontLst>
    <p:embeddedFont>
      <p:font typeface="Inter" panose="020B0604020202020204" charset="0"/>
      <p:regular r:id="rId27"/>
      <p:bold r:id="rId28"/>
      <p:italic r:id="rId29"/>
      <p:boldItalic r:id="rId30"/>
    </p:embeddedFont>
    <p:embeddedFont>
      <p:font typeface="Inter SemiBold" panose="020B0604020202020204" charset="0"/>
      <p:regular r:id="rId31"/>
      <p:bold r:id="rId32"/>
      <p:italic r:id="rId33"/>
      <p:boldItalic r:id="rId34"/>
    </p:embeddedFont>
    <p:embeddedFont>
      <p:font typeface="Inter Tight" panose="020B0604020202020204" charset="0"/>
      <p:regular r:id="rId35"/>
      <p:bold r:id="rId36"/>
      <p:italic r:id="rId37"/>
      <p:boldItalic r:id="rId38"/>
    </p:embeddedFont>
    <p:embeddedFont>
      <p:font typeface="Momo Trust Display" panose="020B0604020202020204" charset="0"/>
      <p:regular r:id="rId39"/>
    </p:embeddedFont>
    <p:embeddedFont>
      <p:font typeface="Momo Trust Sans" panose="020B0604020202020204" charset="0"/>
      <p:regular r:id="rId40"/>
      <p:bold r:id="rId41"/>
    </p:embeddedFont>
    <p:embeddedFont>
      <p:font typeface="Momo Trust Sans SemiBold" panose="020B0604020202020204" charset="0"/>
      <p:regular r:id="rId42"/>
      <p:bold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g9aMRGqxliLC/9/bTCfiAzxGwc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4150D1B-22CA-4B41-9D43-DA15F05A9917}">
  <a:tblStyle styleId="{E4150D1B-22CA-4B41-9D43-DA15F05A99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300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9" Type="http://schemas.openxmlformats.org/officeDocument/2006/relationships/slide" Target="slides/slide7.xml"/><Relationship Id="rId12" Type="http://schemas.openxmlformats.org/officeDocument/2006/relationships/slide" Target="slides/slide10.xml"/><Relationship Id="rId14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Relationship Id="rId32" Type="http://schemas.openxmlformats.org/officeDocument/2006/relationships/font" Target="fonts/font6.fntdata"/><Relationship Id="rId33" Type="http://schemas.openxmlformats.org/officeDocument/2006/relationships/font" Target="fonts/font7.fntdata"/><Relationship Id="rId34" Type="http://schemas.openxmlformats.org/officeDocument/2006/relationships/font" Target="fonts/font8.fntdata"/><Relationship Id="rId35" Type="http://schemas.openxmlformats.org/officeDocument/2006/relationships/font" Target="fonts/font9.fntdata"/><Relationship Id="rId36" Type="http://schemas.openxmlformats.org/officeDocument/2006/relationships/font" Target="fonts/font10.fntdata"/><Relationship Id="rId37" Type="http://schemas.openxmlformats.org/officeDocument/2006/relationships/font" Target="fonts/font11.fntdata"/><Relationship Id="rId38" Type="http://schemas.openxmlformats.org/officeDocument/2006/relationships/font" Target="fonts/font12.fntdata"/><Relationship Id="rId39" Type="http://schemas.openxmlformats.org/officeDocument/2006/relationships/font" Target="fonts/font13.fntdata"/><Relationship Id="rId40" Type="http://schemas.openxmlformats.org/officeDocument/2006/relationships/font" Target="fonts/font14.fntdata"/><Relationship Id="rId41" Type="http://schemas.openxmlformats.org/officeDocument/2006/relationships/font" Target="fonts/font15.fntdata"/><Relationship Id="rId42" Type="http://schemas.openxmlformats.org/officeDocument/2006/relationships/font" Target="fonts/font16.fntdata"/><Relationship Id="rId43" Type="http://schemas.openxmlformats.org/officeDocument/2006/relationships/font" Target="fonts/font17.fntdata"/><Relationship Id="rId47" Type="http://customschemas.google.com/relationships/presentationmetadata" Target="metadata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1" name="Google Shape;30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5" name="Google Shape;41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" name="Google Shape;43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5" name="Google Shape;57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h19034d514f5d6f97_0_2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1435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8" name="Google Shape;598;h19034d514f5d6f97_0_2164:notes"/>
          <p:cNvSpPr txBox="1">
            <a:spLocks noGrp="1"/>
          </p:cNvSpPr>
          <p:nvPr>
            <p:ph type="body" idx="1"/>
          </p:nvPr>
        </p:nvSpPr>
        <p:spPr>
          <a:xfrm>
            <a:off x="514350" y="3300413"/>
            <a:ext cx="41148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h19034d514f5d6f97_0_2164:notes"/>
          <p:cNvSpPr txBox="1">
            <a:spLocks noGrp="1"/>
          </p:cNvSpPr>
          <p:nvPr>
            <p:ph type="sldNum" idx="12"/>
          </p:nvPr>
        </p:nvSpPr>
        <p:spPr>
          <a:xfrm>
            <a:off x="2913460" y="6513910"/>
            <a:ext cx="22290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ố cục tùy chỉnh 2">
  <p:cSld name="CUSTOM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h19034d514f5d6f97_0_12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" name="Google Shape;13;h19034d514f5d6f97_0_128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Inter"/>
              <a:buChar char="●"/>
              <a:defRPr>
                <a:latin typeface="Inter"/>
                <a:ea typeface="Inter"/>
                <a:cs typeface="Inter"/>
                <a:sym typeface="Inter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Cover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h19034d514f5d6f97_0_179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21" name="Google Shape;21;h19034d514f5d6f97_0_179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22" name="Google Shape;22;h19034d514f5d6f97_0_179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3" name="Google Shape;23;h19034d514f5d6f97_0_17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Cover">
  <p:cSld name="TITLE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h19034d514f5d6f97_0_180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26" name="Google Shape;26;h19034d514f5d6f97_0_180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27" name="Google Shape;27;h19034d514f5d6f97_0_180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h19034d514f5d6f97_0_18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Cover">
  <p:cSld name="TITLE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h19034d514f5d6f97_0_180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31" name="Google Shape;31;h19034d514f5d6f97_0_180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32" name="Google Shape;32;h19034d514f5d6f97_0_180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3" name="Google Shape;33;h19034d514f5d6f97_0_18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Cover">
  <p:cSld name="TITLE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h19034d514f5d6f97_0_181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36" name="Google Shape;36;h19034d514f5d6f97_0_181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37" name="Google Shape;37;h19034d514f5d6f97_0_18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8" name="Google Shape;38;h19034d514f5d6f97_0_18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Cover">
  <p:cSld name="TITLE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h19034d514f5d6f97_0_181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41" name="Google Shape;41;h19034d514f5d6f97_0_181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42" name="Google Shape;42;h19034d514f5d6f97_0_18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h19034d514f5d6f97_0_18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Cover">
  <p:cSld name="TITLE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h19034d514f5d6f97_0_182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46" name="Google Shape;46;h19034d514f5d6f97_0_182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47" name="Google Shape;47;h19034d514f5d6f97_0_18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h19034d514f5d6f97_0_18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Cover">
  <p:cSld name="TITLE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h19034d514f5d6f97_0_1825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51" name="Google Shape;51;h19034d514f5d6f97_0_1825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52" name="Google Shape;52;h19034d514f5d6f97_0_18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3" name="Google Shape;53;h19034d514f5d6f97_0_18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Cover">
  <p:cSld name="TITLE_2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19034d514f5d6f97_0_1830"/>
          <p:cNvSpPr txBox="1">
            <a:spLocks noGrp="1"/>
          </p:cNvSpPr>
          <p:nvPr>
            <p:ph type="ctrTitle"/>
          </p:nvPr>
        </p:nvSpPr>
        <p:spPr>
          <a:xfrm>
            <a:off x="670850" y="1621850"/>
            <a:ext cx="5386800" cy="14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Font typeface="Inter Tight"/>
              <a:buNone/>
              <a:defRPr sz="52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56" name="Google Shape;56;h19034d514f5d6f97_0_1830"/>
          <p:cNvSpPr txBox="1">
            <a:spLocks noGrp="1"/>
          </p:cNvSpPr>
          <p:nvPr>
            <p:ph type="subTitle" idx="1"/>
          </p:nvPr>
        </p:nvSpPr>
        <p:spPr>
          <a:xfrm>
            <a:off x="670850" y="3780897"/>
            <a:ext cx="646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57" name="Google Shape;57;h19034d514f5d6f97_0_18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8" name="Google Shape;58;h19034d514f5d6f97_0_18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775" y="750225"/>
            <a:ext cx="758774" cy="7057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19034d514f5d6f97_0_18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h19034d514f5d6f97_0_18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Font typeface="Momo Trust Sans"/>
              <a:buChar char="●"/>
              <a:defRPr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h19034d514f5d6f97_0_18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Break Page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h19034d514f5d6f97_0_1839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Break Page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19034d514f5d6f97_0_1841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Break Page">
  <p:cSld name="CUSTOM_3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h19034d514f5d6f97_0_1843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Break Page">
  <p:cSld name="CUSTOM_3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h19034d514f5d6f97_0_1845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Break Page">
  <p:cSld name="CUSTOM_3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19034d514f5d6f97_0_1847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Break Page">
  <p:cSld name="CUSTOM_3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h19034d514f5d6f97_0_1849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Break Page">
  <p:cSld name="CUSTOM_3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h19034d514f5d6f97_0_1851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Break Page">
  <p:cSld name="CUSTOM_3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19034d514f5d6f97_0_1853"/>
          <p:cNvSpPr txBox="1">
            <a:spLocks noGrp="1"/>
          </p:cNvSpPr>
          <p:nvPr>
            <p:ph type="title"/>
          </p:nvPr>
        </p:nvSpPr>
        <p:spPr>
          <a:xfrm>
            <a:off x="3249100" y="2649700"/>
            <a:ext cx="4786800" cy="18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ố cục tùy chỉnh 2">
  <p:cSld name="CUSTOM_1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19034d514f5d6f97_0_18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1" name="Google Shape;81;h19034d514f5d6f97_0_185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Font typeface="Inter"/>
              <a:buChar char="●"/>
              <a:defRPr>
                <a:latin typeface="Inter"/>
                <a:ea typeface="Inter"/>
                <a:cs typeface="Inter"/>
                <a:sym typeface="Inter"/>
              </a:defRPr>
            </a:lvl1pPr>
            <a:lvl2pPr marL="914400" lvl="1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Bank Page with Pattern Background">
  <p:cSld name="CUSTOM_2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Bank Page with Pattern Background">
  <p:cSld name="CUSTOM_2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Bank Page with Pattern Background">
  <p:cSld name="CUSTOM_2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Bank Page with Pattern Background">
  <p:cSld name="CUSTOM_2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Bank Page with Pattern Background">
  <p:cSld name="CUSTOM_2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Bank Page with Pattern Background">
  <p:cSld name="CUSTOM_2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Bank Page with Pattern Background">
  <p:cSld name="CUSTOM_2_2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Cover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19034d514f5d6f97_0_1866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2" name="Google Shape;92;h19034d514f5d6f97_0_1866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3" name="Google Shape;93;h19034d514f5d6f97_0_18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Cover">
  <p:cSld name="TITLE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h19034d514f5d6f97_0_1870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6" name="Google Shape;96;h19034d514f5d6f97_0_1870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97" name="Google Shape;97;h19034d514f5d6f97_0_187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Cover">
  <p:cSld name="TITLE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19034d514f5d6f97_0_1874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0" name="Google Shape;100;h19034d514f5d6f97_0_1874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1" name="Google Shape;101;h19034d514f5d6f97_0_18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Cover">
  <p:cSld name="TITLE_1_2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19034d514f5d6f97_0_1878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4" name="Google Shape;104;h19034d514f5d6f97_0_1878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5" name="Google Shape;105;h19034d514f5d6f97_0_187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Cover">
  <p:cSld name="TITLE_1_2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h19034d514f5d6f97_0_1882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8" name="Google Shape;108;h19034d514f5d6f97_0_1882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09" name="Google Shape;109;h19034d514f5d6f97_0_188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Cover">
  <p:cSld name="TITLE_1_2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19034d514f5d6f97_0_1886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2" name="Google Shape;112;h19034d514f5d6f97_0_1886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3" name="Google Shape;113;h19034d514f5d6f97_0_188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Cover">
  <p:cSld name="TITLE_1_2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9034d514f5d6f97_0_1890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6" name="Google Shape;116;h19034d514f5d6f97_0_1890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17" name="Google Shape;117;h19034d514f5d6f97_0_189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Cover">
  <p:cSld name="TITLE_1_2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9034d514f5d6f97_0_1894"/>
          <p:cNvSpPr txBox="1">
            <a:spLocks noGrp="1"/>
          </p:cNvSpPr>
          <p:nvPr>
            <p:ph type="ctrTitle"/>
          </p:nvPr>
        </p:nvSpPr>
        <p:spPr>
          <a:xfrm>
            <a:off x="249300" y="1621850"/>
            <a:ext cx="3933300" cy="215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Font typeface="Inter Tight"/>
              <a:buNone/>
              <a:defRPr sz="3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0" name="Google Shape;120;h19034d514f5d6f97_0_1894"/>
          <p:cNvSpPr txBox="1">
            <a:spLocks noGrp="1"/>
          </p:cNvSpPr>
          <p:nvPr>
            <p:ph type="subTitle" idx="1"/>
          </p:nvPr>
        </p:nvSpPr>
        <p:spPr>
          <a:xfrm>
            <a:off x="249300" y="3311550"/>
            <a:ext cx="393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438C"/>
              </a:buClr>
              <a:buSzPts val="2000"/>
              <a:buFont typeface="Momo Trust Sans"/>
              <a:buNone/>
              <a:defRPr sz="2000">
                <a:solidFill>
                  <a:srgbClr val="FF438C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1" name="Google Shape;121;h19034d514f5d6f97_0_189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nk Page with Pattern Background (Dark Pink)">
  <p:cSld name="CUSTOM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57">
          <p15:clr>
            <a:srgbClr val="E46962"/>
          </p15:clr>
        </p15:guide>
        <p15:guide id="2" orient="horz" pos="157">
          <p15:clr>
            <a:srgbClr val="E46962"/>
          </p15:clr>
        </p15:guide>
        <p15:guide id="3" orient="horz" pos="3083">
          <p15:clr>
            <a:srgbClr val="E46962"/>
          </p15:clr>
        </p15:guide>
        <p15:guide id="4" pos="5603">
          <p15:clr>
            <a:srgbClr val="E46962"/>
          </p15:clr>
        </p15:guide>
        <p15:guide id="5" pos="2880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nk Quote">
  <p:cSld name="TITLE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h19034d514f5d6f97_0_189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5" name="Google Shape;125;h19034d514f5d6f97_0_189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26" name="Google Shape;126;h19034d514f5d6f97_0_189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h19034d514f5d6f97_0_189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Quote">
  <p:cSld name="TITLE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19034d514f5d6f97_0_190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0" name="Google Shape;130;h19034d514f5d6f97_0_190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1" name="Google Shape;131;h19034d514f5d6f97_0_190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2" name="Google Shape;132;h19034d514f5d6f97_0_190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range Quote">
  <p:cSld name="TITLE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19034d514f5d6f97_0_190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35" name="Google Shape;135;h19034d514f5d6f97_0_190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36" name="Google Shape;136;h19034d514f5d6f97_0_190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7" name="Google Shape;137;h19034d514f5d6f97_0_190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ellow Quote">
  <p:cSld name="TITLE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19034d514f5d6f97_0_191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0" name="Google Shape;140;h19034d514f5d6f97_0_191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1" name="Google Shape;141;h19034d514f5d6f97_0_19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2" name="Google Shape;142;h19034d514f5d6f97_0_191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een Quote">
  <p:cSld name="TITLE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h19034d514f5d6f97_0_191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45" name="Google Shape;145;h19034d514f5d6f97_0_191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46" name="Google Shape;146;h19034d514f5d6f97_0_19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h19034d514f5d6f97_0_191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l Quote">
  <p:cSld name="TITLE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h19034d514f5d6f97_0_192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0" name="Google Shape;150;h19034d514f5d6f97_0_192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Inter Tight"/>
              <a:buNone/>
              <a:defRPr sz="23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1" name="Google Shape;151;h19034d514f5d6f97_0_19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h19034d514f5d6f97_0_192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ue Quote">
  <p:cSld name="TITLE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h19034d514f5d6f97_0_1929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55" name="Google Shape;155;h19034d514f5d6f97_0_1929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56" name="Google Shape;156;h19034d514f5d6f97_0_19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7" name="Google Shape;157;h19034d514f5d6f97_0_1929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rple Quote">
  <p:cSld name="TITLE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19034d514f5d6f97_0_1934"/>
          <p:cNvSpPr txBox="1">
            <a:spLocks noGrp="1"/>
          </p:cNvSpPr>
          <p:nvPr>
            <p:ph type="ctrTitle"/>
          </p:nvPr>
        </p:nvSpPr>
        <p:spPr>
          <a:xfrm>
            <a:off x="791300" y="1330600"/>
            <a:ext cx="7297800" cy="21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500"/>
              <a:buFont typeface="Inter Tight"/>
              <a:buNone/>
              <a:defRPr sz="4500">
                <a:latin typeface="Inter Tight"/>
                <a:ea typeface="Inter Tight"/>
                <a:cs typeface="Inter Tight"/>
                <a:sym typeface="Inter Tight"/>
              </a:defRPr>
            </a:lvl9pPr>
          </a:lstStyle>
          <a:p>
            <a:endParaRPr/>
          </a:p>
        </p:txBody>
      </p:sp>
      <p:sp>
        <p:nvSpPr>
          <p:cNvPr id="160" name="Google Shape;160;h19034d514f5d6f97_0_1934"/>
          <p:cNvSpPr txBox="1">
            <a:spLocks noGrp="1"/>
          </p:cNvSpPr>
          <p:nvPr>
            <p:ph type="subTitle" idx="1"/>
          </p:nvPr>
        </p:nvSpPr>
        <p:spPr>
          <a:xfrm>
            <a:off x="688725" y="3020300"/>
            <a:ext cx="7503000" cy="79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mo Trust Sans"/>
              <a:buNone/>
              <a:defRPr sz="2000">
                <a:latin typeface="Momo Trust Sans"/>
                <a:ea typeface="Momo Trust Sans"/>
                <a:cs typeface="Momo Trust Sans"/>
                <a:sym typeface="Momo Trus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/>
            </a:lvl9pPr>
          </a:lstStyle>
          <a:p>
            <a:endParaRPr/>
          </a:p>
        </p:txBody>
      </p:sp>
      <p:sp>
        <p:nvSpPr>
          <p:cNvPr id="161" name="Google Shape;161;h19034d514f5d6f97_0_19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h19034d514f5d6f97_0_1934"/>
          <p:cNvSpPr/>
          <p:nvPr/>
        </p:nvSpPr>
        <p:spPr>
          <a:xfrm>
            <a:off x="0" y="0"/>
            <a:ext cx="249300" cy="2493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orient="horz" pos="157">
          <p15:clr>
            <a:srgbClr val="E46962"/>
          </p15:clr>
        </p15:guide>
        <p15:guide id="4" orient="horz" pos="3083">
          <p15:clr>
            <a:srgbClr val="E46962"/>
          </p15:clr>
        </p15:guide>
        <p15:guide id="5" pos="157">
          <p15:clr>
            <a:srgbClr val="E46962"/>
          </p15:clr>
        </p15:guide>
        <p15:guide id="6" pos="5603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slideLayout" Target="../slideLayouts/slideLayout40.xml"/><Relationship Id="rId38" Type="http://schemas.openxmlformats.org/officeDocument/2006/relationships/slideLayout" Target="../slideLayouts/slideLayout41.xml"/><Relationship Id="rId39" Type="http://schemas.openxmlformats.org/officeDocument/2006/relationships/slideLayout" Target="../slideLayouts/slideLayout42.xml"/><Relationship Id="rId40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44.xml"/><Relationship Id="rId42" Type="http://schemas.openxmlformats.org/officeDocument/2006/relationships/slideLayout" Target="../slideLayouts/slideLayout45.xml"/><Relationship Id="rId43" Type="http://schemas.openxmlformats.org/officeDocument/2006/relationships/slideLayout" Target="../slideLayouts/slideLayout46.xml"/><Relationship Id="rId44" Type="http://schemas.openxmlformats.org/officeDocument/2006/relationships/slideLayout" Target="../slideLayouts/slideLayout47.xml"/><Relationship Id="rId4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h19034d514f5d6f97_0_17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Display"/>
              <a:buNone/>
              <a:defRPr sz="2800">
                <a:solidFill>
                  <a:schemeClr val="dk1"/>
                </a:solidFill>
                <a:latin typeface="Momo Trust Display"/>
                <a:ea typeface="Momo Trust Display"/>
                <a:cs typeface="Momo Trust Display"/>
                <a:sym typeface="Momo Trust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mo Trust Sans"/>
              <a:buNone/>
              <a:defRPr sz="28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9pPr>
          </a:lstStyle>
          <a:p>
            <a:endParaRPr/>
          </a:p>
        </p:txBody>
      </p:sp>
      <p:sp>
        <p:nvSpPr>
          <p:cNvPr id="17" name="Google Shape;17;h19034d514f5d6f97_0_17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Momo Trust Sans SemiBold"/>
              <a:buChar char="●"/>
              <a:defRPr sz="1700">
                <a:solidFill>
                  <a:schemeClr val="dk1"/>
                </a:solidFill>
                <a:latin typeface="Momo Trust Sans SemiBold"/>
                <a:ea typeface="Momo Trust Sans SemiBold"/>
                <a:cs typeface="Momo Trust Sans SemiBold"/>
                <a:sym typeface="Momo Trust Sans SemiBold"/>
              </a:defRPr>
            </a:lvl1pPr>
            <a:lvl2pPr marL="914400" lvl="1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2pPr>
            <a:lvl3pPr marL="1371600" lvl="2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3pPr>
            <a:lvl4pPr marL="1828800" lvl="3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●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4pPr>
            <a:lvl5pPr marL="2286000" lvl="4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5pPr>
            <a:lvl6pPr marL="2743200" lvl="5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6pPr>
            <a:lvl7pPr marL="3200400" lvl="6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●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7pPr>
            <a:lvl8pPr marL="3657600" lvl="7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○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8pPr>
            <a:lvl9pPr marL="4114800" lvl="8" indent="-3111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mo Trust Sans"/>
              <a:buChar char="■"/>
              <a:defRPr sz="1300">
                <a:solidFill>
                  <a:schemeClr val="dk1"/>
                </a:solidFill>
                <a:latin typeface="Momo Trust Sans"/>
                <a:ea typeface="Momo Trust Sans"/>
                <a:cs typeface="Momo Trust Sans"/>
                <a:sym typeface="Momo Trust Sans"/>
              </a:defRPr>
            </a:lvl9pPr>
          </a:lstStyle>
          <a:p>
            <a:endParaRPr/>
          </a:p>
        </p:txBody>
      </p:sp>
      <p:sp>
        <p:nvSpPr>
          <p:cNvPr id="18" name="Google Shape;18;h19034d514f5d6f97_0_179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6" r:id="rId24"/>
    <p:sldLayoutId id="2147483677" r:id="rId25"/>
    <p:sldLayoutId id="2147483678" r:id="rId26"/>
    <p:sldLayoutId id="2147483679" r:id="rId27"/>
    <p:sldLayoutId id="2147483680" r:id="rId28"/>
    <p:sldLayoutId id="2147483681" r:id="rId29"/>
    <p:sldLayoutId id="2147483682" r:id="rId30"/>
    <p:sldLayoutId id="2147483683" r:id="rId31"/>
    <p:sldLayoutId id="2147483684" r:id="rId32"/>
    <p:sldLayoutId id="2147483685" r:id="rId33"/>
    <p:sldLayoutId id="2147483686" r:id="rId34"/>
    <p:sldLayoutId id="2147483687" r:id="rId35"/>
    <p:sldLayoutId id="2147483688" r:id="rId36"/>
    <p:sldLayoutId id="2147483689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F4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/>
          <p:nvPr/>
        </p:nvSpPr>
        <p:spPr>
          <a:xfrm>
            <a:off x="476475" y="611588"/>
            <a:ext cx="8046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800" b="1">
                <a:solidFill>
                  <a:srgbClr val="1C171A"/>
                </a:solidFill>
              </a:defRPr>
            </a:pPr>
            <a:r>
              <a:t>Web Platform — Báo Cáo Tháng 10/2026</a:t>
            </a:r>
          </a:p>
        </p:txBody>
      </p:sp>
      <p:sp>
        <p:nvSpPr>
          <p:cNvPr id="305" name="Google Shape;305;p1"/>
          <p:cNvSpPr/>
          <p:nvPr/>
        </p:nvSpPr>
        <p:spPr>
          <a:xfrm>
            <a:off x="476465" y="1791225"/>
            <a:ext cx="8046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300">
                <a:solidFill>
                  <a:srgbClr val="5C5060"/>
                </a:solidFill>
              </a:defRPr>
            </a:pPr>
            <a:r>
              <a:t>Report để cung cấp thông tin  •  Meeting để thảo luận và ra quyết định</a:t>
            </a:r>
          </a:p>
        </p:txBody>
      </p:sp>
      <p:sp>
        <p:nvSpPr>
          <p:cNvPr id="306" name="Google Shape;306;p1"/>
          <p:cNvSpPr/>
          <p:nvPr/>
        </p:nvSpPr>
        <p:spPr>
          <a:xfrm>
            <a:off x="476465" y="25227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"/>
          <p:cNvSpPr/>
          <p:nvPr/>
        </p:nvSpPr>
        <p:spPr>
          <a:xfrm>
            <a:off x="476465" y="25227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"/>
          <p:cNvSpPr/>
          <p:nvPr/>
        </p:nvSpPr>
        <p:spPr>
          <a:xfrm>
            <a:off x="979385" y="25227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Reporting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Pre-read, không trình bày lại trong họp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"/>
          <p:cNvSpPr/>
          <p:nvPr/>
        </p:nvSpPr>
        <p:spPr>
          <a:xfrm>
            <a:off x="476465" y="29799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"/>
          <p:cNvSpPr/>
          <p:nvPr/>
        </p:nvSpPr>
        <p:spPr>
          <a:xfrm>
            <a:off x="476465" y="29799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"/>
          <p:cNvSpPr/>
          <p:nvPr/>
        </p:nvSpPr>
        <p:spPr>
          <a:xfrm>
            <a:off x="979385" y="29799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Discussion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Cần thảo luận / alignment / quyết định — nội dung chính của họp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"/>
          <p:cNvSpPr/>
          <p:nvPr/>
        </p:nvSpPr>
        <p:spPr>
          <a:xfrm>
            <a:off x="476465" y="3437145"/>
            <a:ext cx="347400" cy="347400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"/>
          <p:cNvSpPr/>
          <p:nvPr/>
        </p:nvSpPr>
        <p:spPr>
          <a:xfrm>
            <a:off x="476465" y="3437145"/>
            <a:ext cx="3474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"/>
          <p:cNvSpPr/>
          <p:nvPr/>
        </p:nvSpPr>
        <p:spPr>
          <a:xfrm>
            <a:off x="979385" y="3437145"/>
            <a:ext cx="73152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FYI  </a:t>
            </a:r>
            <a:r>
              <a:rPr lang="en-US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Thông tin tham khảo, không thảo luận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"/>
          <p:cNvSpPr txBox="1"/>
          <p:nvPr/>
        </p:nvSpPr>
        <p:spPr>
          <a:xfrm>
            <a:off x="476475" y="3978600"/>
            <a:ext cx="83796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defRPr sz="1000">
                <a:solidFill>
                  <a:srgbClr val="5C5060"/>
                </a:solidFill>
              </a:defRPr>
            </a:pPr>
            <a:r>
              <a:t>Note: Kỳ dữ liệu từ 01/10/2026 đến 30/10/2026 (MTD 30 ngày &amp; ước tính 31 ngày). Nguồn: GA4 (Property 270743103). Báo cáo tập trung vào tăng trưởng lượt xem (Pageviews) và mở rộng hệ sinh thái sản phẩm mới.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Thống nhất danh mục 1 chủ đề cần BOM phê duyệt và thứ tự thảo luận trong cuộc họp.</a:t>
            </a:r>
          </a:p>
        </p:txBody>
      </p:sp>
      <p:sp>
        <p:nvSpPr>
          <p:cNvPr id="343" name="Google Shape;343;p2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C171A"/>
                </a:solidFill>
              </a:defRPr>
            </a:pPr>
            <a:r>
              <a:t>Discussion Topics — 1 Chủ Đề Trọng Tâm: 0 Discuss, 1 Approve</a:t>
            </a:r>
          </a:p>
        </p:txBody>
      </p:sp>
      <p:sp>
        <p:nvSpPr>
          <p:cNvPr id="344" name="Google Shape;344;p2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F95396"/>
          </a:solidFill>
          <a:ln w="1270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95396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F95396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(Property 270743103)   |   Owner: Web Platform   |   Chốt số liệu: 30/10/2026</a:t>
            </a:r>
          </a:p>
        </p:txBody>
      </p:sp>
      <p:sp>
        <p:nvSpPr>
          <p:cNvPr id="348" name="Google Shape;348;p2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2 / 7</a:t>
            </a:r>
          </a:p>
        </p:txBody>
      </p:sp>
      <p:graphicFrame>
        <p:nvGraphicFramePr>
          <p:cNvPr id="349" name="Google Shape;349;p2"/>
          <p:cNvGraphicFramePr/>
          <p:nvPr/>
        </p:nvGraphicFramePr>
        <p:xfrm>
          <a:off x="274315" y="1005840"/>
          <a:ext cx="8823960" cy="1261872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Chủ đề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Loại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Cần CEO/BOM quyết định / hỗ trợ gì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Tác động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Hạn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Ưu tiên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Chi tiết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Kế Hoạch Ra Mắt Bộ Tiện Ích Thuế TNCN &amp; Tính Lương Cuối Năm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D82D8B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Phê duyệt kế hoạch phát hành và cơ chế phối hợp dữ liệu biểu mẫu thuế với Finhub; ưu tiên tài nguyên kỹ thuật go-live trong tháng 11/2026.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59669"/>
                          </a:solidFill>
                        </a:defRPr>
                      </a:pPr>
                      <a:r>
                        <a:t>Dự kiến thu hút 300K - 500K Pageviews tự nhiên; đón đỉnh tìm kiếm quyết toán thuế cuối năm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/>
                      </a:pPr>
                      <a:r>
                        <a:t>31/10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B91C1C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D82D8B"/>
                          </a:solidFill>
                        </a:defRPr>
                      </a:pPr>
                      <a:r>
                        <a:t>Slide 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50" name="Google Shape;350;p2"/>
          <p:cNvSpPr/>
          <p:nvPr/>
        </p:nvSpPr>
        <p:spPr>
          <a:xfrm>
            <a:off x="274378" y="3291840"/>
            <a:ext cx="8503800" cy="12344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"/>
          <p:cNvSpPr/>
          <p:nvPr/>
        </p:nvSpPr>
        <p:spPr>
          <a:xfrm>
            <a:off x="411538" y="3474720"/>
            <a:ext cx="10515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"/>
          <p:cNvSpPr/>
          <p:nvPr/>
        </p:nvSpPr>
        <p:spPr>
          <a:xfrm>
            <a:off x="411538" y="3474720"/>
            <a:ext cx="10515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Nội dung chính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"/>
          <p:cNvSpPr/>
          <p:nvPr/>
        </p:nvSpPr>
        <p:spPr>
          <a:xfrm>
            <a:off x="1645978" y="3337560"/>
            <a:ext cx="69951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01. Bộ Tiện Ích Thuế &amp; Lương: Phê duyệt kế hoạch go-live bộ công cụ Tính Thuế TNCN &amp; Lương Gross-Net đón đỉnh tìm kiếm quyết toán cuối năm (300K - 500K PVs).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02. Phối hợp dữ liệu Finhub/Bank: Thống nhất cơ chế đối soát biểu mẫu và chuẩn hóa công thức tính thuế lũy tiến theo quy định hiện hành.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03. Kỷ luật phê duyệt: Hoàn tất phê duyệt trước 31/10 để kịp kiểm thử chất lượng và go-live đúng kỳ tính lương tháng 11/2026.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Xin CEO/BOM phê duyệt kế hoạch go-live bộ công cụ Thuế &amp; Lương trước 31/10 để đón đỉnh tìm kiếm cuối năm.</a:t>
            </a:r>
          </a:p>
        </p:txBody>
      </p:sp>
      <p:sp>
        <p:nvSpPr>
          <p:cNvPr id="379" name="Google Shape;379;p3"/>
          <p:cNvSpPr/>
          <p:nvPr/>
        </p:nvSpPr>
        <p:spPr>
          <a:xfrm>
            <a:off x="320050" y="347475"/>
            <a:ext cx="82815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C171A"/>
                </a:solidFill>
              </a:defRPr>
            </a:pPr>
            <a:r>
              <a:t>Đề Xuất 1: Phát Hành Bộ Tiện Ích Thuế Thu Nhập Cá Nhân &amp; Tính Lương Gross-Net</a:t>
            </a:r>
          </a:p>
        </p:txBody>
      </p:sp>
      <p:sp>
        <p:nvSpPr>
          <p:cNvPr id="380" name="Google Shape;380;p3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F95396"/>
          </a:solidFill>
          <a:ln w="1270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3"/>
          <p:cNvSpPr/>
          <p:nvPr/>
        </p:nvSpPr>
        <p:spPr>
          <a:xfrm>
            <a:off x="8394192" y="146304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95396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F95396"/>
                </a:solidFill>
                <a:latin typeface="Calibri"/>
                <a:ea typeface="Calibri"/>
                <a:cs typeface="Calibri"/>
                <a:sym typeface="Calibri"/>
              </a:rPr>
              <a:t>Discussion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Google Search Trends &amp; Web Platform   |   Owner: Web Platform   |   Chốt số liệu: 30/10/2026</a:t>
            </a:r>
          </a:p>
        </p:txBody>
      </p:sp>
      <p:sp>
        <p:nvSpPr>
          <p:cNvPr id="384" name="Google Shape;384;p3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3 / 7</a:t>
            </a:r>
          </a:p>
        </p:txBody>
      </p:sp>
      <p:sp>
        <p:nvSpPr>
          <p:cNvPr id="385" name="Google Shape;385;p3"/>
          <p:cNvSpPr/>
          <p:nvPr/>
        </p:nvSpPr>
        <p:spPr>
          <a:xfrm>
            <a:off x="274340" y="985856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3"/>
          <p:cNvSpPr/>
          <p:nvPr/>
        </p:nvSpPr>
        <p:spPr>
          <a:xfrm>
            <a:off x="411500" y="1189756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3"/>
          <p:cNvSpPr/>
          <p:nvPr/>
        </p:nvSpPr>
        <p:spPr>
          <a:xfrm>
            <a:off x="411500" y="1189756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"/>
          <p:cNvSpPr/>
          <p:nvPr/>
        </p:nvSpPr>
        <p:spPr>
          <a:xfrm>
            <a:off x="1645940" y="1023615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1C171A"/>
                </a:solidFill>
              </a:defRPr>
            </a:pPr>
            <a:r>
              <a:t>Nhu cầu tìm kiếm về quyết toán thuế TNCN và tính lương thưởng Tết tăng mạnh từ T11 đến T1 (&gt;1.2M search/tháng). Web Platform cần bộ công cụ tự động chuẩn xác để giữ chân người dùng và tạo lưu lượng tự nhiên chất lượng cao.</a:t>
            </a:r>
          </a:p>
        </p:txBody>
      </p:sp>
      <p:sp>
        <p:nvSpPr>
          <p:cNvPr id="389" name="Google Shape;389;p3"/>
          <p:cNvSpPr/>
          <p:nvPr/>
        </p:nvSpPr>
        <p:spPr>
          <a:xfrm>
            <a:off x="274340" y="1650420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3"/>
          <p:cNvSpPr/>
          <p:nvPr/>
        </p:nvSpPr>
        <p:spPr>
          <a:xfrm>
            <a:off x="411500" y="1854321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3"/>
          <p:cNvSpPr/>
          <p:nvPr/>
        </p:nvSpPr>
        <p:spPr>
          <a:xfrm>
            <a:off x="411500" y="1854321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Bối cảnh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"/>
          <p:cNvSpPr/>
          <p:nvPr/>
        </p:nvSpPr>
        <p:spPr>
          <a:xfrm>
            <a:off x="1645940" y="1688180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1C171A"/>
                </a:solidFill>
              </a:defRPr>
            </a:pPr>
            <a:r>
              <a:t>Kỹ thuật đã hoàn thành Staging cho bộ đôi công cụ Tính Thuế TNCN &amp; Lương Gross-Net theo biểu thuế lũy tiến và giảm trừ gia cảnh mới nhất. Tiện ích dự kiến thu hút 300K - 500K PVs/tháng, nâng thời gian lưu trang lên &gt;2.5 phút.</a:t>
            </a:r>
          </a:p>
        </p:txBody>
      </p:sp>
      <p:sp>
        <p:nvSpPr>
          <p:cNvPr id="393" name="Google Shape;393;p3"/>
          <p:cNvSpPr/>
          <p:nvPr/>
        </p:nvSpPr>
        <p:spPr>
          <a:xfrm>
            <a:off x="274340" y="2314985"/>
            <a:ext cx="5303400" cy="604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"/>
          <p:cNvSpPr/>
          <p:nvPr/>
        </p:nvSpPr>
        <p:spPr>
          <a:xfrm>
            <a:off x="411500" y="2518885"/>
            <a:ext cx="1097400" cy="196200"/>
          </a:xfrm>
          <a:prstGeom prst="roundRect">
            <a:avLst>
              <a:gd name="adj" fmla="val 27942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3"/>
          <p:cNvSpPr/>
          <p:nvPr/>
        </p:nvSpPr>
        <p:spPr>
          <a:xfrm>
            <a:off x="411500" y="2518885"/>
            <a:ext cx="1097400" cy="1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Tác động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3"/>
          <p:cNvSpPr/>
          <p:nvPr/>
        </p:nvSpPr>
        <p:spPr>
          <a:xfrm>
            <a:off x="1645940" y="2352744"/>
            <a:ext cx="38406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>
                <a:solidFill>
                  <a:srgbClr val="1C171A"/>
                </a:solidFill>
              </a:defRPr>
            </a:pPr>
            <a:r>
              <a:t>Hiệu quả kinh tế &amp; ROI (cho CEO):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Thu hút 300K - 500K PVs tự nhiên/tháng; tăng tương tác onsite gấp 3 lần.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Quy đổi Media Value: Tiết kiệm ~120 - 200 Triệu VNĐ/tháng ngân sách Ads.</a:t>
            </a:r>
          </a:p>
          <a:p>
            <a:pPr>
              <a:defRPr sz="800">
                <a:solidFill>
                  <a:srgbClr val="1C171A"/>
                </a:solidFill>
              </a:defRPr>
            </a:pPr>
            <a:r>
              <a:t>• Chi phí phát sinh: 0 VNĐ (tận dụng 100% hạ tầng server hiện hữu).</a:t>
            </a:r>
          </a:p>
        </p:txBody>
      </p:sp>
      <p:sp>
        <p:nvSpPr>
          <p:cNvPr id="397" name="Google Shape;397;p3"/>
          <p:cNvSpPr/>
          <p:nvPr/>
        </p:nvSpPr>
        <p:spPr>
          <a:xfrm>
            <a:off x="274340" y="3009757"/>
            <a:ext cx="53034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PHƯƠNG ÁN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98" name="Google Shape;398;p3"/>
          <p:cNvGraphicFramePr/>
          <p:nvPr/>
        </p:nvGraphicFramePr>
        <p:xfrm>
          <a:off x="274340" y="3191002"/>
          <a:ext cx="5303500" cy="800500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005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635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Phương Án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Nội Dung Triển Khai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Tác Động Lượng Hóa &amp; ROI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Đánh Giá Rủi Ro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075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Phương Án A</a:t>
                      </a:r>
                      <a:br/>
                      <a:r>
                        <a:t>(Khuyến nghị)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Phát hành bộ tiện ích chuẩn UX MoMo, tích hợp biểu mẫu thuế mới nhất, tự động tính giảm trừ gia cảnh và xuất bảng chi tiết.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059669"/>
                          </a:solidFill>
                        </a:defRPr>
                      </a:pPr>
                      <a:r>
                        <a:t>Đạt 300K - 500K PVs tự nhiên; tiết kiệm 120 - 200 Tr VNĐ/tháng tiền Ads; chi phí phát sinh 0 VNĐ.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Rủi ro thấp: Hạ tầng kỹ thuật đã hoàn thành trên môi trường Staging.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075"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Phương Án B</a:t>
                      </a:r>
                      <a:br/>
                      <a:r>
                        <a:t>(Hiện trạng)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Giữ các bài viết nội dung tĩnh thông thường không kèm công cụ tính toán tương tác.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>
                          <a:solidFill>
                            <a:srgbClr val="B91C1C"/>
                          </a:solidFill>
                        </a:defRPr>
                      </a:pPr>
                      <a:r>
                        <a:t>Tỷ lệ thoát trang cao (&gt;75%); muốn đạt cùng lượng truy cập phải chi 120 - 200 Tr VNĐ tiền Ads ngoài.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Rủi ro cao: Mất vị thế cạnh tranh trên Google Search vào tay các nền tảng tính lương ngoài.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9" name="Google Shape;399;p3"/>
          <p:cNvSpPr/>
          <p:nvPr/>
        </p:nvSpPr>
        <p:spPr>
          <a:xfrm>
            <a:off x="5669300" y="985856"/>
            <a:ext cx="3108900" cy="31719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"/>
          <p:cNvSpPr/>
          <p:nvPr/>
        </p:nvSpPr>
        <p:spPr>
          <a:xfrm>
            <a:off x="5806460" y="1046271"/>
            <a:ext cx="28347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"/>
          <p:cNvSpPr/>
          <p:nvPr/>
        </p:nvSpPr>
        <p:spPr>
          <a:xfrm>
            <a:off x="5806460" y="1363449"/>
            <a:ext cx="15774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3"/>
          <p:cNvSpPr/>
          <p:nvPr/>
        </p:nvSpPr>
        <p:spPr>
          <a:xfrm>
            <a:off x="5806460" y="1363449"/>
            <a:ext cx="15774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Đề nghị với CEO/BOM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"/>
          <p:cNvSpPr/>
          <p:nvPr/>
        </p:nvSpPr>
        <p:spPr>
          <a:xfrm>
            <a:off x="5806460" y="1590005"/>
            <a:ext cx="28347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Nội dung xin phê duyệt (Approve): Phê duyệt kế hoạch go-live bộ công cụ Thuế TNCN &amp; Lương Gross-Net trong tháng 11/2026; phối hợp Finhub chuẩn hóa công thức tính thuế.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Khuyến nghị của BU &amp; ROI: Thông qua Phương án A. ROI vượt trội: Thu hồi giá trị thương hiệu và lưu lượng tự nhiên ngay trong tháng đầu; tiết kiệm 120 - 200 Tr VNĐ/tháng chi phí quảng cáo với 0 đồng chi phí ngoài.</a:t>
            </a:r>
          </a:p>
        </p:txBody>
      </p:sp>
      <p:sp>
        <p:nvSpPr>
          <p:cNvPr id="404" name="Google Shape;404;p3"/>
          <p:cNvSpPr/>
          <p:nvPr/>
        </p:nvSpPr>
        <p:spPr>
          <a:xfrm>
            <a:off x="5806460" y="2798304"/>
            <a:ext cx="16458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3"/>
          <p:cNvSpPr/>
          <p:nvPr/>
        </p:nvSpPr>
        <p:spPr>
          <a:xfrm>
            <a:off x="5806460" y="2798304"/>
            <a:ext cx="16458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Rủi ro khi chậm quyết định</a:t>
            </a:r>
          </a:p>
        </p:txBody>
      </p:sp>
      <p:sp>
        <p:nvSpPr>
          <p:cNvPr id="406" name="Google Shape;406;p3"/>
          <p:cNvSpPr/>
          <p:nvPr/>
        </p:nvSpPr>
        <p:spPr>
          <a:xfrm>
            <a:off x="5806460" y="3024860"/>
            <a:ext cx="2834700" cy="7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Rủi ro khi chậm phê duyệt (sau 31/10): Không kịp kiểm thử công thức và triển khai trước kỳ lương tháng 11, bỏ lỡ điểm rơi nhu cầu cao điểm vào tay các website công cụ đối thủ.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Báo cáo kết quả lưu lượng tháng 10, chứng minh kênh tự nhiên (Non-Paid) tăng trưởng tự bù đắp phần Paid Ads cắt giảm.</a:t>
            </a:r>
          </a:p>
        </p:txBody>
      </p:sp>
      <p:sp>
        <p:nvSpPr>
          <p:cNvPr id="419" name="Google Shape;419;p6"/>
          <p:cNvSpPr/>
          <p:nvPr/>
        </p:nvSpPr>
        <p:spPr>
          <a:xfrm>
            <a:off x="320040" y="347472"/>
            <a:ext cx="7680900" cy="5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Kênh Tự Nhiên Vượt Mốc 3.04M Lượt Xem (+14.0% MoM), Tự Bù Đắp 725K Ads Cắt Giảm Và Đạt 98.6% Dự Báo</a:t>
            </a:r>
          </a:p>
        </p:txBody>
      </p:sp>
      <p:sp>
        <p:nvSpPr>
          <p:cNvPr id="420" name="Google Shape;420;p6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6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6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6"/>
          <p:cNvSpPr/>
          <p:nvPr/>
        </p:nvSpPr>
        <p:spPr>
          <a:xfrm>
            <a:off x="320065" y="4343340"/>
            <a:ext cx="73152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(Property 270743103)   |   Owner: Web Platform   |   Chốt số liệu: 30/10/2026</a:t>
            </a:r>
          </a:p>
        </p:txBody>
      </p:sp>
      <p:sp>
        <p:nvSpPr>
          <p:cNvPr id="424" name="Google Shape;424;p6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4 / 7</a:t>
            </a:r>
          </a:p>
        </p:txBody>
      </p:sp>
      <p:graphicFrame>
        <p:nvGraphicFramePr>
          <p:cNvPr id="425" name="Google Shape;425;p6"/>
          <p:cNvGraphicFramePr/>
          <p:nvPr/>
        </p:nvGraphicFramePr>
        <p:xfrm>
          <a:off x="320065" y="1060643"/>
          <a:ext cx="5303520" cy="2545080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3475">
                <a:tc rowSpan="2"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Chỉ tiêu hiệu suất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T9 Thực tế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T10 MTD (30d)</a:t>
                      </a:r>
                    </a:p>
                  </a:txBody>
                  <a:tcPr marL="18288" marR="18288" marT="18288" marB="18288"/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 (%)</a:t>
                      </a:r>
                    </a:p>
                  </a:txBody>
                  <a:tcPr marL="18288" marR="18288" marT="18288" marB="18288"/>
                </a:tc>
                <a:tc gridSpan="3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Kế hoạch T10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% Kế hoạch</a:t>
                      </a:r>
                    </a:p>
                  </a:txBody>
                  <a:tcPr marL="18288" marR="18288" marT="18288" marB="18288"/>
                </a:tc>
                <a:tc hMerge="1"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Đánh giá</a:t>
                      </a:r>
                    </a:p>
                  </a:txBody>
                  <a:tcPr marL="18288" marR="18288" marT="18288" marB="1828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475">
                <a:tc vMerge="1"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Tổng lượt xem (PVs)</a:t>
                      </a:r>
                    </a:p>
                  </a:txBody>
                  <a:tcPr marL="18288" marR="18288" marT="18288" marB="18288"/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3.952.859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3.496.864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-8.6%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3.665.607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95.4%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Đạt 98.6% FC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5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• Kênh tự nhiên (Non-Paid)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2.755.766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3.040.526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+14.0%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2.900.000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104.8%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/>
                      </a:pPr>
                      <a:r>
                        <a:t>Vượt mốc 3M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Quảng cáo trả phí (Paid)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1.197.093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456.338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-60.6%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765.000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59.6%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Chủ động giảm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Lượt truy cập trực tiếp (Direct)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755.896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907.813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+20.1%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850.000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106.8%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Tăng trưởng mạnh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475"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• Lưu lượng AI Search (GEO)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33.661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40.827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+25.6%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38.000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107.4%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Trích dẫn AI cao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27" name="Google Shape;427;p6"/>
          <p:cNvSpPr/>
          <p:nvPr/>
        </p:nvSpPr>
        <p:spPr>
          <a:xfrm>
            <a:off x="5715025" y="1060643"/>
            <a:ext cx="3108900" cy="31719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6"/>
          <p:cNvSpPr/>
          <p:nvPr/>
        </p:nvSpPr>
        <p:spPr>
          <a:xfrm>
            <a:off x="5852185" y="1121059"/>
            <a:ext cx="28347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6"/>
          <p:cNvSpPr/>
          <p:nvPr/>
        </p:nvSpPr>
        <p:spPr>
          <a:xfrm>
            <a:off x="5852185" y="1438237"/>
            <a:ext cx="10287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6"/>
          <p:cNvSpPr/>
          <p:nvPr/>
        </p:nvSpPr>
        <p:spPr>
          <a:xfrm>
            <a:off x="5852185" y="1438237"/>
            <a:ext cx="10287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6"/>
          <p:cNvSpPr/>
          <p:nvPr/>
        </p:nvSpPr>
        <p:spPr>
          <a:xfrm>
            <a:off x="5852185" y="1664793"/>
            <a:ext cx="2834700" cy="15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Kênh tự nhiên (Non-Paid) chính thức vượt mốc 3 triệu PVs (+14.0% MoM, đạt 3.04M views), chiếm 87.0% toàn Web (tháng 9: 69.7%).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Việc chủ động giảm 60.6% Paid Ads (-725K views) giúp tiết kiệm dòng tiền mà tổng lượt xem đạt 95.4% kế hoạch MTD (3.50M MTD, forecast 3.61M - 98.6% Target).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Lượt truy cập trực tiếp (Direct) đạt 907.813 PVs (+20.1% MoM), phản ánh sức mạnh thương hiệu và thói quen quay lại tự nhiên của người dùng.</a:t>
            </a:r>
          </a:p>
        </p:txBody>
      </p:sp>
      <p:sp>
        <p:nvSpPr>
          <p:cNvPr id="432" name="Google Shape;432;p6"/>
          <p:cNvSpPr/>
          <p:nvPr/>
        </p:nvSpPr>
        <p:spPr>
          <a:xfrm>
            <a:off x="5852185" y="3250685"/>
            <a:ext cx="1508700" cy="181200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6"/>
          <p:cNvSpPr/>
          <p:nvPr/>
        </p:nvSpPr>
        <p:spPr>
          <a:xfrm>
            <a:off x="5852185" y="3250685"/>
            <a:ext cx="1508700" cy="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Lowlights / Rủi ro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6"/>
          <p:cNvSpPr/>
          <p:nvPr/>
        </p:nvSpPr>
        <p:spPr>
          <a:xfrm>
            <a:off x="5852185" y="3477242"/>
            <a:ext cx="2834700" cy="7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Rủi ro: Lưu lượng phụ thuộc vào thuật toán cập nhật của công cụ tìm kiếm và tính mùa vụ thị trường.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Hướng xử lý: Đa dạng hóa nguồn lưu lượng qua hệ sinh thái tiện ích tương tác, tối ưu SEO thực thể (Entity) và trích dẫn AI Overviews (GEO).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7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Theo dõi nhanh hiệu suất các Hubs trọng điểm (Cinema, Financial) và các chỉ số tương tác chất lượng trang.</a:t>
            </a:r>
          </a:p>
        </p:txBody>
      </p:sp>
      <p:sp>
        <p:nvSpPr>
          <p:cNvPr id="441" name="Google Shape;441;p7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Cinema Hub Dẫn Đầu Tăng Trưởng (+142.2% Cụm Rạp); Financial Hub Tăng Trưởng Cụm Tỷ Giá (+444.9% MoM)</a:t>
            </a:r>
          </a:p>
        </p:txBody>
      </p:sp>
      <p:sp>
        <p:nvSpPr>
          <p:cNvPr id="442" name="Google Shape;442;p7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7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7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7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GA4 &amp; BigQuery   |   Owner: Web Platform   |   Chốt số liệu: 30/10/2026</a:t>
            </a:r>
          </a:p>
        </p:txBody>
      </p:sp>
      <p:sp>
        <p:nvSpPr>
          <p:cNvPr id="446" name="Google Shape;446;p7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5 / 7</a:t>
            </a:r>
          </a:p>
        </p:txBody>
      </p:sp>
      <p:sp>
        <p:nvSpPr>
          <p:cNvPr id="447" name="Google Shape;447;p7"/>
          <p:cNvSpPr/>
          <p:nvPr/>
        </p:nvSpPr>
        <p:spPr>
          <a:xfrm>
            <a:off x="320040" y="896112"/>
            <a:ext cx="8503920" cy="621792"/>
          </a:xfrm>
          <a:prstGeom prst="rect">
            <a:avLst/>
          </a:prstGeom>
          <a:solidFill>
            <a:srgbClr val="FFEFF4"/>
          </a:solidFill>
          <a:ln w="12700" cap="flat" cmpd="sng">
            <a:solidFill>
              <a:srgbClr val="FFEF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7"/>
          <p:cNvSpPr/>
          <p:nvPr/>
        </p:nvSpPr>
        <p:spPr>
          <a:xfrm>
            <a:off x="457200" y="896112"/>
            <a:ext cx="82296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Cinema Hub đạt 1.07M views (cụm rạp 795K views +142.2%), ra mắt cụm trang Diễn Viên và Minigame Bò Sữa Bay (85K lượt chơi).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Financial Hub đạt 299.5K views (+25.6%), riêng cụm Tỷ giá tăng +444.9% (34.0K views), bù đắp phần giảm của Vay Nhanh do cắt Ads.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3: Mở rộng cụm tiện ích tài chính (Thuế TNCN, Lương Gross-Net) chuẩn bị phục vụ cao điểm tra cứu cuối năm.</a:t>
            </a:r>
          </a:p>
        </p:txBody>
      </p:sp>
      <p:sp>
        <p:nvSpPr>
          <p:cNvPr id="449" name="Google Shape;449;p7"/>
          <p:cNvSpPr/>
          <p:nvPr/>
        </p:nvSpPr>
        <p:spPr>
          <a:xfrm>
            <a:off x="320040" y="1575952"/>
            <a:ext cx="530352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D82D8B"/>
                </a:solidFill>
              </a:defRPr>
            </a:pPr>
            <a:r>
              <a:t>HIỆU SUẤT CÁC HUBS TRỌNG ĐIỂM (KEY HUBS PERFORMANCE)</a:t>
            </a:r>
          </a:p>
        </p:txBody>
      </p:sp>
      <p:cxnSp>
        <p:nvCxnSpPr>
          <p:cNvPr id="450" name="Google Shape;450;p7"/>
          <p:cNvCxnSpPr/>
          <p:nvPr/>
        </p:nvCxnSpPr>
        <p:spPr>
          <a:xfrm>
            <a:off x="320040" y="1772301"/>
            <a:ext cx="5303520" cy="0"/>
          </a:xfrm>
          <a:prstGeom prst="straightConnector1">
            <a:avLst/>
          </a:prstGeom>
          <a:noFill/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1" name="Google Shape;451;p7"/>
          <p:cNvSpPr/>
          <p:nvPr/>
        </p:nvSpPr>
        <p:spPr>
          <a:xfrm>
            <a:off x="320040" y="1855371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7"/>
          <p:cNvSpPr/>
          <p:nvPr/>
        </p:nvSpPr>
        <p:spPr>
          <a:xfrm>
            <a:off x="320040" y="1885579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Cinema Hub (Lưu lượng MTD)</a:t>
            </a:r>
          </a:p>
        </p:txBody>
      </p:sp>
      <p:sp>
        <p:nvSpPr>
          <p:cNvPr id="453" name="Google Shape;453;p7"/>
          <p:cNvSpPr/>
          <p:nvPr/>
        </p:nvSpPr>
        <p:spPr>
          <a:xfrm>
            <a:off x="320040" y="2036616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1C171A"/>
                </a:solidFill>
              </a:defRPr>
            </a:pPr>
            <a:r>
              <a:t>1.07M</a:t>
            </a:r>
          </a:p>
        </p:txBody>
      </p:sp>
      <p:sp>
        <p:nvSpPr>
          <p:cNvPr id="454" name="Google Shape;454;p7"/>
          <p:cNvSpPr/>
          <p:nvPr/>
        </p:nvSpPr>
        <p:spPr>
          <a:xfrm>
            <a:off x="320040" y="2338691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+31.8% MoM (Rạp: +142%)</a:t>
            </a:r>
          </a:p>
        </p:txBody>
      </p:sp>
      <p:sp>
        <p:nvSpPr>
          <p:cNvPr id="455" name="Google Shape;455;p7"/>
          <p:cNvSpPr/>
          <p:nvPr/>
        </p:nvSpPr>
        <p:spPr>
          <a:xfrm>
            <a:off x="457200" y="2519936"/>
            <a:ext cx="2331720" cy="166141"/>
          </a:xfrm>
          <a:prstGeom prst="rect">
            <a:avLst/>
          </a:prstGeom>
          <a:solidFill>
            <a:srgbClr val="1565C0"/>
          </a:solidFill>
          <a:ln w="12700" cap="flat" cmpd="sng">
            <a:solidFill>
              <a:srgbClr val="1565C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7"/>
          <p:cNvSpPr/>
          <p:nvPr/>
        </p:nvSpPr>
        <p:spPr>
          <a:xfrm>
            <a:off x="457200" y="2519936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Cụm rạp: 795K views</a:t>
            </a:r>
          </a:p>
        </p:txBody>
      </p:sp>
      <p:sp>
        <p:nvSpPr>
          <p:cNvPr id="457" name="Google Shape;457;p7"/>
          <p:cNvSpPr/>
          <p:nvPr/>
        </p:nvSpPr>
        <p:spPr>
          <a:xfrm>
            <a:off x="3017520" y="1855371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7"/>
          <p:cNvSpPr/>
          <p:nvPr/>
        </p:nvSpPr>
        <p:spPr>
          <a:xfrm>
            <a:off x="3017520" y="1885579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Financial Hub (Lưu lượng MTD)</a:t>
            </a:r>
          </a:p>
        </p:txBody>
      </p:sp>
      <p:sp>
        <p:nvSpPr>
          <p:cNvPr id="459" name="Google Shape;459;p7"/>
          <p:cNvSpPr/>
          <p:nvPr/>
        </p:nvSpPr>
        <p:spPr>
          <a:xfrm>
            <a:off x="3017520" y="2036616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1C171A"/>
                </a:solidFill>
              </a:defRPr>
            </a:pPr>
            <a:r>
              <a:t>299.5K</a:t>
            </a:r>
          </a:p>
        </p:txBody>
      </p:sp>
      <p:sp>
        <p:nvSpPr>
          <p:cNvPr id="460" name="Google Shape;460;p7"/>
          <p:cNvSpPr/>
          <p:nvPr/>
        </p:nvSpPr>
        <p:spPr>
          <a:xfrm>
            <a:off x="3017520" y="2338691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+25.6% MoM</a:t>
            </a:r>
          </a:p>
        </p:txBody>
      </p:sp>
      <p:sp>
        <p:nvSpPr>
          <p:cNvPr id="461" name="Google Shape;461;p7"/>
          <p:cNvSpPr/>
          <p:nvPr/>
        </p:nvSpPr>
        <p:spPr>
          <a:xfrm>
            <a:off x="3154680" y="2519936"/>
            <a:ext cx="2331720" cy="166141"/>
          </a:xfrm>
          <a:prstGeom prst="rect">
            <a:avLst/>
          </a:prstGeom>
          <a:solidFill>
            <a:srgbClr val="F57F17"/>
          </a:solidFill>
          <a:ln w="12700" cap="flat" cmpd="sng">
            <a:solidFill>
              <a:srgbClr val="F57F1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7"/>
          <p:cNvSpPr/>
          <p:nvPr/>
        </p:nvSpPr>
        <p:spPr>
          <a:xfrm>
            <a:off x="3154680" y="2519936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98.5% Kế hoạch MTD</a:t>
            </a:r>
          </a:p>
        </p:txBody>
      </p:sp>
      <p:sp>
        <p:nvSpPr>
          <p:cNvPr id="463" name="Google Shape;463;p7"/>
          <p:cNvSpPr/>
          <p:nvPr/>
        </p:nvSpPr>
        <p:spPr>
          <a:xfrm>
            <a:off x="320040" y="2837114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7"/>
          <p:cNvSpPr/>
          <p:nvPr/>
        </p:nvSpPr>
        <p:spPr>
          <a:xfrm>
            <a:off x="320040" y="2867322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Cụm Tỷ Giá Ngoại Tệ</a:t>
            </a:r>
          </a:p>
        </p:txBody>
      </p:sp>
      <p:sp>
        <p:nvSpPr>
          <p:cNvPr id="465" name="Google Shape;465;p7"/>
          <p:cNvSpPr/>
          <p:nvPr/>
        </p:nvSpPr>
        <p:spPr>
          <a:xfrm>
            <a:off x="320040" y="3018359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4F46E5"/>
                </a:solidFill>
              </a:defRPr>
            </a:pPr>
            <a:r>
              <a:t>34.0K</a:t>
            </a:r>
          </a:p>
        </p:txBody>
      </p:sp>
      <p:sp>
        <p:nvSpPr>
          <p:cNvPr id="466" name="Google Shape;466;p7"/>
          <p:cNvSpPr/>
          <p:nvPr/>
        </p:nvSpPr>
        <p:spPr>
          <a:xfrm>
            <a:off x="320040" y="3320434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+444.9% MoM</a:t>
            </a:r>
          </a:p>
        </p:txBody>
      </p:sp>
      <p:sp>
        <p:nvSpPr>
          <p:cNvPr id="467" name="Google Shape;467;p7"/>
          <p:cNvSpPr/>
          <p:nvPr/>
        </p:nvSpPr>
        <p:spPr>
          <a:xfrm>
            <a:off x="457200" y="3501679"/>
            <a:ext cx="2331720" cy="166141"/>
          </a:xfrm>
          <a:prstGeom prst="rect">
            <a:avLst/>
          </a:prstGeom>
          <a:solidFill>
            <a:srgbClr val="1565C0"/>
          </a:solidFill>
          <a:ln w="12700" cap="flat" cmpd="sng">
            <a:solidFill>
              <a:srgbClr val="1565C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7"/>
          <p:cNvSpPr/>
          <p:nvPr/>
        </p:nvSpPr>
        <p:spPr>
          <a:xfrm>
            <a:off x="457200" y="3501679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100% Kênh tự nhiên</a:t>
            </a:r>
          </a:p>
        </p:txBody>
      </p:sp>
      <p:sp>
        <p:nvSpPr>
          <p:cNvPr id="469" name="Google Shape;469;p7"/>
          <p:cNvSpPr/>
          <p:nvPr/>
        </p:nvSpPr>
        <p:spPr>
          <a:xfrm>
            <a:off x="3017520" y="2837114"/>
            <a:ext cx="2606040" cy="90622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7"/>
          <p:cNvSpPr/>
          <p:nvPr/>
        </p:nvSpPr>
        <p:spPr>
          <a:xfrm>
            <a:off x="3017520" y="2867322"/>
            <a:ext cx="260604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50" b="1">
                <a:solidFill>
                  <a:srgbClr val="1C171A"/>
                </a:solidFill>
              </a:defRPr>
            </a:pPr>
            <a:r>
              <a:t>Tra Cứu Phạt Nguội CSGT</a:t>
            </a:r>
          </a:p>
        </p:txBody>
      </p:sp>
      <p:sp>
        <p:nvSpPr>
          <p:cNvPr id="471" name="Google Shape;471;p7"/>
          <p:cNvSpPr/>
          <p:nvPr/>
        </p:nvSpPr>
        <p:spPr>
          <a:xfrm>
            <a:off x="3017520" y="3018359"/>
            <a:ext cx="2606040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2000" b="1">
                <a:solidFill>
                  <a:srgbClr val="D82D8B"/>
                </a:solidFill>
              </a:defRPr>
            </a:pPr>
            <a:r>
              <a:t>245.0K</a:t>
            </a:r>
          </a:p>
        </p:txBody>
      </p:sp>
      <p:sp>
        <p:nvSpPr>
          <p:cNvPr id="472" name="Google Shape;472;p7"/>
          <p:cNvSpPr/>
          <p:nvPr/>
        </p:nvSpPr>
        <p:spPr>
          <a:xfrm>
            <a:off x="3017520" y="3320434"/>
            <a:ext cx="2606040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059669"/>
                </a:solidFill>
              </a:defRPr>
            </a:pPr>
            <a:r>
              <a:t>▲ Ổn định MoM</a:t>
            </a:r>
          </a:p>
        </p:txBody>
      </p:sp>
      <p:sp>
        <p:nvSpPr>
          <p:cNvPr id="473" name="Google Shape;473;p7"/>
          <p:cNvSpPr/>
          <p:nvPr/>
        </p:nvSpPr>
        <p:spPr>
          <a:xfrm>
            <a:off x="3154680" y="3501679"/>
            <a:ext cx="2331720" cy="166141"/>
          </a:xfrm>
          <a:prstGeom prst="rect">
            <a:avLst/>
          </a:prstGeom>
          <a:solidFill>
            <a:srgbClr val="1B5E20"/>
          </a:solidFill>
          <a:ln w="12700" cap="flat" cmpd="sng">
            <a:solidFill>
              <a:srgbClr val="1B5E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7"/>
          <p:cNvSpPr/>
          <p:nvPr/>
        </p:nvSpPr>
        <p:spPr>
          <a:xfrm>
            <a:off x="3154680" y="3501679"/>
            <a:ext cx="2331720" cy="16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Top 1 Tiện ích Web</a:t>
            </a:r>
          </a:p>
        </p:txBody>
      </p:sp>
      <p:sp>
        <p:nvSpPr>
          <p:cNvPr id="475" name="Google Shape;475;p7"/>
          <p:cNvSpPr/>
          <p:nvPr/>
        </p:nvSpPr>
        <p:spPr>
          <a:xfrm>
            <a:off x="320040" y="3841513"/>
            <a:ext cx="530352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D82D8B"/>
                </a:solidFill>
              </a:defRPr>
            </a:pPr>
            <a:r>
              <a:t>CHỈ SỐ TƯƠNG TÁC &amp; CHẤT LƯỢNG (ENGAGEMENT &amp; QUALITY)</a:t>
            </a:r>
          </a:p>
        </p:txBody>
      </p:sp>
      <p:cxnSp>
        <p:nvCxnSpPr>
          <p:cNvPr id="476" name="Google Shape;476;p7"/>
          <p:cNvCxnSpPr/>
          <p:nvPr/>
        </p:nvCxnSpPr>
        <p:spPr>
          <a:xfrm>
            <a:off x="320040" y="4037861"/>
            <a:ext cx="5303520" cy="0"/>
          </a:xfrm>
          <a:prstGeom prst="straightConnector1">
            <a:avLst/>
          </a:prstGeom>
          <a:noFill/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7" name="Google Shape;477;p7"/>
          <p:cNvSpPr/>
          <p:nvPr/>
        </p:nvSpPr>
        <p:spPr>
          <a:xfrm>
            <a:off x="320040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7"/>
          <p:cNvSpPr/>
          <p:nvPr/>
        </p:nvSpPr>
        <p:spPr>
          <a:xfrm>
            <a:off x="320040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Thời gian lưu trang</a:t>
            </a:r>
          </a:p>
        </p:txBody>
      </p:sp>
      <p:sp>
        <p:nvSpPr>
          <p:cNvPr id="479" name="Google Shape;479;p7"/>
          <p:cNvSpPr/>
          <p:nvPr/>
        </p:nvSpPr>
        <p:spPr>
          <a:xfrm>
            <a:off x="320040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1C171A"/>
                </a:solidFill>
              </a:defRPr>
            </a:pPr>
            <a:r>
              <a:t>2.45p</a:t>
            </a:r>
          </a:p>
        </p:txBody>
      </p:sp>
      <p:sp>
        <p:nvSpPr>
          <p:cNvPr id="480" name="Google Shape;480;p7"/>
          <p:cNvSpPr/>
          <p:nvPr/>
        </p:nvSpPr>
        <p:spPr>
          <a:xfrm>
            <a:off x="320040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059669"/>
                </a:solidFill>
              </a:defRPr>
            </a:pPr>
            <a:r>
              <a:t>▲ +45s (nhóm tool)</a:t>
            </a:r>
          </a:p>
        </p:txBody>
      </p:sp>
      <p:sp>
        <p:nvSpPr>
          <p:cNvPr id="481" name="Google Shape;481;p7"/>
          <p:cNvSpPr/>
          <p:nvPr/>
        </p:nvSpPr>
        <p:spPr>
          <a:xfrm>
            <a:off x="2121408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7"/>
          <p:cNvSpPr/>
          <p:nvPr/>
        </p:nvSpPr>
        <p:spPr>
          <a:xfrm>
            <a:off x="2121408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Tỷ lệ thoát trang</a:t>
            </a:r>
          </a:p>
        </p:txBody>
      </p:sp>
      <p:sp>
        <p:nvSpPr>
          <p:cNvPr id="483" name="Google Shape;483;p7"/>
          <p:cNvSpPr/>
          <p:nvPr/>
        </p:nvSpPr>
        <p:spPr>
          <a:xfrm>
            <a:off x="2121408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42.1%</a:t>
            </a:r>
          </a:p>
        </p:txBody>
      </p:sp>
      <p:sp>
        <p:nvSpPr>
          <p:cNvPr id="484" name="Google Shape;484;p7"/>
          <p:cNvSpPr/>
          <p:nvPr/>
        </p:nvSpPr>
        <p:spPr>
          <a:xfrm>
            <a:off x="2121408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059669"/>
                </a:solidFill>
              </a:defRPr>
            </a:pPr>
            <a:r>
              <a:t>▼ -18.5 pp (sạch Ads)</a:t>
            </a:r>
          </a:p>
        </p:txBody>
      </p:sp>
      <p:sp>
        <p:nvSpPr>
          <p:cNvPr id="485" name="Google Shape;485;p7"/>
          <p:cNvSpPr/>
          <p:nvPr/>
        </p:nvSpPr>
        <p:spPr>
          <a:xfrm>
            <a:off x="3922776" y="4098276"/>
            <a:ext cx="1700784" cy="67966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7"/>
          <p:cNvSpPr/>
          <p:nvPr/>
        </p:nvSpPr>
        <p:spPr>
          <a:xfrm>
            <a:off x="3922776" y="4120932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Hồ sơ Diễn viên</a:t>
            </a:r>
          </a:p>
        </p:txBody>
      </p:sp>
      <p:sp>
        <p:nvSpPr>
          <p:cNvPr id="487" name="Google Shape;487;p7"/>
          <p:cNvSpPr/>
          <p:nvPr/>
        </p:nvSpPr>
        <p:spPr>
          <a:xfrm>
            <a:off x="3922776" y="4271969"/>
            <a:ext cx="1700784" cy="30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600" b="1">
                <a:solidFill>
                  <a:srgbClr val="1C171A"/>
                </a:solidFill>
              </a:defRPr>
            </a:pPr>
            <a:r>
              <a:t>1.200+</a:t>
            </a:r>
          </a:p>
        </p:txBody>
      </p:sp>
      <p:sp>
        <p:nvSpPr>
          <p:cNvPr id="488" name="Google Shape;488;p7"/>
          <p:cNvSpPr/>
          <p:nvPr/>
        </p:nvSpPr>
        <p:spPr>
          <a:xfrm>
            <a:off x="3922776" y="4574044"/>
            <a:ext cx="1700784" cy="15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 b="1">
                <a:solidFill>
                  <a:srgbClr val="4F46E5"/>
                </a:solidFill>
              </a:defRPr>
            </a:pPr>
            <a:r>
              <a:t>▲ Mới go-live T10</a:t>
            </a:r>
          </a:p>
        </p:txBody>
      </p:sp>
      <p:sp>
        <p:nvSpPr>
          <p:cNvPr id="489" name="Google Shape;489;p7"/>
          <p:cNvSpPr/>
          <p:nvPr/>
        </p:nvSpPr>
        <p:spPr>
          <a:xfrm>
            <a:off x="5715000" y="1591056"/>
            <a:ext cx="3108960" cy="317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7"/>
          <p:cNvSpPr/>
          <p:nvPr/>
        </p:nvSpPr>
        <p:spPr>
          <a:xfrm>
            <a:off x="5852160" y="1651471"/>
            <a:ext cx="2834640" cy="226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7"/>
          <p:cNvSpPr/>
          <p:nvPr/>
        </p:nvSpPr>
        <p:spPr>
          <a:xfrm>
            <a:off x="5852160" y="1968649"/>
            <a:ext cx="102870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7"/>
          <p:cNvSpPr/>
          <p:nvPr/>
        </p:nvSpPr>
        <p:spPr>
          <a:xfrm>
            <a:off x="5852160" y="1968649"/>
            <a:ext cx="102870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7"/>
          <p:cNvSpPr/>
          <p:nvPr/>
        </p:nvSpPr>
        <p:spPr>
          <a:xfrm>
            <a:off x="5852160" y="2195205"/>
            <a:ext cx="2834640" cy="1510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Cinema Hub: Đạt 1.07M views (+31.8% MoM), cụm rạp đối tác bứt phá 795K views (+142.2%), chiếm 74.6% lưu lượng; đã go-live 1.200 hồ sơ diễn viên.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Financial Hub: Đạt 299.5K views (+25.6%), cụm Tỷ giá tăng đột phá +444.9% (34.0K views) nhờ cập nhật real-time 20+ ngân hàng.</a:t>
            </a:r>
          </a:p>
        </p:txBody>
      </p:sp>
      <p:sp>
        <p:nvSpPr>
          <p:cNvPr id="494" name="Google Shape;494;p7"/>
          <p:cNvSpPr/>
          <p:nvPr/>
        </p:nvSpPr>
        <p:spPr>
          <a:xfrm>
            <a:off x="5852160" y="3781098"/>
            <a:ext cx="116586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7"/>
          <p:cNvSpPr/>
          <p:nvPr/>
        </p:nvSpPr>
        <p:spPr>
          <a:xfrm>
            <a:off x="5852160" y="3781098"/>
            <a:ext cx="116586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Other Metrics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7"/>
          <p:cNvSpPr/>
          <p:nvPr/>
        </p:nvSpPr>
        <p:spPr>
          <a:xfrm>
            <a:off x="5852160" y="4007654"/>
            <a:ext cx="2834640" cy="755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Vay Nhanh giảm -31.2K views do cắt 61% Paid Ads -&gt; Cần đẩy mạnh SEO On-Page và chèn liên kết nội bộ từ các tiện ích tài chính để bù đắp tự nhiên.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9"/>
          <p:cNvSpPr/>
          <p:nvPr/>
        </p:nvSpPr>
        <p:spPr>
          <a:xfrm>
            <a:off x="320040" y="128016"/>
            <a:ext cx="76809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Cập nhật tiến độ thực thi các dự án sản phẩm trọng yếu, kết quả mới trong tháng và trọng tâm tháng tới.</a:t>
            </a:r>
          </a:p>
        </p:txBody>
      </p:sp>
      <p:sp>
        <p:nvSpPr>
          <p:cNvPr id="579" name="Google Shape;579;p9"/>
          <p:cNvSpPr/>
          <p:nvPr/>
        </p:nvSpPr>
        <p:spPr>
          <a:xfrm>
            <a:off x="320040" y="347472"/>
            <a:ext cx="7680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Tiến Độ Dự Án &amp; Tiện Ích Mới: Go-Live Cụm Diễn Viên (30/10), Tỷ Giá Tăng Vọt (+445%) &amp; Đang Hoàn Thiện Thuế TNCN</a:t>
            </a:r>
          </a:p>
        </p:txBody>
      </p:sp>
      <p:sp>
        <p:nvSpPr>
          <p:cNvPr id="580" name="Google Shape;580;p9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A50064"/>
          </a:solidFill>
          <a:ln w="1270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>
            <a:off x="8394192" y="146304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9"/>
          <p:cNvSpPr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750"/>
              <a:buFont typeface="Calibri"/>
              <a:buNone/>
            </a:pPr>
            <a:r>
              <a:rPr lang="en-US" sz="750" b="0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9"/>
          <p:cNvSpPr/>
          <p:nvPr/>
        </p:nvSpPr>
        <p:spPr>
          <a:xfrm>
            <a:off x="320040" y="487375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Jira &amp; Web Platform Roadmap   |   Owner: Web Platform   |   Chốt số liệu: 30/10/2026</a:t>
            </a:r>
          </a:p>
        </p:txBody>
      </p:sp>
      <p:sp>
        <p:nvSpPr>
          <p:cNvPr id="584" name="Google Shape;584;p9"/>
          <p:cNvSpPr/>
          <p:nvPr/>
        </p:nvSpPr>
        <p:spPr>
          <a:xfrm>
            <a:off x="8321040" y="487375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6 / 7</a:t>
            </a:r>
          </a:p>
        </p:txBody>
      </p:sp>
      <p:sp>
        <p:nvSpPr>
          <p:cNvPr id="585" name="Google Shape;585;p9"/>
          <p:cNvSpPr/>
          <p:nvPr/>
        </p:nvSpPr>
        <p:spPr>
          <a:xfrm>
            <a:off x="320040" y="896112"/>
            <a:ext cx="8503920" cy="621792"/>
          </a:xfrm>
          <a:prstGeom prst="rect">
            <a:avLst/>
          </a:prstGeom>
          <a:solidFill>
            <a:srgbClr val="FFEFF4"/>
          </a:solidFill>
          <a:ln w="12700" cap="flat" cmpd="sng">
            <a:solidFill>
              <a:srgbClr val="FFEF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9"/>
          <p:cNvSpPr/>
          <p:nvPr/>
        </p:nvSpPr>
        <p:spPr>
          <a:xfrm>
            <a:off x="457200" y="896112"/>
            <a:ext cx="82296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Hoàn tất go-live cụm trang Diễn viên &amp; Đạo diễn (/cinema/person) ngày 30/10 với 1.200+ hồ sơ nghệ sĩ, tối ưu Schema thực thể E-E-A-T.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Cụm tra cứu Tỷ giá ngoại tệ tăng trưởng thực tế +444.9% MoM (34.0K views), khẳng định hiệu quả của nhóm công cụ tra cứu thường nhật.</a:t>
            </a:r>
          </a:p>
        </p:txBody>
      </p:sp>
      <p:graphicFrame>
        <p:nvGraphicFramePr>
          <p:cNvPr id="587" name="Google Shape;587;p9"/>
          <p:cNvGraphicFramePr/>
          <p:nvPr/>
        </p:nvGraphicFramePr>
        <p:xfrm>
          <a:off x="320040" y="1591056"/>
          <a:ext cx="5303500" cy="2614555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55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Projects / Products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Status (% complete, delay/..)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New activities in last month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Key focus next month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Support needed?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1. Cụm Trang Diễn Viên (/cinema/person)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Hoàn thành 100% · Go-live 30/10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Go-live danh mục &amp; 1.200+ hồ sơ nghệ sĩ; tối ưu Schema Person chuẩn E-E-A-T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Theo dõi lập chỉ mục Google; mở rộng dàn cast các dự án phim Tết 2027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Không (BU Movies đã nghiệm thu)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2. Cụm Tiện Ích Tỷ Giá (/tai-chinh/ty-gia)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Hoạt động · Tăng +444.9% MoM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Vận hành tự động 4 cặp ngoại tệ (USD, EUR, GBP, AUD); đạt 34.0K views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Tích hợp biểu đồ biến động lịch sử và trang tỷ giá theo từng ngân hàng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Không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7425">
                <a:tc>
                  <a:txBody>
                    <a:bodyPr/>
                    <a:lstStyle/>
                    <a:p>
                      <a:pPr algn="l">
                        <a:defRPr sz="800" b="1"/>
                      </a:pPr>
                      <a:r>
                        <a:t>3. Tiện Ích Tính Thuế TNCN (/tai-chinh/thue-thu-nhap-ca-nhan)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Đang phát triển (80%) · Chuẩn bị Staging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Chuẩn hóa quy chuẩn URL; hoàn thiện UI/UX và logic tính thuế lũy tiến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0"/>
                      </a:pPr>
                      <a:r>
                        <a:t>Hoàn tất kiểm thử và go-live Production đón mùa quyết toán thuế cuối năm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0"/>
                      </a:pPr>
                      <a:r>
                        <a:t>Pháp chế &amp; Kế toán hỗ trợ rà soát công thức tính trước 10/11</a:t>
                      </a:r>
                    </a:p>
                  </a:txBody>
                  <a:tcPr marL="18288" marR="18288" marT="18288" marB="18288" anchor="ctr">
                    <a:lnL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E0E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88" name="Google Shape;588;p9"/>
          <p:cNvSpPr/>
          <p:nvPr/>
        </p:nvSpPr>
        <p:spPr>
          <a:xfrm>
            <a:off x="5715000" y="1591056"/>
            <a:ext cx="3108960" cy="317178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9"/>
          <p:cNvSpPr/>
          <p:nvPr/>
        </p:nvSpPr>
        <p:spPr>
          <a:xfrm>
            <a:off x="5852160" y="1651471"/>
            <a:ext cx="2834640" cy="226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Key Highlights &amp; Commentary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9"/>
          <p:cNvSpPr/>
          <p:nvPr/>
        </p:nvSpPr>
        <p:spPr>
          <a:xfrm>
            <a:off x="5852160" y="1968649"/>
            <a:ext cx="102870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9"/>
          <p:cNvSpPr/>
          <p:nvPr/>
        </p:nvSpPr>
        <p:spPr>
          <a:xfrm>
            <a:off x="5852160" y="1968649"/>
            <a:ext cx="102870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9"/>
          <p:cNvSpPr/>
          <p:nvPr/>
        </p:nvSpPr>
        <p:spPr>
          <a:xfrm>
            <a:off x="5852160" y="2195205"/>
            <a:ext cx="2834640" cy="1208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Tiện ích Tỷ giá (/tai-chinh/ty-gia) tăng bứt phá từ 6.2K lên 34.0K views (+444.9% MoM) nhờ cập nhật tự động 4 cặp ngoại tệ chủ lực.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Minigame Một Mùa Quýt ghi nhận 7.097 user hoàn thành quiz; Game Bò Sữa Bay đã lên Staging, sẵn sàng go-live tại các cụm rạp đối tác.</a:t>
            </a:r>
          </a:p>
        </p:txBody>
      </p:sp>
      <p:sp>
        <p:nvSpPr>
          <p:cNvPr id="593" name="Google Shape;593;p9"/>
          <p:cNvSpPr/>
          <p:nvPr/>
        </p:nvSpPr>
        <p:spPr>
          <a:xfrm>
            <a:off x="5852160" y="3479023"/>
            <a:ext cx="822960" cy="181245"/>
          </a:xfrm>
          <a:prstGeom prst="roundRect">
            <a:avLst>
              <a:gd name="adj" fmla="val 30271"/>
            </a:avLst>
          </a:prstGeom>
          <a:solidFill>
            <a:srgbClr val="FFE3ED"/>
          </a:solidFill>
          <a:ln w="12700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9"/>
          <p:cNvSpPr/>
          <p:nvPr/>
        </p:nvSpPr>
        <p:spPr>
          <a:xfrm>
            <a:off x="5852160" y="3479023"/>
            <a:ext cx="822960" cy="1812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900"/>
              <a:buFont typeface="Calibri"/>
              <a:buNone/>
            </a:pPr>
            <a:r>
              <a:rPr lang="en-US" sz="9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Lưu ý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9"/>
          <p:cNvSpPr/>
          <p:nvPr/>
        </p:nvSpPr>
        <p:spPr>
          <a:xfrm>
            <a:off x="5852160" y="3705579"/>
            <a:ext cx="2834640" cy="1057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Cần Pháp chế và Kế toán hỗ trợ rà soát chuẩn hóa công thức thuế TNCN trước 10/11 để kịp tiến độ go-live đón mùa quyết toán thuế cuối năm.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19034d514f5d6f97_0_2164"/>
          <p:cNvSpPr/>
          <p:nvPr/>
        </p:nvSpPr>
        <p:spPr>
          <a:xfrm>
            <a:off x="342900" y="171450"/>
            <a:ext cx="74064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50">
                <a:solidFill>
                  <a:srgbClr val="5C5060"/>
                </a:solidFill>
              </a:defRPr>
            </a:pPr>
            <a:r>
              <a:t>Mục đích: Cho người đọc hiểu tiến độ các mốc dự án Q4/2026 và các đề xuất hỗ trợ liên phòng ban cần chốt.</a:t>
            </a:r>
          </a:p>
        </p:txBody>
      </p:sp>
      <p:sp>
        <p:nvSpPr>
          <p:cNvPr id="602" name="Google Shape;602;h19034d514f5d6f97_0_2164"/>
          <p:cNvSpPr/>
          <p:nvPr/>
        </p:nvSpPr>
        <p:spPr>
          <a:xfrm>
            <a:off x="342900" y="425196"/>
            <a:ext cx="84561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700" b="1">
                <a:solidFill>
                  <a:srgbClr val="1C171A"/>
                </a:solidFill>
              </a:defRPr>
            </a:pPr>
            <a:r>
              <a:t>Lộ Trình Quý 4: Đưa Tiện Ích Thuế TNCN Lên Production, Chuẩn Bị Toàn Diện Cho Cao Điểm Tết 2027</a:t>
            </a:r>
          </a:p>
        </p:txBody>
      </p:sp>
      <p:sp>
        <p:nvSpPr>
          <p:cNvPr id="603" name="Google Shape;603;h19034d514f5d6f97_0_2164"/>
          <p:cNvSpPr/>
          <p:nvPr/>
        </p:nvSpPr>
        <p:spPr>
          <a:xfrm>
            <a:off x="342900" y="1062990"/>
            <a:ext cx="8456100" cy="754500"/>
          </a:xfrm>
          <a:prstGeom prst="rect">
            <a:avLst/>
          </a:prstGeom>
          <a:solidFill>
            <a:srgbClr val="FFEFF4"/>
          </a:solidFill>
          <a:ln>
            <a:noFill/>
          </a:ln>
        </p:spPr>
        <p:txBody>
          <a:bodyPr spcFirstLastPara="1" wrap="square" lIns="95250" tIns="95250" rIns="95250" bIns="95250" anchor="ctr" anchorCtr="0">
            <a:noAutofit/>
          </a:bodyPr>
          <a:lstStyle/>
          <a:p>
            <a:pPr>
              <a:defRPr sz="950">
                <a:solidFill>
                  <a:srgbClr val="1C171A"/>
                </a:solidFill>
              </a:defRPr>
            </a:pPr>
            <a:r>
              <a:t>• Ý chính 1: Hoàn thành 100% go-live cụm Diễn viên (30/10) và trang Tải App (/tai-app); hoàn tất Staging minigame Bò Sữa Bay.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2: Tiện ích tính Thuế TNCN đang hoàn thiện UI/UX và logic tính toán, dự kiến go-live Production trong tháng 11/2026.</a:t>
            </a:r>
          </a:p>
          <a:p>
            <a:pPr>
              <a:defRPr sz="950">
                <a:solidFill>
                  <a:srgbClr val="1C171A"/>
                </a:solidFill>
              </a:defRPr>
            </a:pPr>
            <a:r>
              <a:t>• Ý chính 3: Cần 3 nội dung hỗ trợ từ BOM, Pháp chế và Kế toán để bảo đảm đúng hạn mốc triển khai.</a:t>
            </a:r>
          </a:p>
        </p:txBody>
      </p:sp>
      <p:sp>
        <p:nvSpPr>
          <p:cNvPr id="604" name="Google Shape;604;h19034d514f5d6f97_0_2164"/>
          <p:cNvSpPr/>
          <p:nvPr/>
        </p:nvSpPr>
        <p:spPr>
          <a:xfrm>
            <a:off x="342900" y="4766310"/>
            <a:ext cx="84561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>
                <a:solidFill>
                  <a:srgbClr val="5C5060"/>
                </a:solidFill>
              </a:defRPr>
            </a:pPr>
            <a:r>
              <a:t>Nguồn: Jira &amp; Web Platform Roadmap   |   Owner: Web Platform   |   Chốt số liệu: 30/10/2026</a:t>
            </a:r>
          </a:p>
        </p:txBody>
      </p:sp>
      <p:sp>
        <p:nvSpPr>
          <p:cNvPr id="605" name="Google Shape;605;h19034d514f5d6f97_0_2164"/>
          <p:cNvSpPr/>
          <p:nvPr/>
        </p:nvSpPr>
        <p:spPr>
          <a:xfrm>
            <a:off x="342900" y="1954530"/>
            <a:ext cx="5349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Mốc dự án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6" name="Google Shape;606;h19034d514f5d6f97_0_2164"/>
          <p:cNvCxnSpPr/>
          <p:nvPr/>
        </p:nvCxnSpPr>
        <p:spPr>
          <a:xfrm>
            <a:off x="891540" y="2708910"/>
            <a:ext cx="4251900" cy="0"/>
          </a:xfrm>
          <a:prstGeom prst="straightConnector1">
            <a:avLst/>
          </a:prstGeom>
          <a:noFill/>
          <a:ln w="28575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07" name="Google Shape;607;h19034d514f5d6f97_0_2164"/>
          <p:cNvCxnSpPr/>
          <p:nvPr/>
        </p:nvCxnSpPr>
        <p:spPr>
          <a:xfrm>
            <a:off x="891540" y="2708910"/>
            <a:ext cx="2126100" cy="0"/>
          </a:xfrm>
          <a:prstGeom prst="straightConnector1">
            <a:avLst/>
          </a:prstGeom>
          <a:noFill/>
          <a:ln w="28575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8" name="Google Shape;608;h19034d514f5d6f97_0_2164"/>
          <p:cNvSpPr/>
          <p:nvPr/>
        </p:nvSpPr>
        <p:spPr>
          <a:xfrm>
            <a:off x="788670" y="2606040"/>
            <a:ext cx="205800" cy="205800"/>
          </a:xfrm>
          <a:prstGeom prst="ellipse">
            <a:avLst/>
          </a:prstGeom>
          <a:solidFill>
            <a:srgbClr val="A50064"/>
          </a:solidFill>
          <a:ln w="1905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h19034d514f5d6f97_0_2164"/>
          <p:cNvSpPr/>
          <p:nvPr/>
        </p:nvSpPr>
        <p:spPr>
          <a:xfrm>
            <a:off x="41148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Kickoff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h19034d514f5d6f97_0_2164"/>
          <p:cNvSpPr/>
          <p:nvPr/>
        </p:nvSpPr>
        <p:spPr>
          <a:xfrm>
            <a:off x="41148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01/09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h19034d514f5d6f97_0_2164"/>
          <p:cNvSpPr/>
          <p:nvPr/>
        </p:nvSpPr>
        <p:spPr>
          <a:xfrm>
            <a:off x="1851660" y="2606040"/>
            <a:ext cx="205800" cy="205800"/>
          </a:xfrm>
          <a:prstGeom prst="ellipse">
            <a:avLst/>
          </a:prstGeom>
          <a:solidFill>
            <a:srgbClr val="A50064"/>
          </a:solidFill>
          <a:ln w="19050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h19034d514f5d6f97_0_2164"/>
          <p:cNvSpPr/>
          <p:nvPr/>
        </p:nvSpPr>
        <p:spPr>
          <a:xfrm>
            <a:off x="147447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Thiết kế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h19034d514f5d6f97_0_2164"/>
          <p:cNvSpPr/>
          <p:nvPr/>
        </p:nvSpPr>
        <p:spPr>
          <a:xfrm>
            <a:off x="147447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30/09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h19034d514f5d6f97_0_2164"/>
          <p:cNvSpPr/>
          <p:nvPr/>
        </p:nvSpPr>
        <p:spPr>
          <a:xfrm>
            <a:off x="2914650" y="2606040"/>
            <a:ext cx="205800" cy="205800"/>
          </a:xfrm>
          <a:prstGeom prst="ellipse">
            <a:avLst/>
          </a:prstGeom>
          <a:solidFill>
            <a:srgbClr val="F95396"/>
          </a:solidFill>
          <a:ln w="19050" cap="flat" cmpd="sng">
            <a:solidFill>
              <a:srgbClr val="F9539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h19034d514f5d6f97_0_2164"/>
          <p:cNvSpPr/>
          <p:nvPr/>
        </p:nvSpPr>
        <p:spPr>
          <a:xfrm>
            <a:off x="253746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Dev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h19034d514f5d6f97_0_2164"/>
          <p:cNvSpPr/>
          <p:nvPr/>
        </p:nvSpPr>
        <p:spPr>
          <a:xfrm>
            <a:off x="253746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31/10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h19034d514f5d6f97_0_2164"/>
          <p:cNvSpPr/>
          <p:nvPr/>
        </p:nvSpPr>
        <p:spPr>
          <a:xfrm>
            <a:off x="3977640" y="2606040"/>
            <a:ext cx="205800" cy="205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h19034d514f5d6f97_0_2164"/>
          <p:cNvSpPr/>
          <p:nvPr/>
        </p:nvSpPr>
        <p:spPr>
          <a:xfrm>
            <a:off x="360045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UAT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h19034d514f5d6f97_0_2164"/>
          <p:cNvSpPr/>
          <p:nvPr/>
        </p:nvSpPr>
        <p:spPr>
          <a:xfrm>
            <a:off x="360045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12/11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h19034d514f5d6f97_0_2164"/>
          <p:cNvSpPr/>
          <p:nvPr/>
        </p:nvSpPr>
        <p:spPr>
          <a:xfrm>
            <a:off x="5040630" y="2606040"/>
            <a:ext cx="205800" cy="205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h19034d514f5d6f97_0_2164"/>
          <p:cNvSpPr/>
          <p:nvPr/>
        </p:nvSpPr>
        <p:spPr>
          <a:xfrm>
            <a:off x="4663440" y="2228850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None/>
            </a:pPr>
            <a:r>
              <a:rPr lang="en-US" sz="10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Go-live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h19034d514f5d6f97_0_2164"/>
          <p:cNvSpPr/>
          <p:nvPr/>
        </p:nvSpPr>
        <p:spPr>
          <a:xfrm>
            <a:off x="4663440" y="2880360"/>
            <a:ext cx="9600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29/11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h19034d514f5d6f97_0_2164"/>
          <p:cNvSpPr/>
          <p:nvPr/>
        </p:nvSpPr>
        <p:spPr>
          <a:xfrm>
            <a:off x="342900" y="3429000"/>
            <a:ext cx="5349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Tiến độ so với kế hoạch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h19034d514f5d6f97_0_2164"/>
          <p:cNvSpPr/>
          <p:nvPr/>
        </p:nvSpPr>
        <p:spPr>
          <a:xfrm>
            <a:off x="342900" y="3737610"/>
            <a:ext cx="754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Kế hoạch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h19034d514f5d6f97_0_2164"/>
          <p:cNvSpPr/>
          <p:nvPr/>
        </p:nvSpPr>
        <p:spPr>
          <a:xfrm>
            <a:off x="1165860" y="3737610"/>
            <a:ext cx="3703200" cy="240000"/>
          </a:xfrm>
          <a:prstGeom prst="rect">
            <a:avLst/>
          </a:prstGeom>
          <a:solidFill>
            <a:srgbClr val="F3F4F6"/>
          </a:solidFill>
          <a:ln w="9525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h19034d514f5d6f97_0_2164"/>
          <p:cNvSpPr/>
          <p:nvPr/>
        </p:nvSpPr>
        <p:spPr>
          <a:xfrm>
            <a:off x="1165860" y="3737610"/>
            <a:ext cx="2777400" cy="240000"/>
          </a:xfrm>
          <a:prstGeom prst="rect">
            <a:avLst/>
          </a:prstGeom>
          <a:solidFill>
            <a:srgbClr val="FFE3ED"/>
          </a:solidFill>
          <a:ln w="9525" cap="flat" cmpd="sng">
            <a:solidFill>
              <a:srgbClr val="FFE3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h19034d514f5d6f97_0_2164"/>
          <p:cNvSpPr/>
          <p:nvPr/>
        </p:nvSpPr>
        <p:spPr>
          <a:xfrm>
            <a:off x="4937760" y="3737610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1C171A"/>
                </a:solidFill>
              </a:defRPr>
            </a:pPr>
            <a:r>
              <a:t>80%</a:t>
            </a:r>
          </a:p>
        </p:txBody>
      </p:sp>
      <p:sp>
        <p:nvSpPr>
          <p:cNvPr id="628" name="Google Shape;628;h19034d514f5d6f97_0_2164"/>
          <p:cNvSpPr/>
          <p:nvPr/>
        </p:nvSpPr>
        <p:spPr>
          <a:xfrm>
            <a:off x="342900" y="4080510"/>
            <a:ext cx="7545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Thực tế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h19034d514f5d6f97_0_2164"/>
          <p:cNvSpPr/>
          <p:nvPr/>
        </p:nvSpPr>
        <p:spPr>
          <a:xfrm>
            <a:off x="1165860" y="4080510"/>
            <a:ext cx="3703200" cy="240000"/>
          </a:xfrm>
          <a:prstGeom prst="rect">
            <a:avLst/>
          </a:prstGeom>
          <a:solidFill>
            <a:srgbClr val="F3F4F6"/>
          </a:solidFill>
          <a:ln w="9525" cap="flat" cmpd="sng">
            <a:solidFill>
              <a:srgbClr val="F3F4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h19034d514f5d6f97_0_2164"/>
          <p:cNvSpPr/>
          <p:nvPr/>
        </p:nvSpPr>
        <p:spPr>
          <a:xfrm>
            <a:off x="1165860" y="4080510"/>
            <a:ext cx="2037000" cy="240000"/>
          </a:xfrm>
          <a:prstGeom prst="rect">
            <a:avLst/>
          </a:prstGeom>
          <a:solidFill>
            <a:srgbClr val="A50064"/>
          </a:solidFill>
          <a:ln w="9525" cap="flat" cmpd="sng">
            <a:solidFill>
              <a:srgbClr val="A5006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h19034d514f5d6f97_0_2164"/>
          <p:cNvSpPr/>
          <p:nvPr/>
        </p:nvSpPr>
        <p:spPr>
          <a:xfrm>
            <a:off x="4937760" y="4080510"/>
            <a:ext cx="480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85%</a:t>
            </a:r>
          </a:p>
        </p:txBody>
      </p:sp>
      <p:sp>
        <p:nvSpPr>
          <p:cNvPr id="632" name="Google Shape;632;h19034d514f5d6f97_0_2164"/>
          <p:cNvSpPr/>
          <p:nvPr/>
        </p:nvSpPr>
        <p:spPr>
          <a:xfrm>
            <a:off x="5966460" y="1954530"/>
            <a:ext cx="28323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5006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A50064"/>
                </a:solidFill>
                <a:latin typeface="Calibri"/>
                <a:ea typeface="Calibri"/>
                <a:cs typeface="Calibri"/>
                <a:sym typeface="Calibri"/>
              </a:rPr>
              <a:t>Việc cần hỗ trợ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33" name="Google Shape;633;h19034d514f5d6f97_0_2164"/>
          <p:cNvGraphicFramePr/>
          <p:nvPr/>
        </p:nvGraphicFramePr>
        <p:xfrm>
          <a:off x="5966460" y="2228850"/>
          <a:ext cx="2832325" cy="1920275"/>
        </p:xfrm>
        <a:graphic>
          <a:graphicData uri="http://schemas.openxmlformats.org/drawingml/2006/table">
            <a:tbl>
              <a:tblPr>
                <a:noFill/>
                <a:tableStyleId>{E4150D1B-22CA-4B41-9D43-DA15F05A9917}</a:tableStyleId>
              </a:tblPr>
              <a:tblGrid>
                <a:gridCol w="150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Việc cần hỗ trợ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Bên liên quan / Owner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Hạn hoàn thành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500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Phê duyệt kế hoạch go-live bộ công cụ Thuế TNCN &amp; Tính Lương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CEO / BOM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31/10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Rà soát chuẩn hóa công thức thuế TNCN và biểu lũy tiến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Pháp chế &amp; Kế toán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10/11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50">
                <a:tc>
                  <a:txBody>
                    <a:bodyPr/>
                    <a:lstStyle/>
                    <a:p>
                      <a:pPr algn="l">
                        <a:defRPr sz="850" b="1"/>
                      </a:pPr>
                      <a:r>
                        <a:t>Thẩm định Điều khoản &amp; Điều kiện (TnC) và bảo mật data người chơi Game Bò Sữa Bay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/>
                      </a:pPr>
                      <a:r>
                        <a:t>Pháp chế &amp; Security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/>
                      </a:pPr>
                      <a:r>
                        <a:t>05/11</a:t>
                      </a:r>
                    </a:p>
                  </a:txBody>
                  <a:tcPr marL="18288" marR="18288" marT="18288" marB="18288" anchor="ctr">
                    <a:lnL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4" name="Google Shape;634;h19034d514f5d6f97_0_2164"/>
          <p:cNvSpPr/>
          <p:nvPr/>
        </p:nvSpPr>
        <p:spPr>
          <a:xfrm>
            <a:off x="5966460" y="4251960"/>
            <a:ext cx="28323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>
                <a:solidFill>
                  <a:srgbClr val="5C5060"/>
                </a:solidFill>
              </a:defRPr>
            </a:pPr>
            <a:r>
              <a:t>Lưu ý: Việc phê duyệt kế hoạch ra mắt tiện ích thuế trước 31/10 quyết định khả năng kịp tiến độ kiểm thử và go-live đón mùa quyết toán cuối năm.</a:t>
            </a:r>
          </a:p>
        </p:txBody>
      </p:sp>
      <p:sp>
        <p:nvSpPr>
          <p:cNvPr id="635" name="Oval 634"/>
          <p:cNvSpPr/>
          <p:nvPr/>
        </p:nvSpPr>
        <p:spPr>
          <a:xfrm>
            <a:off x="8394192" y="146304"/>
            <a:ext cx="384048" cy="384048"/>
          </a:xfrm>
          <a:prstGeom prst="ellipse">
            <a:avLst/>
          </a:prstGeom>
          <a:solidFill>
            <a:srgbClr val="991B1B"/>
          </a:solidFill>
          <a:ln>
            <a:solidFill>
              <a:srgbClr val="991B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8119872" y="548640"/>
            <a:ext cx="93268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91B1B"/>
                </a:solidFill>
              </a:defRPr>
            </a:pPr>
            <a:r>
              <a:t>Reporting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3968</Words>
  <Application>Microsoft Office PowerPoint</Application>
  <PresentationFormat>On-screen Show (16:9)</PresentationFormat>
  <Paragraphs>639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Momo Trust Display</vt:lpstr>
      <vt:lpstr>Inter Tight</vt:lpstr>
      <vt:lpstr>Inter</vt:lpstr>
      <vt:lpstr>Arial</vt:lpstr>
      <vt:lpstr>Inter SemiBold</vt:lpstr>
      <vt:lpstr>Momo Trust Sans</vt:lpstr>
      <vt:lpstr>Momo Trust Sans SemiBold</vt:lpstr>
      <vt:lpstr>Calibri</vt:lpstr>
      <vt:lpstr>Office Theme</vt:lpstr>
      <vt:lpstr>Simple Light</vt:lpstr>
      <vt:lpstr>Nguyên tắc thiết kế/xây dựng báo cáo </vt:lpstr>
      <vt:lpstr>PowerPoint Presentation</vt:lpstr>
      <vt:lpstr>PowerPoint Presentation</vt:lpstr>
      <vt:lpstr>PowerPoint Presentation</vt:lpstr>
      <vt:lpstr>PowerPoint Presentation</vt:lpstr>
      <vt:lpstr>Template slide tham khảo Anh/Chị có thể tùy chọn mẫu phù hợp với bài báo cáo của mình.  </vt:lpstr>
      <vt:lpstr>PowerPoint Presentation</vt:lpstr>
      <vt:lpstr>Table of Contents</vt:lpstr>
      <vt:lpstr>Execution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NGUYỄN THỊ KIM TUYỀN - GPD</cp:lastModifiedBy>
  <cp:revision>2</cp:revision>
  <dcterms:created xsi:type="dcterms:W3CDTF">2026-10-22T10:38:27Z</dcterms:created>
  <dcterms:modified xsi:type="dcterms:W3CDTF">2026-10-29T07:42:32Z</dcterms:modified>
</cp:coreProperties>
</file>