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  <p:sldMasterId id="2147483652" r:id="rId2"/>
  </p:sldMasterIdLst>
  <p:notesMasterIdLst>
    <p:notesMasterId r:id="rId26"/>
  </p:notesMasterIdLst>
  <p:sldIdLst>
    <p:sldId id="262" r:id="rId9"/>
    <p:sldId id="265" r:id="rId12"/>
    <p:sldId id="267" r:id="rId14"/>
    <p:sldId id="269" r:id="rId16"/>
    <p:sldId id="270" r:id="rId17"/>
    <p:sldId id="275" r:id="rId22"/>
    <p:sldId id="276" r:id="rId23"/>
  </p:sldIdLst>
  <p:sldSz cx="9144000" cy="5143500" type="screen16x9"/>
  <p:notesSz cx="5143500" cy="9144000"/>
  <p:embeddedFontLst>
    <p:embeddedFont>
      <p:font typeface="Inter" panose="020B0604020202020204" charset="0"/>
      <p:regular r:id="rId27"/>
      <p:bold r:id="rId28"/>
      <p:italic r:id="rId29"/>
      <p:boldItalic r:id="rId30"/>
    </p:embeddedFont>
    <p:embeddedFont>
      <p:font typeface="Inter SemiBold" panose="020B0604020202020204" charset="0"/>
      <p:regular r:id="rId31"/>
      <p:bold r:id="rId32"/>
      <p:italic r:id="rId33"/>
      <p:boldItalic r:id="rId34"/>
    </p:embeddedFont>
    <p:embeddedFont>
      <p:font typeface="Inter Tight" panose="020B0604020202020204" charset="0"/>
      <p:regular r:id="rId35"/>
      <p:bold r:id="rId36"/>
      <p:italic r:id="rId37"/>
      <p:boldItalic r:id="rId38"/>
    </p:embeddedFont>
    <p:embeddedFont>
      <p:font typeface="Momo Trust Display" panose="020B0604020202020204" charset="0"/>
      <p:regular r:id="rId39"/>
    </p:embeddedFont>
    <p:embeddedFont>
      <p:font typeface="Momo Trust Sans" panose="020B0604020202020204" charset="0"/>
      <p:regular r:id="rId40"/>
      <p:bold r:id="rId41"/>
    </p:embeddedFont>
    <p:embeddedFont>
      <p:font typeface="Momo Trust Sans SemiBold" panose="020B0604020202020204" charset="0"/>
      <p:regular r:id="rId42"/>
      <p:bold r:id="rId4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47" roundtripDataSignature="AMtx7mg9aMRGqxliLC/9/bTCfiAzxGwcQ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4150D1B-22CA-4B41-9D43-DA15F05A9917}">
  <a:tblStyle styleId="{E4150D1B-22CA-4B41-9D43-DA15F05A991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300" y="-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9" Type="http://schemas.openxmlformats.org/officeDocument/2006/relationships/slide" Target="slides/slide7.xml"/><Relationship Id="rId12" Type="http://schemas.openxmlformats.org/officeDocument/2006/relationships/slide" Target="slides/slide10.xml"/><Relationship Id="rId14" Type="http://schemas.openxmlformats.org/officeDocument/2006/relationships/slide" Target="slides/slide12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6" Type="http://schemas.openxmlformats.org/officeDocument/2006/relationships/notesMaster" Target="notesMasters/notesMaster1.xml"/><Relationship Id="rId27" Type="http://schemas.openxmlformats.org/officeDocument/2006/relationships/font" Target="fonts/font1.fntdata"/><Relationship Id="rId28" Type="http://schemas.openxmlformats.org/officeDocument/2006/relationships/font" Target="fonts/font2.fntdata"/><Relationship Id="rId29" Type="http://schemas.openxmlformats.org/officeDocument/2006/relationships/font" Target="fonts/font3.fntdata"/><Relationship Id="rId30" Type="http://schemas.openxmlformats.org/officeDocument/2006/relationships/font" Target="fonts/font4.fntdata"/><Relationship Id="rId31" Type="http://schemas.openxmlformats.org/officeDocument/2006/relationships/font" Target="fonts/font5.fntdata"/><Relationship Id="rId32" Type="http://schemas.openxmlformats.org/officeDocument/2006/relationships/font" Target="fonts/font6.fntdata"/><Relationship Id="rId33" Type="http://schemas.openxmlformats.org/officeDocument/2006/relationships/font" Target="fonts/font7.fntdata"/><Relationship Id="rId34" Type="http://schemas.openxmlformats.org/officeDocument/2006/relationships/font" Target="fonts/font8.fntdata"/><Relationship Id="rId35" Type="http://schemas.openxmlformats.org/officeDocument/2006/relationships/font" Target="fonts/font9.fntdata"/><Relationship Id="rId36" Type="http://schemas.openxmlformats.org/officeDocument/2006/relationships/font" Target="fonts/font10.fntdata"/><Relationship Id="rId37" Type="http://schemas.openxmlformats.org/officeDocument/2006/relationships/font" Target="fonts/font11.fntdata"/><Relationship Id="rId38" Type="http://schemas.openxmlformats.org/officeDocument/2006/relationships/font" Target="fonts/font12.fntdata"/><Relationship Id="rId39" Type="http://schemas.openxmlformats.org/officeDocument/2006/relationships/font" Target="fonts/font13.fntdata"/><Relationship Id="rId40" Type="http://schemas.openxmlformats.org/officeDocument/2006/relationships/font" Target="fonts/font14.fntdata"/><Relationship Id="rId41" Type="http://schemas.openxmlformats.org/officeDocument/2006/relationships/font" Target="fonts/font15.fntdata"/><Relationship Id="rId42" Type="http://schemas.openxmlformats.org/officeDocument/2006/relationships/font" Target="fonts/font16.fntdata"/><Relationship Id="rId43" Type="http://schemas.openxmlformats.org/officeDocument/2006/relationships/font" Target="fonts/font17.fntdata"/><Relationship Id="rId47" Type="http://customschemas.google.com/relationships/presentationmetadata" Target="metadata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1" name="Google Shape;301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2" name="Google Shape;302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39" name="Google Shape;339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0" name="Google Shape;340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75" name="Google Shape;375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6" name="Google Shape;376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15" name="Google Shape;415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6" name="Google Shape;416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37" name="Google Shape;437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8" name="Google Shape;438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15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Google Shape;57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75" name="Google Shape;575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6" name="Google Shape;576;p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20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h19034d514f5d6f97_0_21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51435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98" name="Google Shape;598;h19034d514f5d6f97_0_2164:notes"/>
          <p:cNvSpPr txBox="1">
            <a:spLocks noGrp="1"/>
          </p:cNvSpPr>
          <p:nvPr>
            <p:ph type="body" idx="1"/>
          </p:nvPr>
        </p:nvSpPr>
        <p:spPr>
          <a:xfrm>
            <a:off x="514350" y="3300413"/>
            <a:ext cx="4114800" cy="27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9" name="Google Shape;599;h19034d514f5d6f97_0_2164:notes"/>
          <p:cNvSpPr txBox="1">
            <a:spLocks noGrp="1"/>
          </p:cNvSpPr>
          <p:nvPr>
            <p:ph type="sldNum" idx="12"/>
          </p:nvPr>
        </p:nvSpPr>
        <p:spPr>
          <a:xfrm>
            <a:off x="2913460" y="6513910"/>
            <a:ext cx="2229000" cy="34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21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3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3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3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3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3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4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5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6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7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8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9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0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1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2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3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4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5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6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7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8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9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0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1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2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3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ố cục tùy chỉnh 2">
  <p:cSld name="CUSTOM_1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h19034d514f5d6f97_0_128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" name="Google Shape;13;h19034d514f5d6f97_0_128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Font typeface="Inter"/>
              <a:buChar char="●"/>
              <a:defRPr>
                <a:latin typeface="Inter"/>
                <a:ea typeface="Inter"/>
                <a:cs typeface="Inter"/>
                <a:sym typeface="Inter"/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nk Page with Pattern Background">
  <p:cSld name="CUSTOM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nk Cover" type="title">
  <p:cSld name="TITL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h19034d514f5d6f97_0_1795"/>
          <p:cNvSpPr txBox="1">
            <a:spLocks noGrp="1"/>
          </p:cNvSpPr>
          <p:nvPr>
            <p:ph type="ctrTitle"/>
          </p:nvPr>
        </p:nvSpPr>
        <p:spPr>
          <a:xfrm>
            <a:off x="670850" y="1621850"/>
            <a:ext cx="5386800" cy="141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9pPr>
          </a:lstStyle>
          <a:p>
            <a:endParaRPr/>
          </a:p>
        </p:txBody>
      </p:sp>
      <p:sp>
        <p:nvSpPr>
          <p:cNvPr id="21" name="Google Shape;21;h19034d514f5d6f97_0_1795"/>
          <p:cNvSpPr txBox="1">
            <a:spLocks noGrp="1"/>
          </p:cNvSpPr>
          <p:nvPr>
            <p:ph type="subTitle" idx="1"/>
          </p:nvPr>
        </p:nvSpPr>
        <p:spPr>
          <a:xfrm>
            <a:off x="670850" y="3780897"/>
            <a:ext cx="64605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8C"/>
              </a:buClr>
              <a:buSzPts val="2000"/>
              <a:buFont typeface="Momo Trust Sans"/>
              <a:buNone/>
              <a:defRPr sz="2000">
                <a:solidFill>
                  <a:srgbClr val="FF438C"/>
                </a:solidFill>
                <a:latin typeface="Momo Trust Sans"/>
                <a:ea typeface="Momo Trust Sans"/>
                <a:cs typeface="Momo Trust Sans"/>
                <a:sym typeface="Momo Trust Sans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9pPr>
          </a:lstStyle>
          <a:p>
            <a:endParaRPr/>
          </a:p>
        </p:txBody>
      </p:sp>
      <p:sp>
        <p:nvSpPr>
          <p:cNvPr id="22" name="Google Shape;22;h19034d514f5d6f97_0_179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23" name="Google Shape;23;h19034d514f5d6f97_0_179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5775" y="750225"/>
            <a:ext cx="758774" cy="7057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ed Cover">
  <p:cSld name="TITLE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h19034d514f5d6f97_0_1800"/>
          <p:cNvSpPr txBox="1">
            <a:spLocks noGrp="1"/>
          </p:cNvSpPr>
          <p:nvPr>
            <p:ph type="ctrTitle"/>
          </p:nvPr>
        </p:nvSpPr>
        <p:spPr>
          <a:xfrm>
            <a:off x="670850" y="1621850"/>
            <a:ext cx="5386800" cy="141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9pPr>
          </a:lstStyle>
          <a:p>
            <a:endParaRPr/>
          </a:p>
        </p:txBody>
      </p:sp>
      <p:sp>
        <p:nvSpPr>
          <p:cNvPr id="26" name="Google Shape;26;h19034d514f5d6f97_0_1800"/>
          <p:cNvSpPr txBox="1">
            <a:spLocks noGrp="1"/>
          </p:cNvSpPr>
          <p:nvPr>
            <p:ph type="subTitle" idx="1"/>
          </p:nvPr>
        </p:nvSpPr>
        <p:spPr>
          <a:xfrm>
            <a:off x="670850" y="3780897"/>
            <a:ext cx="64605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8C"/>
              </a:buClr>
              <a:buSzPts val="2000"/>
              <a:buFont typeface="Momo Trust Sans"/>
              <a:buNone/>
              <a:defRPr sz="2000">
                <a:solidFill>
                  <a:srgbClr val="FF438C"/>
                </a:solidFill>
                <a:latin typeface="Momo Trust Sans"/>
                <a:ea typeface="Momo Trust Sans"/>
                <a:cs typeface="Momo Trust Sans"/>
                <a:sym typeface="Momo Trust Sans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9pPr>
          </a:lstStyle>
          <a:p>
            <a:endParaRPr/>
          </a:p>
        </p:txBody>
      </p:sp>
      <p:sp>
        <p:nvSpPr>
          <p:cNvPr id="27" name="Google Shape;27;h19034d514f5d6f97_0_180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28" name="Google Shape;28;h19034d514f5d6f97_0_18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5775" y="750225"/>
            <a:ext cx="758774" cy="7057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range Cover">
  <p:cSld name="TITLE_2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h19034d514f5d6f97_0_1805"/>
          <p:cNvSpPr txBox="1">
            <a:spLocks noGrp="1"/>
          </p:cNvSpPr>
          <p:nvPr>
            <p:ph type="ctrTitle"/>
          </p:nvPr>
        </p:nvSpPr>
        <p:spPr>
          <a:xfrm>
            <a:off x="670850" y="1621850"/>
            <a:ext cx="5386800" cy="141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9pPr>
          </a:lstStyle>
          <a:p>
            <a:endParaRPr/>
          </a:p>
        </p:txBody>
      </p:sp>
      <p:sp>
        <p:nvSpPr>
          <p:cNvPr id="31" name="Google Shape;31;h19034d514f5d6f97_0_1805"/>
          <p:cNvSpPr txBox="1">
            <a:spLocks noGrp="1"/>
          </p:cNvSpPr>
          <p:nvPr>
            <p:ph type="subTitle" idx="1"/>
          </p:nvPr>
        </p:nvSpPr>
        <p:spPr>
          <a:xfrm>
            <a:off x="670850" y="3780897"/>
            <a:ext cx="64605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8C"/>
              </a:buClr>
              <a:buSzPts val="2000"/>
              <a:buFont typeface="Momo Trust Sans"/>
              <a:buNone/>
              <a:defRPr sz="2000">
                <a:solidFill>
                  <a:srgbClr val="FF438C"/>
                </a:solidFill>
                <a:latin typeface="Momo Trust Sans"/>
                <a:ea typeface="Momo Trust Sans"/>
                <a:cs typeface="Momo Trust Sans"/>
                <a:sym typeface="Momo Trust Sans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9pPr>
          </a:lstStyle>
          <a:p>
            <a:endParaRPr/>
          </a:p>
        </p:txBody>
      </p:sp>
      <p:sp>
        <p:nvSpPr>
          <p:cNvPr id="32" name="Google Shape;32;h19034d514f5d6f97_0_180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33" name="Google Shape;33;h19034d514f5d6f97_0_180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5775" y="750225"/>
            <a:ext cx="758774" cy="7057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Yellow Cover">
  <p:cSld name="TITLE_2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h19034d514f5d6f97_0_1810"/>
          <p:cNvSpPr txBox="1">
            <a:spLocks noGrp="1"/>
          </p:cNvSpPr>
          <p:nvPr>
            <p:ph type="ctrTitle"/>
          </p:nvPr>
        </p:nvSpPr>
        <p:spPr>
          <a:xfrm>
            <a:off x="670850" y="1621850"/>
            <a:ext cx="5386800" cy="141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9pPr>
          </a:lstStyle>
          <a:p>
            <a:endParaRPr/>
          </a:p>
        </p:txBody>
      </p:sp>
      <p:sp>
        <p:nvSpPr>
          <p:cNvPr id="36" name="Google Shape;36;h19034d514f5d6f97_0_1810"/>
          <p:cNvSpPr txBox="1">
            <a:spLocks noGrp="1"/>
          </p:cNvSpPr>
          <p:nvPr>
            <p:ph type="subTitle" idx="1"/>
          </p:nvPr>
        </p:nvSpPr>
        <p:spPr>
          <a:xfrm>
            <a:off x="670850" y="3780897"/>
            <a:ext cx="64605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8C"/>
              </a:buClr>
              <a:buSzPts val="2000"/>
              <a:buFont typeface="Momo Trust Sans"/>
              <a:buNone/>
              <a:defRPr sz="2000">
                <a:solidFill>
                  <a:srgbClr val="FF438C"/>
                </a:solidFill>
                <a:latin typeface="Momo Trust Sans"/>
                <a:ea typeface="Momo Trust Sans"/>
                <a:cs typeface="Momo Trust Sans"/>
                <a:sym typeface="Momo Trust Sans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9pPr>
          </a:lstStyle>
          <a:p>
            <a:endParaRPr/>
          </a:p>
        </p:txBody>
      </p:sp>
      <p:sp>
        <p:nvSpPr>
          <p:cNvPr id="37" name="Google Shape;37;h19034d514f5d6f97_0_18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38" name="Google Shape;38;h19034d514f5d6f97_0_18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5775" y="750225"/>
            <a:ext cx="758774" cy="7057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een Cover">
  <p:cSld name="TITLE_2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h19034d514f5d6f97_0_1815"/>
          <p:cNvSpPr txBox="1">
            <a:spLocks noGrp="1"/>
          </p:cNvSpPr>
          <p:nvPr>
            <p:ph type="ctrTitle"/>
          </p:nvPr>
        </p:nvSpPr>
        <p:spPr>
          <a:xfrm>
            <a:off x="670850" y="1621850"/>
            <a:ext cx="5386800" cy="141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9pPr>
          </a:lstStyle>
          <a:p>
            <a:endParaRPr/>
          </a:p>
        </p:txBody>
      </p:sp>
      <p:sp>
        <p:nvSpPr>
          <p:cNvPr id="41" name="Google Shape;41;h19034d514f5d6f97_0_1815"/>
          <p:cNvSpPr txBox="1">
            <a:spLocks noGrp="1"/>
          </p:cNvSpPr>
          <p:nvPr>
            <p:ph type="subTitle" idx="1"/>
          </p:nvPr>
        </p:nvSpPr>
        <p:spPr>
          <a:xfrm>
            <a:off x="670850" y="3780897"/>
            <a:ext cx="64605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8C"/>
              </a:buClr>
              <a:buSzPts val="2000"/>
              <a:buFont typeface="Momo Trust Sans"/>
              <a:buNone/>
              <a:defRPr sz="2000">
                <a:solidFill>
                  <a:srgbClr val="FF438C"/>
                </a:solidFill>
                <a:latin typeface="Momo Trust Sans"/>
                <a:ea typeface="Momo Trust Sans"/>
                <a:cs typeface="Momo Trust Sans"/>
                <a:sym typeface="Momo Trust Sans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9pPr>
          </a:lstStyle>
          <a:p>
            <a:endParaRPr/>
          </a:p>
        </p:txBody>
      </p:sp>
      <p:sp>
        <p:nvSpPr>
          <p:cNvPr id="42" name="Google Shape;42;h19034d514f5d6f97_0_18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43" name="Google Shape;43;h19034d514f5d6f97_0_18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5775" y="750225"/>
            <a:ext cx="758774" cy="7057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l Cover">
  <p:cSld name="TITLE_2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h19034d514f5d6f97_0_1820"/>
          <p:cNvSpPr txBox="1">
            <a:spLocks noGrp="1"/>
          </p:cNvSpPr>
          <p:nvPr>
            <p:ph type="ctrTitle"/>
          </p:nvPr>
        </p:nvSpPr>
        <p:spPr>
          <a:xfrm>
            <a:off x="670850" y="1621850"/>
            <a:ext cx="5386800" cy="141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9pPr>
          </a:lstStyle>
          <a:p>
            <a:endParaRPr/>
          </a:p>
        </p:txBody>
      </p:sp>
      <p:sp>
        <p:nvSpPr>
          <p:cNvPr id="46" name="Google Shape;46;h19034d514f5d6f97_0_1820"/>
          <p:cNvSpPr txBox="1">
            <a:spLocks noGrp="1"/>
          </p:cNvSpPr>
          <p:nvPr>
            <p:ph type="subTitle" idx="1"/>
          </p:nvPr>
        </p:nvSpPr>
        <p:spPr>
          <a:xfrm>
            <a:off x="670850" y="3780897"/>
            <a:ext cx="64605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8C"/>
              </a:buClr>
              <a:buSzPts val="2000"/>
              <a:buFont typeface="Momo Trust Sans"/>
              <a:buNone/>
              <a:defRPr sz="2000">
                <a:solidFill>
                  <a:srgbClr val="FF438C"/>
                </a:solidFill>
                <a:latin typeface="Momo Trust Sans"/>
                <a:ea typeface="Momo Trust Sans"/>
                <a:cs typeface="Momo Trust Sans"/>
                <a:sym typeface="Momo Trust Sans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9pPr>
          </a:lstStyle>
          <a:p>
            <a:endParaRPr/>
          </a:p>
        </p:txBody>
      </p:sp>
      <p:sp>
        <p:nvSpPr>
          <p:cNvPr id="47" name="Google Shape;47;h19034d514f5d6f97_0_18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48" name="Google Shape;48;h19034d514f5d6f97_0_18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5775" y="750225"/>
            <a:ext cx="758774" cy="7057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ue Cover">
  <p:cSld name="TITLE_2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h19034d514f5d6f97_0_1825"/>
          <p:cNvSpPr txBox="1">
            <a:spLocks noGrp="1"/>
          </p:cNvSpPr>
          <p:nvPr>
            <p:ph type="ctrTitle"/>
          </p:nvPr>
        </p:nvSpPr>
        <p:spPr>
          <a:xfrm>
            <a:off x="670850" y="1621850"/>
            <a:ext cx="5386800" cy="141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9pPr>
          </a:lstStyle>
          <a:p>
            <a:endParaRPr/>
          </a:p>
        </p:txBody>
      </p:sp>
      <p:sp>
        <p:nvSpPr>
          <p:cNvPr id="51" name="Google Shape;51;h19034d514f5d6f97_0_1825"/>
          <p:cNvSpPr txBox="1">
            <a:spLocks noGrp="1"/>
          </p:cNvSpPr>
          <p:nvPr>
            <p:ph type="subTitle" idx="1"/>
          </p:nvPr>
        </p:nvSpPr>
        <p:spPr>
          <a:xfrm>
            <a:off x="670850" y="3780897"/>
            <a:ext cx="64605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8C"/>
              </a:buClr>
              <a:buSzPts val="2000"/>
              <a:buFont typeface="Momo Trust Sans"/>
              <a:buNone/>
              <a:defRPr sz="2000">
                <a:solidFill>
                  <a:srgbClr val="FF438C"/>
                </a:solidFill>
                <a:latin typeface="Momo Trust Sans"/>
                <a:ea typeface="Momo Trust Sans"/>
                <a:cs typeface="Momo Trust Sans"/>
                <a:sym typeface="Momo Trust Sans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9pPr>
          </a:lstStyle>
          <a:p>
            <a:endParaRPr/>
          </a:p>
        </p:txBody>
      </p:sp>
      <p:sp>
        <p:nvSpPr>
          <p:cNvPr id="52" name="Google Shape;52;h19034d514f5d6f97_0_182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53" name="Google Shape;53;h19034d514f5d6f97_0_18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5775" y="750225"/>
            <a:ext cx="758774" cy="7057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urple Cover">
  <p:cSld name="TITLE_2_1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h19034d514f5d6f97_0_1830"/>
          <p:cNvSpPr txBox="1">
            <a:spLocks noGrp="1"/>
          </p:cNvSpPr>
          <p:nvPr>
            <p:ph type="ctrTitle"/>
          </p:nvPr>
        </p:nvSpPr>
        <p:spPr>
          <a:xfrm>
            <a:off x="670850" y="1621850"/>
            <a:ext cx="5386800" cy="141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9pPr>
          </a:lstStyle>
          <a:p>
            <a:endParaRPr/>
          </a:p>
        </p:txBody>
      </p:sp>
      <p:sp>
        <p:nvSpPr>
          <p:cNvPr id="56" name="Google Shape;56;h19034d514f5d6f97_0_1830"/>
          <p:cNvSpPr txBox="1">
            <a:spLocks noGrp="1"/>
          </p:cNvSpPr>
          <p:nvPr>
            <p:ph type="subTitle" idx="1"/>
          </p:nvPr>
        </p:nvSpPr>
        <p:spPr>
          <a:xfrm>
            <a:off x="670850" y="3780897"/>
            <a:ext cx="64605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8C"/>
              </a:buClr>
              <a:buSzPts val="2000"/>
              <a:buFont typeface="Momo Trust Sans"/>
              <a:buNone/>
              <a:defRPr sz="2000">
                <a:solidFill>
                  <a:srgbClr val="FF438C"/>
                </a:solidFill>
                <a:latin typeface="Momo Trust Sans"/>
                <a:ea typeface="Momo Trust Sans"/>
                <a:cs typeface="Momo Trust Sans"/>
                <a:sym typeface="Momo Trust Sans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9pPr>
          </a:lstStyle>
          <a:p>
            <a:endParaRPr/>
          </a:p>
        </p:txBody>
      </p:sp>
      <p:sp>
        <p:nvSpPr>
          <p:cNvPr id="57" name="Google Shape;57;h19034d514f5d6f97_0_183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58" name="Google Shape;58;h19034d514f5d6f97_0_18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5775" y="750225"/>
            <a:ext cx="758774" cy="7057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h19034d514f5d6f97_0_183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h19034d514f5d6f97_0_183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Font typeface="Momo Trust Sans"/>
              <a:buChar char="●"/>
              <a:defRPr>
                <a:latin typeface="Momo Trust Sans"/>
                <a:ea typeface="Momo Trust Sans"/>
                <a:cs typeface="Momo Trust Sans"/>
                <a:sym typeface="Momo Trust Sans"/>
              </a:defRPr>
            </a:lvl1pPr>
            <a:lvl2pPr marL="914400" lvl="1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62" name="Google Shape;62;h19034d514f5d6f97_0_183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nk Break Page">
  <p:cSld name="CUSTOM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h19034d514f5d6f97_0_1839"/>
          <p:cNvSpPr txBox="1">
            <a:spLocks noGrp="1"/>
          </p:cNvSpPr>
          <p:nvPr>
            <p:ph type="title"/>
          </p:nvPr>
        </p:nvSpPr>
        <p:spPr>
          <a:xfrm>
            <a:off x="3249100" y="2649700"/>
            <a:ext cx="4786800" cy="183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ed Break Page">
  <p:cSld name="CUSTOM_3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h19034d514f5d6f97_0_1841"/>
          <p:cNvSpPr txBox="1">
            <a:spLocks noGrp="1"/>
          </p:cNvSpPr>
          <p:nvPr>
            <p:ph type="title"/>
          </p:nvPr>
        </p:nvSpPr>
        <p:spPr>
          <a:xfrm>
            <a:off x="3249100" y="2649700"/>
            <a:ext cx="4786800" cy="183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range Break Page">
  <p:cSld name="CUSTOM_3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h19034d514f5d6f97_0_1843"/>
          <p:cNvSpPr txBox="1">
            <a:spLocks noGrp="1"/>
          </p:cNvSpPr>
          <p:nvPr>
            <p:ph type="title"/>
          </p:nvPr>
        </p:nvSpPr>
        <p:spPr>
          <a:xfrm>
            <a:off x="3249100" y="2649700"/>
            <a:ext cx="4786800" cy="183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Yellow Break Page">
  <p:cSld name="CUSTOM_3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h19034d514f5d6f97_0_1845"/>
          <p:cNvSpPr txBox="1">
            <a:spLocks noGrp="1"/>
          </p:cNvSpPr>
          <p:nvPr>
            <p:ph type="title"/>
          </p:nvPr>
        </p:nvSpPr>
        <p:spPr>
          <a:xfrm>
            <a:off x="3249100" y="2649700"/>
            <a:ext cx="4786800" cy="183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een Break Page">
  <p:cSld name="CUSTOM_3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h19034d514f5d6f97_0_1847"/>
          <p:cNvSpPr txBox="1">
            <a:spLocks noGrp="1"/>
          </p:cNvSpPr>
          <p:nvPr>
            <p:ph type="title"/>
          </p:nvPr>
        </p:nvSpPr>
        <p:spPr>
          <a:xfrm>
            <a:off x="3249100" y="2649700"/>
            <a:ext cx="4786800" cy="183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l Break Page">
  <p:cSld name="CUSTOM_3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h19034d514f5d6f97_0_1849"/>
          <p:cNvSpPr txBox="1">
            <a:spLocks noGrp="1"/>
          </p:cNvSpPr>
          <p:nvPr>
            <p:ph type="title"/>
          </p:nvPr>
        </p:nvSpPr>
        <p:spPr>
          <a:xfrm>
            <a:off x="3249100" y="2649700"/>
            <a:ext cx="4786800" cy="183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ue Break Page">
  <p:cSld name="CUSTOM_3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h19034d514f5d6f97_0_1851"/>
          <p:cNvSpPr txBox="1">
            <a:spLocks noGrp="1"/>
          </p:cNvSpPr>
          <p:nvPr>
            <p:ph type="title"/>
          </p:nvPr>
        </p:nvSpPr>
        <p:spPr>
          <a:xfrm>
            <a:off x="3249100" y="2649700"/>
            <a:ext cx="4786800" cy="183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urple Break Page">
  <p:cSld name="CUSTOM_3_1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h19034d514f5d6f97_0_1853"/>
          <p:cNvSpPr txBox="1">
            <a:spLocks noGrp="1"/>
          </p:cNvSpPr>
          <p:nvPr>
            <p:ph type="title"/>
          </p:nvPr>
        </p:nvSpPr>
        <p:spPr>
          <a:xfrm>
            <a:off x="3249100" y="2649700"/>
            <a:ext cx="4786800" cy="183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ố cục tùy chỉnh 2">
  <p:cSld name="CUSTOM_1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h19034d514f5d6f97_0_185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81" name="Google Shape;81;h19034d514f5d6f97_0_185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Font typeface="Inter"/>
              <a:buChar char="●"/>
              <a:defRPr>
                <a:latin typeface="Inter"/>
                <a:ea typeface="Inter"/>
                <a:cs typeface="Inter"/>
                <a:sym typeface="Inter"/>
              </a:defRPr>
            </a:lvl1pPr>
            <a:lvl2pPr marL="914400" lvl="1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nk Page with Pattern Background">
  <p:cSld name="CUSTOM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ue Bank Page with Pattern Background">
  <p:cSld name="CUSTOM_2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range Bank Page with Pattern Background">
  <p:cSld name="CUSTOM_2_2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ed Bank Page with Pattern Background">
  <p:cSld name="CUSTOM_2_2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l Bank Page with Pattern Background">
  <p:cSld name="CUSTOM_2_2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urple Bank Page with Pattern Background">
  <p:cSld name="CUSTOM_2_2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Yellow Bank Page with Pattern Background">
  <p:cSld name="CUSTOM_2_2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een Bank Page with Pattern Background">
  <p:cSld name="CUSTOM_2_2_1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nk Cover">
  <p:cSld name="TITLE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h19034d514f5d6f97_0_1866"/>
          <p:cNvSpPr txBox="1">
            <a:spLocks noGrp="1"/>
          </p:cNvSpPr>
          <p:nvPr>
            <p:ph type="ctrTitle"/>
          </p:nvPr>
        </p:nvSpPr>
        <p:spPr>
          <a:xfrm>
            <a:off x="249300" y="1621850"/>
            <a:ext cx="3933300" cy="215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9pPr>
          </a:lstStyle>
          <a:p>
            <a:endParaRPr/>
          </a:p>
        </p:txBody>
      </p:sp>
      <p:sp>
        <p:nvSpPr>
          <p:cNvPr id="92" name="Google Shape;92;h19034d514f5d6f97_0_1866"/>
          <p:cNvSpPr txBox="1">
            <a:spLocks noGrp="1"/>
          </p:cNvSpPr>
          <p:nvPr>
            <p:ph type="subTitle" idx="1"/>
          </p:nvPr>
        </p:nvSpPr>
        <p:spPr>
          <a:xfrm>
            <a:off x="249300" y="3311550"/>
            <a:ext cx="3933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8C"/>
              </a:buClr>
              <a:buSzPts val="2000"/>
              <a:buFont typeface="Momo Trust Sans"/>
              <a:buNone/>
              <a:defRPr sz="2000">
                <a:solidFill>
                  <a:srgbClr val="FF438C"/>
                </a:solidFill>
                <a:latin typeface="Momo Trust Sans"/>
                <a:ea typeface="Momo Trust Sans"/>
                <a:cs typeface="Momo Trust Sans"/>
                <a:sym typeface="Momo Trust Sans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9pPr>
          </a:lstStyle>
          <a:p>
            <a:endParaRPr/>
          </a:p>
        </p:txBody>
      </p:sp>
      <p:sp>
        <p:nvSpPr>
          <p:cNvPr id="93" name="Google Shape;93;h19034d514f5d6f97_0_186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E46962"/>
          </p15:clr>
        </p15:guide>
        <p15:guide id="2" pos="2880">
          <p15:clr>
            <a:srgbClr val="E46962"/>
          </p15:clr>
        </p15:guide>
        <p15:guide id="3" orient="horz" pos="157">
          <p15:clr>
            <a:srgbClr val="E46962"/>
          </p15:clr>
        </p15:guide>
        <p15:guide id="4" orient="horz" pos="3083">
          <p15:clr>
            <a:srgbClr val="E46962"/>
          </p15:clr>
        </p15:guide>
        <p15:guide id="5" pos="157">
          <p15:clr>
            <a:srgbClr val="E46962"/>
          </p15:clr>
        </p15:guide>
        <p15:guide id="6" pos="5603">
          <p15:clr>
            <a:srgbClr val="E46962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ed Cover">
  <p:cSld name="TITLE_1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h19034d514f5d6f97_0_1870"/>
          <p:cNvSpPr txBox="1">
            <a:spLocks noGrp="1"/>
          </p:cNvSpPr>
          <p:nvPr>
            <p:ph type="ctrTitle"/>
          </p:nvPr>
        </p:nvSpPr>
        <p:spPr>
          <a:xfrm>
            <a:off x="249300" y="1621850"/>
            <a:ext cx="3933300" cy="215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9pPr>
          </a:lstStyle>
          <a:p>
            <a:endParaRPr/>
          </a:p>
        </p:txBody>
      </p:sp>
      <p:sp>
        <p:nvSpPr>
          <p:cNvPr id="96" name="Google Shape;96;h19034d514f5d6f97_0_1870"/>
          <p:cNvSpPr txBox="1">
            <a:spLocks noGrp="1"/>
          </p:cNvSpPr>
          <p:nvPr>
            <p:ph type="subTitle" idx="1"/>
          </p:nvPr>
        </p:nvSpPr>
        <p:spPr>
          <a:xfrm>
            <a:off x="249300" y="3311550"/>
            <a:ext cx="3933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8C"/>
              </a:buClr>
              <a:buSzPts val="2000"/>
              <a:buFont typeface="Momo Trust Sans"/>
              <a:buNone/>
              <a:defRPr sz="2000">
                <a:solidFill>
                  <a:srgbClr val="FF438C"/>
                </a:solidFill>
                <a:latin typeface="Momo Trust Sans"/>
                <a:ea typeface="Momo Trust Sans"/>
                <a:cs typeface="Momo Trust Sans"/>
                <a:sym typeface="Momo Trust Sans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9pPr>
          </a:lstStyle>
          <a:p>
            <a:endParaRPr/>
          </a:p>
        </p:txBody>
      </p:sp>
      <p:sp>
        <p:nvSpPr>
          <p:cNvPr id="97" name="Google Shape;97;h19034d514f5d6f97_0_187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E46962"/>
          </p15:clr>
        </p15:guide>
        <p15:guide id="2" pos="2880">
          <p15:clr>
            <a:srgbClr val="E46962"/>
          </p15:clr>
        </p15:guide>
        <p15:guide id="3" orient="horz" pos="157">
          <p15:clr>
            <a:srgbClr val="E46962"/>
          </p15:clr>
        </p15:guide>
        <p15:guide id="4" orient="horz" pos="3083">
          <p15:clr>
            <a:srgbClr val="E46962"/>
          </p15:clr>
        </p15:guide>
        <p15:guide id="5" pos="157">
          <p15:clr>
            <a:srgbClr val="E46962"/>
          </p15:clr>
        </p15:guide>
        <p15:guide id="6" pos="5603">
          <p15:clr>
            <a:srgbClr val="E46962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range Cover">
  <p:cSld name="TITLE_1_2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h19034d514f5d6f97_0_1874"/>
          <p:cNvSpPr txBox="1">
            <a:spLocks noGrp="1"/>
          </p:cNvSpPr>
          <p:nvPr>
            <p:ph type="ctrTitle"/>
          </p:nvPr>
        </p:nvSpPr>
        <p:spPr>
          <a:xfrm>
            <a:off x="249300" y="1621850"/>
            <a:ext cx="3933300" cy="215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9pPr>
          </a:lstStyle>
          <a:p>
            <a:endParaRPr/>
          </a:p>
        </p:txBody>
      </p:sp>
      <p:sp>
        <p:nvSpPr>
          <p:cNvPr id="100" name="Google Shape;100;h19034d514f5d6f97_0_1874"/>
          <p:cNvSpPr txBox="1">
            <a:spLocks noGrp="1"/>
          </p:cNvSpPr>
          <p:nvPr>
            <p:ph type="subTitle" idx="1"/>
          </p:nvPr>
        </p:nvSpPr>
        <p:spPr>
          <a:xfrm>
            <a:off x="249300" y="3311550"/>
            <a:ext cx="3933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8C"/>
              </a:buClr>
              <a:buSzPts val="2000"/>
              <a:buFont typeface="Momo Trust Sans"/>
              <a:buNone/>
              <a:defRPr sz="2000">
                <a:solidFill>
                  <a:srgbClr val="FF438C"/>
                </a:solidFill>
                <a:latin typeface="Momo Trust Sans"/>
                <a:ea typeface="Momo Trust Sans"/>
                <a:cs typeface="Momo Trust Sans"/>
                <a:sym typeface="Momo Trust Sans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9pPr>
          </a:lstStyle>
          <a:p>
            <a:endParaRPr/>
          </a:p>
        </p:txBody>
      </p:sp>
      <p:sp>
        <p:nvSpPr>
          <p:cNvPr id="101" name="Google Shape;101;h19034d514f5d6f97_0_187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E46962"/>
          </p15:clr>
        </p15:guide>
        <p15:guide id="2" pos="2880">
          <p15:clr>
            <a:srgbClr val="E46962"/>
          </p15:clr>
        </p15:guide>
        <p15:guide id="3" orient="horz" pos="157">
          <p15:clr>
            <a:srgbClr val="E46962"/>
          </p15:clr>
        </p15:guide>
        <p15:guide id="4" orient="horz" pos="3083">
          <p15:clr>
            <a:srgbClr val="E46962"/>
          </p15:clr>
        </p15:guide>
        <p15:guide id="5" pos="157">
          <p15:clr>
            <a:srgbClr val="E46962"/>
          </p15:clr>
        </p15:guide>
        <p15:guide id="6" pos="5603">
          <p15:clr>
            <a:srgbClr val="E46962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Yellow Cover">
  <p:cSld name="TITLE_1_2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h19034d514f5d6f97_0_1878"/>
          <p:cNvSpPr txBox="1">
            <a:spLocks noGrp="1"/>
          </p:cNvSpPr>
          <p:nvPr>
            <p:ph type="ctrTitle"/>
          </p:nvPr>
        </p:nvSpPr>
        <p:spPr>
          <a:xfrm>
            <a:off x="249300" y="1621850"/>
            <a:ext cx="3933300" cy="215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9pPr>
          </a:lstStyle>
          <a:p>
            <a:endParaRPr/>
          </a:p>
        </p:txBody>
      </p:sp>
      <p:sp>
        <p:nvSpPr>
          <p:cNvPr id="104" name="Google Shape;104;h19034d514f5d6f97_0_1878"/>
          <p:cNvSpPr txBox="1">
            <a:spLocks noGrp="1"/>
          </p:cNvSpPr>
          <p:nvPr>
            <p:ph type="subTitle" idx="1"/>
          </p:nvPr>
        </p:nvSpPr>
        <p:spPr>
          <a:xfrm>
            <a:off x="249300" y="3311550"/>
            <a:ext cx="3933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8C"/>
              </a:buClr>
              <a:buSzPts val="2000"/>
              <a:buFont typeface="Momo Trust Sans"/>
              <a:buNone/>
              <a:defRPr sz="2000">
                <a:solidFill>
                  <a:srgbClr val="FF438C"/>
                </a:solidFill>
                <a:latin typeface="Momo Trust Sans"/>
                <a:ea typeface="Momo Trust Sans"/>
                <a:cs typeface="Momo Trust Sans"/>
                <a:sym typeface="Momo Trust Sans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9pPr>
          </a:lstStyle>
          <a:p>
            <a:endParaRPr/>
          </a:p>
        </p:txBody>
      </p:sp>
      <p:sp>
        <p:nvSpPr>
          <p:cNvPr id="105" name="Google Shape;105;h19034d514f5d6f97_0_187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E46962"/>
          </p15:clr>
        </p15:guide>
        <p15:guide id="2" pos="2880">
          <p15:clr>
            <a:srgbClr val="E46962"/>
          </p15:clr>
        </p15:guide>
        <p15:guide id="3" orient="horz" pos="157">
          <p15:clr>
            <a:srgbClr val="E46962"/>
          </p15:clr>
        </p15:guide>
        <p15:guide id="4" orient="horz" pos="3083">
          <p15:clr>
            <a:srgbClr val="E46962"/>
          </p15:clr>
        </p15:guide>
        <p15:guide id="5" pos="157">
          <p15:clr>
            <a:srgbClr val="E46962"/>
          </p15:clr>
        </p15:guide>
        <p15:guide id="6" pos="5603">
          <p15:clr>
            <a:srgbClr val="E46962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een Cover">
  <p:cSld name="TITLE_1_2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h19034d514f5d6f97_0_1882"/>
          <p:cNvSpPr txBox="1">
            <a:spLocks noGrp="1"/>
          </p:cNvSpPr>
          <p:nvPr>
            <p:ph type="ctrTitle"/>
          </p:nvPr>
        </p:nvSpPr>
        <p:spPr>
          <a:xfrm>
            <a:off x="249300" y="1621850"/>
            <a:ext cx="3933300" cy="215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9pPr>
          </a:lstStyle>
          <a:p>
            <a:endParaRPr/>
          </a:p>
        </p:txBody>
      </p:sp>
      <p:sp>
        <p:nvSpPr>
          <p:cNvPr id="108" name="Google Shape;108;h19034d514f5d6f97_0_1882"/>
          <p:cNvSpPr txBox="1">
            <a:spLocks noGrp="1"/>
          </p:cNvSpPr>
          <p:nvPr>
            <p:ph type="subTitle" idx="1"/>
          </p:nvPr>
        </p:nvSpPr>
        <p:spPr>
          <a:xfrm>
            <a:off x="249300" y="3311550"/>
            <a:ext cx="3933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8C"/>
              </a:buClr>
              <a:buSzPts val="2000"/>
              <a:buFont typeface="Momo Trust Sans"/>
              <a:buNone/>
              <a:defRPr sz="2000">
                <a:solidFill>
                  <a:srgbClr val="FF438C"/>
                </a:solidFill>
                <a:latin typeface="Momo Trust Sans"/>
                <a:ea typeface="Momo Trust Sans"/>
                <a:cs typeface="Momo Trust Sans"/>
                <a:sym typeface="Momo Trust Sans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9pPr>
          </a:lstStyle>
          <a:p>
            <a:endParaRPr/>
          </a:p>
        </p:txBody>
      </p:sp>
      <p:sp>
        <p:nvSpPr>
          <p:cNvPr id="109" name="Google Shape;109;h19034d514f5d6f97_0_188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E46962"/>
          </p15:clr>
        </p15:guide>
        <p15:guide id="2" pos="2880">
          <p15:clr>
            <a:srgbClr val="E46962"/>
          </p15:clr>
        </p15:guide>
        <p15:guide id="3" orient="horz" pos="157">
          <p15:clr>
            <a:srgbClr val="E46962"/>
          </p15:clr>
        </p15:guide>
        <p15:guide id="4" orient="horz" pos="3083">
          <p15:clr>
            <a:srgbClr val="E46962"/>
          </p15:clr>
        </p15:guide>
        <p15:guide id="5" pos="157">
          <p15:clr>
            <a:srgbClr val="E46962"/>
          </p15:clr>
        </p15:guide>
        <p15:guide id="6" pos="5603">
          <p15:clr>
            <a:srgbClr val="E46962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l Cover">
  <p:cSld name="TITLE_1_2_1_1_1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h19034d514f5d6f97_0_1886"/>
          <p:cNvSpPr txBox="1">
            <a:spLocks noGrp="1"/>
          </p:cNvSpPr>
          <p:nvPr>
            <p:ph type="ctrTitle"/>
          </p:nvPr>
        </p:nvSpPr>
        <p:spPr>
          <a:xfrm>
            <a:off x="249300" y="1621850"/>
            <a:ext cx="3933300" cy="215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9pPr>
          </a:lstStyle>
          <a:p>
            <a:endParaRPr/>
          </a:p>
        </p:txBody>
      </p:sp>
      <p:sp>
        <p:nvSpPr>
          <p:cNvPr id="112" name="Google Shape;112;h19034d514f5d6f97_0_1886"/>
          <p:cNvSpPr txBox="1">
            <a:spLocks noGrp="1"/>
          </p:cNvSpPr>
          <p:nvPr>
            <p:ph type="subTitle" idx="1"/>
          </p:nvPr>
        </p:nvSpPr>
        <p:spPr>
          <a:xfrm>
            <a:off x="249300" y="3311550"/>
            <a:ext cx="3933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8C"/>
              </a:buClr>
              <a:buSzPts val="2000"/>
              <a:buFont typeface="Momo Trust Sans"/>
              <a:buNone/>
              <a:defRPr sz="2000">
                <a:solidFill>
                  <a:srgbClr val="FF438C"/>
                </a:solidFill>
                <a:latin typeface="Momo Trust Sans"/>
                <a:ea typeface="Momo Trust Sans"/>
                <a:cs typeface="Momo Trust Sans"/>
                <a:sym typeface="Momo Trust Sans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9pPr>
          </a:lstStyle>
          <a:p>
            <a:endParaRPr/>
          </a:p>
        </p:txBody>
      </p:sp>
      <p:sp>
        <p:nvSpPr>
          <p:cNvPr id="113" name="Google Shape;113;h19034d514f5d6f97_0_188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E46962"/>
          </p15:clr>
        </p15:guide>
        <p15:guide id="2" pos="2880">
          <p15:clr>
            <a:srgbClr val="E46962"/>
          </p15:clr>
        </p15:guide>
        <p15:guide id="3" orient="horz" pos="157">
          <p15:clr>
            <a:srgbClr val="E46962"/>
          </p15:clr>
        </p15:guide>
        <p15:guide id="4" orient="horz" pos="3083">
          <p15:clr>
            <a:srgbClr val="E46962"/>
          </p15:clr>
        </p15:guide>
        <p15:guide id="5" pos="157">
          <p15:clr>
            <a:srgbClr val="E46962"/>
          </p15:clr>
        </p15:guide>
        <p15:guide id="6" pos="5603">
          <p15:clr>
            <a:srgbClr val="E46962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ue Cover">
  <p:cSld name="TITLE_1_2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h19034d514f5d6f97_0_1890"/>
          <p:cNvSpPr txBox="1">
            <a:spLocks noGrp="1"/>
          </p:cNvSpPr>
          <p:nvPr>
            <p:ph type="ctrTitle"/>
          </p:nvPr>
        </p:nvSpPr>
        <p:spPr>
          <a:xfrm>
            <a:off x="249300" y="1621850"/>
            <a:ext cx="3933300" cy="215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9pPr>
          </a:lstStyle>
          <a:p>
            <a:endParaRPr/>
          </a:p>
        </p:txBody>
      </p:sp>
      <p:sp>
        <p:nvSpPr>
          <p:cNvPr id="116" name="Google Shape;116;h19034d514f5d6f97_0_1890"/>
          <p:cNvSpPr txBox="1">
            <a:spLocks noGrp="1"/>
          </p:cNvSpPr>
          <p:nvPr>
            <p:ph type="subTitle" idx="1"/>
          </p:nvPr>
        </p:nvSpPr>
        <p:spPr>
          <a:xfrm>
            <a:off x="249300" y="3311550"/>
            <a:ext cx="3933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8C"/>
              </a:buClr>
              <a:buSzPts val="2000"/>
              <a:buFont typeface="Momo Trust Sans"/>
              <a:buNone/>
              <a:defRPr sz="2000">
                <a:solidFill>
                  <a:srgbClr val="FF438C"/>
                </a:solidFill>
                <a:latin typeface="Momo Trust Sans"/>
                <a:ea typeface="Momo Trust Sans"/>
                <a:cs typeface="Momo Trust Sans"/>
                <a:sym typeface="Momo Trust Sans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9pPr>
          </a:lstStyle>
          <a:p>
            <a:endParaRPr/>
          </a:p>
        </p:txBody>
      </p:sp>
      <p:sp>
        <p:nvSpPr>
          <p:cNvPr id="117" name="Google Shape;117;h19034d514f5d6f97_0_189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E46962"/>
          </p15:clr>
        </p15:guide>
        <p15:guide id="2" pos="2880">
          <p15:clr>
            <a:srgbClr val="E46962"/>
          </p15:clr>
        </p15:guide>
        <p15:guide id="3" orient="horz" pos="157">
          <p15:clr>
            <a:srgbClr val="E46962"/>
          </p15:clr>
        </p15:guide>
        <p15:guide id="4" orient="horz" pos="3083">
          <p15:clr>
            <a:srgbClr val="E46962"/>
          </p15:clr>
        </p15:guide>
        <p15:guide id="5" pos="157">
          <p15:clr>
            <a:srgbClr val="E46962"/>
          </p15:clr>
        </p15:guide>
        <p15:guide id="6" pos="5603">
          <p15:clr>
            <a:srgbClr val="E46962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urple Cover">
  <p:cSld name="TITLE_1_2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h19034d514f5d6f97_0_1894"/>
          <p:cNvSpPr txBox="1">
            <a:spLocks noGrp="1"/>
          </p:cNvSpPr>
          <p:nvPr>
            <p:ph type="ctrTitle"/>
          </p:nvPr>
        </p:nvSpPr>
        <p:spPr>
          <a:xfrm>
            <a:off x="249300" y="1621850"/>
            <a:ext cx="3933300" cy="215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9pPr>
          </a:lstStyle>
          <a:p>
            <a:endParaRPr/>
          </a:p>
        </p:txBody>
      </p:sp>
      <p:sp>
        <p:nvSpPr>
          <p:cNvPr id="120" name="Google Shape;120;h19034d514f5d6f97_0_1894"/>
          <p:cNvSpPr txBox="1">
            <a:spLocks noGrp="1"/>
          </p:cNvSpPr>
          <p:nvPr>
            <p:ph type="subTitle" idx="1"/>
          </p:nvPr>
        </p:nvSpPr>
        <p:spPr>
          <a:xfrm>
            <a:off x="249300" y="3311550"/>
            <a:ext cx="3933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8C"/>
              </a:buClr>
              <a:buSzPts val="2000"/>
              <a:buFont typeface="Momo Trust Sans"/>
              <a:buNone/>
              <a:defRPr sz="2000">
                <a:solidFill>
                  <a:srgbClr val="FF438C"/>
                </a:solidFill>
                <a:latin typeface="Momo Trust Sans"/>
                <a:ea typeface="Momo Trust Sans"/>
                <a:cs typeface="Momo Trust Sans"/>
                <a:sym typeface="Momo Trust Sans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9pPr>
          </a:lstStyle>
          <a:p>
            <a:endParaRPr/>
          </a:p>
        </p:txBody>
      </p:sp>
      <p:sp>
        <p:nvSpPr>
          <p:cNvPr id="121" name="Google Shape;121;h19034d514f5d6f97_0_189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E46962"/>
          </p15:clr>
        </p15:guide>
        <p15:guide id="2" pos="2880">
          <p15:clr>
            <a:srgbClr val="E46962"/>
          </p15:clr>
        </p15:guide>
        <p15:guide id="3" orient="horz" pos="157">
          <p15:clr>
            <a:srgbClr val="E46962"/>
          </p15:clr>
        </p15:guide>
        <p15:guide id="4" orient="horz" pos="3083">
          <p15:clr>
            <a:srgbClr val="E46962"/>
          </p15:clr>
        </p15:guide>
        <p15:guide id="5" pos="157">
          <p15:clr>
            <a:srgbClr val="E46962"/>
          </p15:clr>
        </p15:guide>
        <p15:guide id="6" pos="5603">
          <p15:clr>
            <a:srgbClr val="E46962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nk Page with Pattern Background (Dark Pink)">
  <p:cSld name="CUSTOM_2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157">
          <p15:clr>
            <a:srgbClr val="E46962"/>
          </p15:clr>
        </p15:guide>
        <p15:guide id="2" orient="horz" pos="157">
          <p15:clr>
            <a:srgbClr val="E46962"/>
          </p15:clr>
        </p15:guide>
        <p15:guide id="3" orient="horz" pos="3083">
          <p15:clr>
            <a:srgbClr val="E46962"/>
          </p15:clr>
        </p15:guide>
        <p15:guide id="4" pos="5603">
          <p15:clr>
            <a:srgbClr val="E46962"/>
          </p15:clr>
        </p15:guide>
        <p15:guide id="5" pos="2880">
          <p15:clr>
            <a:srgbClr val="E46962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nk Quote">
  <p:cSld name="TITLE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h19034d514f5d6f97_0_1899"/>
          <p:cNvSpPr txBox="1">
            <a:spLocks noGrp="1"/>
          </p:cNvSpPr>
          <p:nvPr>
            <p:ph type="ctrTitle"/>
          </p:nvPr>
        </p:nvSpPr>
        <p:spPr>
          <a:xfrm>
            <a:off x="791300" y="1330600"/>
            <a:ext cx="7297800" cy="215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1pPr>
            <a:lvl2pPr lvl="1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9pPr>
          </a:lstStyle>
          <a:p>
            <a:endParaRPr/>
          </a:p>
        </p:txBody>
      </p:sp>
      <p:sp>
        <p:nvSpPr>
          <p:cNvPr id="125" name="Google Shape;125;h19034d514f5d6f97_0_1899"/>
          <p:cNvSpPr txBox="1">
            <a:spLocks noGrp="1"/>
          </p:cNvSpPr>
          <p:nvPr>
            <p:ph type="subTitle" idx="1"/>
          </p:nvPr>
        </p:nvSpPr>
        <p:spPr>
          <a:xfrm>
            <a:off x="688725" y="3020300"/>
            <a:ext cx="7503000" cy="792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Momo Trust Sans"/>
              <a:buNone/>
              <a:defRPr sz="2000">
                <a:latin typeface="Momo Trust Sans"/>
                <a:ea typeface="Momo Trust Sans"/>
                <a:cs typeface="Momo Trust Sans"/>
                <a:sym typeface="Momo Trust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9pPr>
          </a:lstStyle>
          <a:p>
            <a:endParaRPr/>
          </a:p>
        </p:txBody>
      </p:sp>
      <p:sp>
        <p:nvSpPr>
          <p:cNvPr id="126" name="Google Shape;126;h19034d514f5d6f97_0_189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7" name="Google Shape;127;h19034d514f5d6f97_0_1899"/>
          <p:cNvSpPr/>
          <p:nvPr/>
        </p:nvSpPr>
        <p:spPr>
          <a:xfrm>
            <a:off x="0" y="0"/>
            <a:ext cx="249300" cy="249300"/>
          </a:xfrm>
          <a:prstGeom prst="rect">
            <a:avLst/>
          </a:prstGeom>
          <a:solidFill>
            <a:srgbClr val="FFEF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E46962"/>
          </p15:clr>
        </p15:guide>
        <p15:guide id="2" pos="2880">
          <p15:clr>
            <a:srgbClr val="E46962"/>
          </p15:clr>
        </p15:guide>
        <p15:guide id="3" orient="horz" pos="157">
          <p15:clr>
            <a:srgbClr val="E46962"/>
          </p15:clr>
        </p15:guide>
        <p15:guide id="4" orient="horz" pos="3083">
          <p15:clr>
            <a:srgbClr val="E46962"/>
          </p15:clr>
        </p15:guide>
        <p15:guide id="5" pos="157">
          <p15:clr>
            <a:srgbClr val="E46962"/>
          </p15:clr>
        </p15:guide>
        <p15:guide id="6" pos="5603">
          <p15:clr>
            <a:srgbClr val="E46962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ed Quote">
  <p:cSld name="TITLE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h19034d514f5d6f97_0_1904"/>
          <p:cNvSpPr txBox="1">
            <a:spLocks noGrp="1"/>
          </p:cNvSpPr>
          <p:nvPr>
            <p:ph type="ctrTitle"/>
          </p:nvPr>
        </p:nvSpPr>
        <p:spPr>
          <a:xfrm>
            <a:off x="791300" y="1330600"/>
            <a:ext cx="7297800" cy="215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1pPr>
            <a:lvl2pPr lvl="1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9pPr>
          </a:lstStyle>
          <a:p>
            <a:endParaRPr/>
          </a:p>
        </p:txBody>
      </p:sp>
      <p:sp>
        <p:nvSpPr>
          <p:cNvPr id="130" name="Google Shape;130;h19034d514f5d6f97_0_1904"/>
          <p:cNvSpPr txBox="1">
            <a:spLocks noGrp="1"/>
          </p:cNvSpPr>
          <p:nvPr>
            <p:ph type="subTitle" idx="1"/>
          </p:nvPr>
        </p:nvSpPr>
        <p:spPr>
          <a:xfrm>
            <a:off x="688725" y="3020300"/>
            <a:ext cx="7503000" cy="792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Momo Trust Sans"/>
              <a:buNone/>
              <a:defRPr sz="2000">
                <a:latin typeface="Momo Trust Sans"/>
                <a:ea typeface="Momo Trust Sans"/>
                <a:cs typeface="Momo Trust Sans"/>
                <a:sym typeface="Momo Trust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9pPr>
          </a:lstStyle>
          <a:p>
            <a:endParaRPr/>
          </a:p>
        </p:txBody>
      </p:sp>
      <p:sp>
        <p:nvSpPr>
          <p:cNvPr id="131" name="Google Shape;131;h19034d514f5d6f97_0_190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2" name="Google Shape;132;h19034d514f5d6f97_0_1904"/>
          <p:cNvSpPr/>
          <p:nvPr/>
        </p:nvSpPr>
        <p:spPr>
          <a:xfrm>
            <a:off x="0" y="0"/>
            <a:ext cx="249300" cy="249300"/>
          </a:xfrm>
          <a:prstGeom prst="rect">
            <a:avLst/>
          </a:prstGeom>
          <a:solidFill>
            <a:srgbClr val="FFEF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E46962"/>
          </p15:clr>
        </p15:guide>
        <p15:guide id="2" pos="2880">
          <p15:clr>
            <a:srgbClr val="E46962"/>
          </p15:clr>
        </p15:guide>
        <p15:guide id="3" orient="horz" pos="157">
          <p15:clr>
            <a:srgbClr val="E46962"/>
          </p15:clr>
        </p15:guide>
        <p15:guide id="4" orient="horz" pos="3083">
          <p15:clr>
            <a:srgbClr val="E46962"/>
          </p15:clr>
        </p15:guide>
        <p15:guide id="5" pos="157">
          <p15:clr>
            <a:srgbClr val="E46962"/>
          </p15:clr>
        </p15:guide>
        <p15:guide id="6" pos="5603">
          <p15:clr>
            <a:srgbClr val="E46962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range Quote">
  <p:cSld name="TITLE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h19034d514f5d6f97_0_1909"/>
          <p:cNvSpPr txBox="1">
            <a:spLocks noGrp="1"/>
          </p:cNvSpPr>
          <p:nvPr>
            <p:ph type="ctrTitle"/>
          </p:nvPr>
        </p:nvSpPr>
        <p:spPr>
          <a:xfrm>
            <a:off x="791300" y="1330600"/>
            <a:ext cx="7297800" cy="215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1pPr>
            <a:lvl2pPr lvl="1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9pPr>
          </a:lstStyle>
          <a:p>
            <a:endParaRPr/>
          </a:p>
        </p:txBody>
      </p:sp>
      <p:sp>
        <p:nvSpPr>
          <p:cNvPr id="135" name="Google Shape;135;h19034d514f5d6f97_0_1909"/>
          <p:cNvSpPr txBox="1">
            <a:spLocks noGrp="1"/>
          </p:cNvSpPr>
          <p:nvPr>
            <p:ph type="subTitle" idx="1"/>
          </p:nvPr>
        </p:nvSpPr>
        <p:spPr>
          <a:xfrm>
            <a:off x="688725" y="3020300"/>
            <a:ext cx="7503000" cy="792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Momo Trust Sans"/>
              <a:buNone/>
              <a:defRPr sz="2000">
                <a:latin typeface="Momo Trust Sans"/>
                <a:ea typeface="Momo Trust Sans"/>
                <a:cs typeface="Momo Trust Sans"/>
                <a:sym typeface="Momo Trust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9pPr>
          </a:lstStyle>
          <a:p>
            <a:endParaRPr/>
          </a:p>
        </p:txBody>
      </p:sp>
      <p:sp>
        <p:nvSpPr>
          <p:cNvPr id="136" name="Google Shape;136;h19034d514f5d6f97_0_190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7" name="Google Shape;137;h19034d514f5d6f97_0_1909"/>
          <p:cNvSpPr/>
          <p:nvPr/>
        </p:nvSpPr>
        <p:spPr>
          <a:xfrm>
            <a:off x="0" y="0"/>
            <a:ext cx="249300" cy="249300"/>
          </a:xfrm>
          <a:prstGeom prst="rect">
            <a:avLst/>
          </a:prstGeom>
          <a:solidFill>
            <a:srgbClr val="FFEF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E46962"/>
          </p15:clr>
        </p15:guide>
        <p15:guide id="2" pos="2880">
          <p15:clr>
            <a:srgbClr val="E46962"/>
          </p15:clr>
        </p15:guide>
        <p15:guide id="3" orient="horz" pos="157">
          <p15:clr>
            <a:srgbClr val="E46962"/>
          </p15:clr>
        </p15:guide>
        <p15:guide id="4" orient="horz" pos="3083">
          <p15:clr>
            <a:srgbClr val="E46962"/>
          </p15:clr>
        </p15:guide>
        <p15:guide id="5" pos="157">
          <p15:clr>
            <a:srgbClr val="E46962"/>
          </p15:clr>
        </p15:guide>
        <p15:guide id="6" pos="5603">
          <p15:clr>
            <a:srgbClr val="E46962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Yellow Quote">
  <p:cSld name="TITLE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h19034d514f5d6f97_0_1914"/>
          <p:cNvSpPr txBox="1">
            <a:spLocks noGrp="1"/>
          </p:cNvSpPr>
          <p:nvPr>
            <p:ph type="ctrTitle"/>
          </p:nvPr>
        </p:nvSpPr>
        <p:spPr>
          <a:xfrm>
            <a:off x="791300" y="1330600"/>
            <a:ext cx="7297800" cy="215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1pPr>
            <a:lvl2pPr lvl="1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9pPr>
          </a:lstStyle>
          <a:p>
            <a:endParaRPr/>
          </a:p>
        </p:txBody>
      </p:sp>
      <p:sp>
        <p:nvSpPr>
          <p:cNvPr id="140" name="Google Shape;140;h19034d514f5d6f97_0_1914"/>
          <p:cNvSpPr txBox="1">
            <a:spLocks noGrp="1"/>
          </p:cNvSpPr>
          <p:nvPr>
            <p:ph type="subTitle" idx="1"/>
          </p:nvPr>
        </p:nvSpPr>
        <p:spPr>
          <a:xfrm>
            <a:off x="688725" y="3020300"/>
            <a:ext cx="7503000" cy="792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Momo Trust Sans"/>
              <a:buNone/>
              <a:defRPr sz="2000">
                <a:latin typeface="Momo Trust Sans"/>
                <a:ea typeface="Momo Trust Sans"/>
                <a:cs typeface="Momo Trust Sans"/>
                <a:sym typeface="Momo Trust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9pPr>
          </a:lstStyle>
          <a:p>
            <a:endParaRPr/>
          </a:p>
        </p:txBody>
      </p:sp>
      <p:sp>
        <p:nvSpPr>
          <p:cNvPr id="141" name="Google Shape;141;h19034d514f5d6f97_0_19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42" name="Google Shape;142;h19034d514f5d6f97_0_1914"/>
          <p:cNvSpPr/>
          <p:nvPr/>
        </p:nvSpPr>
        <p:spPr>
          <a:xfrm>
            <a:off x="0" y="0"/>
            <a:ext cx="249300" cy="249300"/>
          </a:xfrm>
          <a:prstGeom prst="rect">
            <a:avLst/>
          </a:prstGeom>
          <a:solidFill>
            <a:srgbClr val="FFEF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E46962"/>
          </p15:clr>
        </p15:guide>
        <p15:guide id="2" pos="2880">
          <p15:clr>
            <a:srgbClr val="E46962"/>
          </p15:clr>
        </p15:guide>
        <p15:guide id="3" orient="horz" pos="157">
          <p15:clr>
            <a:srgbClr val="E46962"/>
          </p15:clr>
        </p15:guide>
        <p15:guide id="4" orient="horz" pos="3083">
          <p15:clr>
            <a:srgbClr val="E46962"/>
          </p15:clr>
        </p15:guide>
        <p15:guide id="5" pos="157">
          <p15:clr>
            <a:srgbClr val="E46962"/>
          </p15:clr>
        </p15:guide>
        <p15:guide id="6" pos="5603">
          <p15:clr>
            <a:srgbClr val="E46962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een Quote">
  <p:cSld name="TITLE_1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h19034d514f5d6f97_0_1919"/>
          <p:cNvSpPr txBox="1">
            <a:spLocks noGrp="1"/>
          </p:cNvSpPr>
          <p:nvPr>
            <p:ph type="ctrTitle"/>
          </p:nvPr>
        </p:nvSpPr>
        <p:spPr>
          <a:xfrm>
            <a:off x="791300" y="1330600"/>
            <a:ext cx="7297800" cy="215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1pPr>
            <a:lvl2pPr lvl="1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9pPr>
          </a:lstStyle>
          <a:p>
            <a:endParaRPr/>
          </a:p>
        </p:txBody>
      </p:sp>
      <p:sp>
        <p:nvSpPr>
          <p:cNvPr id="145" name="Google Shape;145;h19034d514f5d6f97_0_1919"/>
          <p:cNvSpPr txBox="1">
            <a:spLocks noGrp="1"/>
          </p:cNvSpPr>
          <p:nvPr>
            <p:ph type="subTitle" idx="1"/>
          </p:nvPr>
        </p:nvSpPr>
        <p:spPr>
          <a:xfrm>
            <a:off x="688725" y="3020300"/>
            <a:ext cx="7503000" cy="792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Momo Trust Sans"/>
              <a:buNone/>
              <a:defRPr sz="2000">
                <a:latin typeface="Momo Trust Sans"/>
                <a:ea typeface="Momo Trust Sans"/>
                <a:cs typeface="Momo Trust Sans"/>
                <a:sym typeface="Momo Trust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9pPr>
          </a:lstStyle>
          <a:p>
            <a:endParaRPr/>
          </a:p>
        </p:txBody>
      </p:sp>
      <p:sp>
        <p:nvSpPr>
          <p:cNvPr id="146" name="Google Shape;146;h19034d514f5d6f97_0_19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47" name="Google Shape;147;h19034d514f5d6f97_0_1919"/>
          <p:cNvSpPr/>
          <p:nvPr/>
        </p:nvSpPr>
        <p:spPr>
          <a:xfrm>
            <a:off x="0" y="0"/>
            <a:ext cx="249300" cy="249300"/>
          </a:xfrm>
          <a:prstGeom prst="rect">
            <a:avLst/>
          </a:prstGeom>
          <a:solidFill>
            <a:srgbClr val="FFEF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E46962"/>
          </p15:clr>
        </p15:guide>
        <p15:guide id="2" pos="2880">
          <p15:clr>
            <a:srgbClr val="E46962"/>
          </p15:clr>
        </p15:guide>
        <p15:guide id="3" orient="horz" pos="157">
          <p15:clr>
            <a:srgbClr val="E46962"/>
          </p15:clr>
        </p15:guide>
        <p15:guide id="4" orient="horz" pos="3083">
          <p15:clr>
            <a:srgbClr val="E46962"/>
          </p15:clr>
        </p15:guide>
        <p15:guide id="5" pos="157">
          <p15:clr>
            <a:srgbClr val="E46962"/>
          </p15:clr>
        </p15:guide>
        <p15:guide id="6" pos="5603">
          <p15:clr>
            <a:srgbClr val="E46962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l Quote">
  <p:cSld name="TITLE_1_1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h19034d514f5d6f97_0_1924"/>
          <p:cNvSpPr txBox="1">
            <a:spLocks noGrp="1"/>
          </p:cNvSpPr>
          <p:nvPr>
            <p:ph type="ctrTitle"/>
          </p:nvPr>
        </p:nvSpPr>
        <p:spPr>
          <a:xfrm>
            <a:off x="791300" y="1330600"/>
            <a:ext cx="7297800" cy="215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1pPr>
            <a:lvl2pPr lvl="1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9pPr>
          </a:lstStyle>
          <a:p>
            <a:endParaRPr/>
          </a:p>
        </p:txBody>
      </p:sp>
      <p:sp>
        <p:nvSpPr>
          <p:cNvPr id="150" name="Google Shape;150;h19034d514f5d6f97_0_1924"/>
          <p:cNvSpPr txBox="1">
            <a:spLocks noGrp="1"/>
          </p:cNvSpPr>
          <p:nvPr>
            <p:ph type="subTitle" idx="1"/>
          </p:nvPr>
        </p:nvSpPr>
        <p:spPr>
          <a:xfrm>
            <a:off x="688725" y="3020300"/>
            <a:ext cx="7503000" cy="792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Momo Trust Sans"/>
              <a:buNone/>
              <a:defRPr sz="2000">
                <a:latin typeface="Momo Trust Sans"/>
                <a:ea typeface="Momo Trust Sans"/>
                <a:cs typeface="Momo Trust Sans"/>
                <a:sym typeface="Momo Trust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9pPr>
          </a:lstStyle>
          <a:p>
            <a:endParaRPr/>
          </a:p>
        </p:txBody>
      </p:sp>
      <p:sp>
        <p:nvSpPr>
          <p:cNvPr id="151" name="Google Shape;151;h19034d514f5d6f97_0_19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52" name="Google Shape;152;h19034d514f5d6f97_0_1924"/>
          <p:cNvSpPr/>
          <p:nvPr/>
        </p:nvSpPr>
        <p:spPr>
          <a:xfrm>
            <a:off x="0" y="0"/>
            <a:ext cx="249300" cy="249300"/>
          </a:xfrm>
          <a:prstGeom prst="rect">
            <a:avLst/>
          </a:prstGeom>
          <a:solidFill>
            <a:srgbClr val="FFEF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E46962"/>
          </p15:clr>
        </p15:guide>
        <p15:guide id="2" pos="2880">
          <p15:clr>
            <a:srgbClr val="E46962"/>
          </p15:clr>
        </p15:guide>
        <p15:guide id="3" orient="horz" pos="157">
          <p15:clr>
            <a:srgbClr val="E46962"/>
          </p15:clr>
        </p15:guide>
        <p15:guide id="4" orient="horz" pos="3083">
          <p15:clr>
            <a:srgbClr val="E46962"/>
          </p15:clr>
        </p15:guide>
        <p15:guide id="5" pos="157">
          <p15:clr>
            <a:srgbClr val="E46962"/>
          </p15:clr>
        </p15:guide>
        <p15:guide id="6" pos="5603">
          <p15:clr>
            <a:srgbClr val="E46962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ue Quote">
  <p:cSld name="TITLE_1_1_1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h19034d514f5d6f97_0_1929"/>
          <p:cNvSpPr txBox="1">
            <a:spLocks noGrp="1"/>
          </p:cNvSpPr>
          <p:nvPr>
            <p:ph type="ctrTitle"/>
          </p:nvPr>
        </p:nvSpPr>
        <p:spPr>
          <a:xfrm>
            <a:off x="791300" y="1330600"/>
            <a:ext cx="7297800" cy="215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1pPr>
            <a:lvl2pPr lvl="1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9pPr>
          </a:lstStyle>
          <a:p>
            <a:endParaRPr/>
          </a:p>
        </p:txBody>
      </p:sp>
      <p:sp>
        <p:nvSpPr>
          <p:cNvPr id="155" name="Google Shape;155;h19034d514f5d6f97_0_1929"/>
          <p:cNvSpPr txBox="1">
            <a:spLocks noGrp="1"/>
          </p:cNvSpPr>
          <p:nvPr>
            <p:ph type="subTitle" idx="1"/>
          </p:nvPr>
        </p:nvSpPr>
        <p:spPr>
          <a:xfrm>
            <a:off x="688725" y="3020300"/>
            <a:ext cx="7503000" cy="792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Momo Trust Sans"/>
              <a:buNone/>
              <a:defRPr sz="2000">
                <a:latin typeface="Momo Trust Sans"/>
                <a:ea typeface="Momo Trust Sans"/>
                <a:cs typeface="Momo Trust Sans"/>
                <a:sym typeface="Momo Trust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9pPr>
          </a:lstStyle>
          <a:p>
            <a:endParaRPr/>
          </a:p>
        </p:txBody>
      </p:sp>
      <p:sp>
        <p:nvSpPr>
          <p:cNvPr id="156" name="Google Shape;156;h19034d514f5d6f97_0_192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57" name="Google Shape;157;h19034d514f5d6f97_0_1929"/>
          <p:cNvSpPr/>
          <p:nvPr/>
        </p:nvSpPr>
        <p:spPr>
          <a:xfrm>
            <a:off x="0" y="0"/>
            <a:ext cx="249300" cy="249300"/>
          </a:xfrm>
          <a:prstGeom prst="rect">
            <a:avLst/>
          </a:prstGeom>
          <a:solidFill>
            <a:srgbClr val="FFEF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E46962"/>
          </p15:clr>
        </p15:guide>
        <p15:guide id="2" pos="2880">
          <p15:clr>
            <a:srgbClr val="E46962"/>
          </p15:clr>
        </p15:guide>
        <p15:guide id="3" orient="horz" pos="157">
          <p15:clr>
            <a:srgbClr val="E46962"/>
          </p15:clr>
        </p15:guide>
        <p15:guide id="4" orient="horz" pos="3083">
          <p15:clr>
            <a:srgbClr val="E46962"/>
          </p15:clr>
        </p15:guide>
        <p15:guide id="5" pos="157">
          <p15:clr>
            <a:srgbClr val="E46962"/>
          </p15:clr>
        </p15:guide>
        <p15:guide id="6" pos="5603">
          <p15:clr>
            <a:srgbClr val="E46962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urple Quote">
  <p:cSld name="TITLE_1_1_1_1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h19034d514f5d6f97_0_1934"/>
          <p:cNvSpPr txBox="1">
            <a:spLocks noGrp="1"/>
          </p:cNvSpPr>
          <p:nvPr>
            <p:ph type="ctrTitle"/>
          </p:nvPr>
        </p:nvSpPr>
        <p:spPr>
          <a:xfrm>
            <a:off x="791300" y="1330600"/>
            <a:ext cx="7297800" cy="215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1pPr>
            <a:lvl2pPr lvl="1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9pPr>
          </a:lstStyle>
          <a:p>
            <a:endParaRPr/>
          </a:p>
        </p:txBody>
      </p:sp>
      <p:sp>
        <p:nvSpPr>
          <p:cNvPr id="160" name="Google Shape;160;h19034d514f5d6f97_0_1934"/>
          <p:cNvSpPr txBox="1">
            <a:spLocks noGrp="1"/>
          </p:cNvSpPr>
          <p:nvPr>
            <p:ph type="subTitle" idx="1"/>
          </p:nvPr>
        </p:nvSpPr>
        <p:spPr>
          <a:xfrm>
            <a:off x="688725" y="3020300"/>
            <a:ext cx="7503000" cy="792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Momo Trust Sans"/>
              <a:buNone/>
              <a:defRPr sz="2000">
                <a:latin typeface="Momo Trust Sans"/>
                <a:ea typeface="Momo Trust Sans"/>
                <a:cs typeface="Momo Trust Sans"/>
                <a:sym typeface="Momo Trust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9pPr>
          </a:lstStyle>
          <a:p>
            <a:endParaRPr/>
          </a:p>
        </p:txBody>
      </p:sp>
      <p:sp>
        <p:nvSpPr>
          <p:cNvPr id="161" name="Google Shape;161;h19034d514f5d6f97_0_193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62" name="Google Shape;162;h19034d514f5d6f97_0_1934"/>
          <p:cNvSpPr/>
          <p:nvPr/>
        </p:nvSpPr>
        <p:spPr>
          <a:xfrm>
            <a:off x="0" y="0"/>
            <a:ext cx="249300" cy="249300"/>
          </a:xfrm>
          <a:prstGeom prst="rect">
            <a:avLst/>
          </a:prstGeom>
          <a:solidFill>
            <a:srgbClr val="FFEF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E46962"/>
          </p15:clr>
        </p15:guide>
        <p15:guide id="2" pos="2880">
          <p15:clr>
            <a:srgbClr val="E46962"/>
          </p15:clr>
        </p15:guide>
        <p15:guide id="3" orient="horz" pos="157">
          <p15:clr>
            <a:srgbClr val="E46962"/>
          </p15:clr>
        </p15:guide>
        <p15:guide id="4" orient="horz" pos="3083">
          <p15:clr>
            <a:srgbClr val="E46962"/>
          </p15:clr>
        </p15:guide>
        <p15:guide id="5" pos="157">
          <p15:clr>
            <a:srgbClr val="E46962"/>
          </p15:clr>
        </p15:guide>
        <p15:guide id="6" pos="5603">
          <p15:clr>
            <a:srgbClr val="E46962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slideLayout" Target="../slideLayouts/slideLayout5.xml"/><Relationship Id="rId3" Type="http://schemas.openxmlformats.org/officeDocument/2006/relationships/slideLayout" Target="../slideLayouts/slideLayout6.xml"/><Relationship Id="rId4" Type="http://schemas.openxmlformats.org/officeDocument/2006/relationships/slideLayout" Target="../slideLayouts/slideLayout7.xml"/><Relationship Id="rId5" Type="http://schemas.openxmlformats.org/officeDocument/2006/relationships/slideLayout" Target="../slideLayouts/slideLayout8.xml"/><Relationship Id="rId6" Type="http://schemas.openxmlformats.org/officeDocument/2006/relationships/slideLayout" Target="../slideLayouts/slideLayout9.xml"/><Relationship Id="rId7" Type="http://schemas.openxmlformats.org/officeDocument/2006/relationships/slideLayout" Target="../slideLayouts/slideLayout10.xml"/><Relationship Id="rId8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15.xml"/><Relationship Id="rId13" Type="http://schemas.openxmlformats.org/officeDocument/2006/relationships/slideLayout" Target="../slideLayouts/slideLayout16.xml"/><Relationship Id="rId14" Type="http://schemas.openxmlformats.org/officeDocument/2006/relationships/slideLayout" Target="../slideLayouts/slideLayout17.xml"/><Relationship Id="rId15" Type="http://schemas.openxmlformats.org/officeDocument/2006/relationships/slideLayout" Target="../slideLayouts/slideLayout18.xml"/><Relationship Id="rId16" Type="http://schemas.openxmlformats.org/officeDocument/2006/relationships/slideLayout" Target="../slideLayouts/slideLayout19.xml"/><Relationship Id="rId17" Type="http://schemas.openxmlformats.org/officeDocument/2006/relationships/slideLayout" Target="../slideLayouts/slideLayout20.xml"/><Relationship Id="rId18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22.xml"/><Relationship Id="rId20" Type="http://schemas.openxmlformats.org/officeDocument/2006/relationships/slideLayout" Target="../slideLayouts/slideLayout23.xml"/><Relationship Id="rId21" Type="http://schemas.openxmlformats.org/officeDocument/2006/relationships/slideLayout" Target="../slideLayouts/slideLayout24.xml"/><Relationship Id="rId22" Type="http://schemas.openxmlformats.org/officeDocument/2006/relationships/slideLayout" Target="../slideLayouts/slideLayout25.xml"/><Relationship Id="rId23" Type="http://schemas.openxmlformats.org/officeDocument/2006/relationships/slideLayout" Target="../slideLayouts/slideLayout26.xml"/><Relationship Id="rId24" Type="http://schemas.openxmlformats.org/officeDocument/2006/relationships/slideLayout" Target="../slideLayouts/slideLayout27.xml"/><Relationship Id="rId25" Type="http://schemas.openxmlformats.org/officeDocument/2006/relationships/slideLayout" Target="../slideLayouts/slideLayout28.xml"/><Relationship Id="rId26" Type="http://schemas.openxmlformats.org/officeDocument/2006/relationships/slideLayout" Target="../slideLayouts/slideLayout29.xml"/><Relationship Id="rId27" Type="http://schemas.openxmlformats.org/officeDocument/2006/relationships/slideLayout" Target="../slideLayouts/slideLayout30.xml"/><Relationship Id="rId28" Type="http://schemas.openxmlformats.org/officeDocument/2006/relationships/slideLayout" Target="../slideLayouts/slideLayout31.xml"/><Relationship Id="rId29" Type="http://schemas.openxmlformats.org/officeDocument/2006/relationships/slideLayout" Target="../slideLayouts/slideLayout32.xml"/><Relationship Id="rId30" Type="http://schemas.openxmlformats.org/officeDocument/2006/relationships/slideLayout" Target="../slideLayouts/slideLayout33.xml"/><Relationship Id="rId31" Type="http://schemas.openxmlformats.org/officeDocument/2006/relationships/slideLayout" Target="../slideLayouts/slideLayout34.xml"/><Relationship Id="rId32" Type="http://schemas.openxmlformats.org/officeDocument/2006/relationships/slideLayout" Target="../slideLayouts/slideLayout35.xml"/><Relationship Id="rId33" Type="http://schemas.openxmlformats.org/officeDocument/2006/relationships/slideLayout" Target="../slideLayouts/slideLayout36.xml"/><Relationship Id="rId34" Type="http://schemas.openxmlformats.org/officeDocument/2006/relationships/slideLayout" Target="../slideLayouts/slideLayout37.xml"/><Relationship Id="rId35" Type="http://schemas.openxmlformats.org/officeDocument/2006/relationships/slideLayout" Target="../slideLayouts/slideLayout38.xml"/><Relationship Id="rId36" Type="http://schemas.openxmlformats.org/officeDocument/2006/relationships/slideLayout" Target="../slideLayouts/slideLayout39.xml"/><Relationship Id="rId37" Type="http://schemas.openxmlformats.org/officeDocument/2006/relationships/slideLayout" Target="../slideLayouts/slideLayout40.xml"/><Relationship Id="rId38" Type="http://schemas.openxmlformats.org/officeDocument/2006/relationships/slideLayout" Target="../slideLayouts/slideLayout41.xml"/><Relationship Id="rId39" Type="http://schemas.openxmlformats.org/officeDocument/2006/relationships/slideLayout" Target="../slideLayouts/slideLayout42.xml"/><Relationship Id="rId40" Type="http://schemas.openxmlformats.org/officeDocument/2006/relationships/slideLayout" Target="../slideLayouts/slideLayout43.xml"/><Relationship Id="rId41" Type="http://schemas.openxmlformats.org/officeDocument/2006/relationships/slideLayout" Target="../slideLayouts/slideLayout44.xml"/><Relationship Id="rId42" Type="http://schemas.openxmlformats.org/officeDocument/2006/relationships/slideLayout" Target="../slideLayouts/slideLayout45.xml"/><Relationship Id="rId43" Type="http://schemas.openxmlformats.org/officeDocument/2006/relationships/slideLayout" Target="../slideLayouts/slideLayout46.xml"/><Relationship Id="rId44" Type="http://schemas.openxmlformats.org/officeDocument/2006/relationships/slideLayout" Target="../slideLayouts/slideLayout47.xml"/><Relationship Id="rId45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h19034d514f5d6f97_0_179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mo Trust Display"/>
              <a:buNone/>
              <a:defRPr sz="2800">
                <a:solidFill>
                  <a:schemeClr val="dk1"/>
                </a:solidFill>
                <a:latin typeface="Momo Trust Display"/>
                <a:ea typeface="Momo Trust Display"/>
                <a:cs typeface="Momo Trust Display"/>
                <a:sym typeface="Momo Trust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mo Trust Sans"/>
              <a:buNone/>
              <a:defRPr sz="2800">
                <a:solidFill>
                  <a:schemeClr val="dk1"/>
                </a:solidFill>
                <a:latin typeface="Momo Trust Sans"/>
                <a:ea typeface="Momo Trust Sans"/>
                <a:cs typeface="Momo Trust Sans"/>
                <a:sym typeface="Momo Trus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mo Trust Sans"/>
              <a:buNone/>
              <a:defRPr sz="2800">
                <a:solidFill>
                  <a:schemeClr val="dk1"/>
                </a:solidFill>
                <a:latin typeface="Momo Trust Sans"/>
                <a:ea typeface="Momo Trust Sans"/>
                <a:cs typeface="Momo Trust Sans"/>
                <a:sym typeface="Momo Trus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mo Trust Sans"/>
              <a:buNone/>
              <a:defRPr sz="2800">
                <a:solidFill>
                  <a:schemeClr val="dk1"/>
                </a:solidFill>
                <a:latin typeface="Momo Trust Sans"/>
                <a:ea typeface="Momo Trust Sans"/>
                <a:cs typeface="Momo Trust Sans"/>
                <a:sym typeface="Momo Trus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mo Trust Sans"/>
              <a:buNone/>
              <a:defRPr sz="2800">
                <a:solidFill>
                  <a:schemeClr val="dk1"/>
                </a:solidFill>
                <a:latin typeface="Momo Trust Sans"/>
                <a:ea typeface="Momo Trust Sans"/>
                <a:cs typeface="Momo Trust Sans"/>
                <a:sym typeface="Momo Trus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mo Trust Sans"/>
              <a:buNone/>
              <a:defRPr sz="2800">
                <a:solidFill>
                  <a:schemeClr val="dk1"/>
                </a:solidFill>
                <a:latin typeface="Momo Trust Sans"/>
                <a:ea typeface="Momo Trust Sans"/>
                <a:cs typeface="Momo Trust Sans"/>
                <a:sym typeface="Momo Trus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mo Trust Sans"/>
              <a:buNone/>
              <a:defRPr sz="2800">
                <a:solidFill>
                  <a:schemeClr val="dk1"/>
                </a:solidFill>
                <a:latin typeface="Momo Trust Sans"/>
                <a:ea typeface="Momo Trust Sans"/>
                <a:cs typeface="Momo Trust Sans"/>
                <a:sym typeface="Momo Trus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mo Trust Sans"/>
              <a:buNone/>
              <a:defRPr sz="2800">
                <a:solidFill>
                  <a:schemeClr val="dk1"/>
                </a:solidFill>
                <a:latin typeface="Momo Trust Sans"/>
                <a:ea typeface="Momo Trust Sans"/>
                <a:cs typeface="Momo Trust Sans"/>
                <a:sym typeface="Momo Trus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mo Trust Sans"/>
              <a:buNone/>
              <a:defRPr sz="2800">
                <a:solidFill>
                  <a:schemeClr val="dk1"/>
                </a:solidFill>
                <a:latin typeface="Momo Trust Sans"/>
                <a:ea typeface="Momo Trust Sans"/>
                <a:cs typeface="Momo Trust Sans"/>
                <a:sym typeface="Momo Trust Sans"/>
              </a:defRPr>
            </a:lvl9pPr>
          </a:lstStyle>
          <a:p>
            <a:endParaRPr/>
          </a:p>
        </p:txBody>
      </p:sp>
      <p:sp>
        <p:nvSpPr>
          <p:cNvPr id="17" name="Google Shape;17;h19034d514f5d6f97_0_179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Momo Trust Sans SemiBold"/>
              <a:buChar char="●"/>
              <a:defRPr sz="1700">
                <a:solidFill>
                  <a:schemeClr val="dk1"/>
                </a:solidFill>
                <a:latin typeface="Momo Trust Sans SemiBold"/>
                <a:ea typeface="Momo Trust Sans SemiBold"/>
                <a:cs typeface="Momo Trust Sans SemiBold"/>
                <a:sym typeface="Momo Trust Sans SemiBold"/>
              </a:defRPr>
            </a:lvl1pPr>
            <a:lvl2pPr marL="914400" lvl="1" indent="-3111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omo Trust Sans"/>
              <a:buChar char="○"/>
              <a:defRPr sz="1300">
                <a:solidFill>
                  <a:schemeClr val="dk1"/>
                </a:solidFill>
                <a:latin typeface="Momo Trust Sans"/>
                <a:ea typeface="Momo Trust Sans"/>
                <a:cs typeface="Momo Trust Sans"/>
                <a:sym typeface="Momo Trust Sans"/>
              </a:defRPr>
            </a:lvl2pPr>
            <a:lvl3pPr marL="1371600" lvl="2" indent="-3111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omo Trust Sans"/>
              <a:buChar char="■"/>
              <a:defRPr sz="1300">
                <a:solidFill>
                  <a:schemeClr val="dk1"/>
                </a:solidFill>
                <a:latin typeface="Momo Trust Sans"/>
                <a:ea typeface="Momo Trust Sans"/>
                <a:cs typeface="Momo Trust Sans"/>
                <a:sym typeface="Momo Trust Sans"/>
              </a:defRPr>
            </a:lvl3pPr>
            <a:lvl4pPr marL="1828800" lvl="3" indent="-3111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omo Trust Sans"/>
              <a:buChar char="●"/>
              <a:defRPr sz="1300">
                <a:solidFill>
                  <a:schemeClr val="dk1"/>
                </a:solidFill>
                <a:latin typeface="Momo Trust Sans"/>
                <a:ea typeface="Momo Trust Sans"/>
                <a:cs typeface="Momo Trust Sans"/>
                <a:sym typeface="Momo Trust Sans"/>
              </a:defRPr>
            </a:lvl4pPr>
            <a:lvl5pPr marL="2286000" lvl="4" indent="-3111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omo Trust Sans"/>
              <a:buChar char="○"/>
              <a:defRPr sz="1300">
                <a:solidFill>
                  <a:schemeClr val="dk1"/>
                </a:solidFill>
                <a:latin typeface="Momo Trust Sans"/>
                <a:ea typeface="Momo Trust Sans"/>
                <a:cs typeface="Momo Trust Sans"/>
                <a:sym typeface="Momo Trust Sans"/>
              </a:defRPr>
            </a:lvl5pPr>
            <a:lvl6pPr marL="2743200" lvl="5" indent="-3111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omo Trust Sans"/>
              <a:buChar char="■"/>
              <a:defRPr sz="1300">
                <a:solidFill>
                  <a:schemeClr val="dk1"/>
                </a:solidFill>
                <a:latin typeface="Momo Trust Sans"/>
                <a:ea typeface="Momo Trust Sans"/>
                <a:cs typeface="Momo Trust Sans"/>
                <a:sym typeface="Momo Trust Sans"/>
              </a:defRPr>
            </a:lvl6pPr>
            <a:lvl7pPr marL="3200400" lvl="6" indent="-3111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omo Trust Sans"/>
              <a:buChar char="●"/>
              <a:defRPr sz="1300">
                <a:solidFill>
                  <a:schemeClr val="dk1"/>
                </a:solidFill>
                <a:latin typeface="Momo Trust Sans"/>
                <a:ea typeface="Momo Trust Sans"/>
                <a:cs typeface="Momo Trust Sans"/>
                <a:sym typeface="Momo Trust Sans"/>
              </a:defRPr>
            </a:lvl7pPr>
            <a:lvl8pPr marL="3657600" lvl="7" indent="-3111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omo Trust Sans"/>
              <a:buChar char="○"/>
              <a:defRPr sz="1300">
                <a:solidFill>
                  <a:schemeClr val="dk1"/>
                </a:solidFill>
                <a:latin typeface="Momo Trust Sans"/>
                <a:ea typeface="Momo Trust Sans"/>
                <a:cs typeface="Momo Trust Sans"/>
                <a:sym typeface="Momo Trust Sans"/>
              </a:defRPr>
            </a:lvl8pPr>
            <a:lvl9pPr marL="4114800" lvl="8" indent="-3111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omo Trust Sans"/>
              <a:buChar char="■"/>
              <a:defRPr sz="1300">
                <a:solidFill>
                  <a:schemeClr val="dk1"/>
                </a:solidFill>
                <a:latin typeface="Momo Trust Sans"/>
                <a:ea typeface="Momo Trust Sans"/>
                <a:cs typeface="Momo Trust Sans"/>
                <a:sym typeface="Momo Trust Sans"/>
              </a:defRPr>
            </a:lvl9pPr>
          </a:lstStyle>
          <a:p>
            <a:endParaRPr/>
          </a:p>
        </p:txBody>
      </p:sp>
      <p:sp>
        <p:nvSpPr>
          <p:cNvPr id="18" name="Google Shape;18;h19034d514f5d6f97_0_179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3" r:id="rId1"/>
    <p:sldLayoutId id="2147483654" r:id="rId2"/>
    <p:sldLayoutId id="2147483655" r:id="rId3"/>
    <p:sldLayoutId id="2147483656" r:id="rId4"/>
    <p:sldLayoutId id="2147483657" r:id="rId5"/>
    <p:sldLayoutId id="2147483658" r:id="rId6"/>
    <p:sldLayoutId id="2147483659" r:id="rId7"/>
    <p:sldLayoutId id="2147483660" r:id="rId8"/>
    <p:sldLayoutId id="2147483661" r:id="rId9"/>
    <p:sldLayoutId id="2147483662" r:id="rId10"/>
    <p:sldLayoutId id="2147483663" r:id="rId11"/>
    <p:sldLayoutId id="2147483664" r:id="rId12"/>
    <p:sldLayoutId id="2147483665" r:id="rId13"/>
    <p:sldLayoutId id="2147483666" r:id="rId14"/>
    <p:sldLayoutId id="2147483667" r:id="rId15"/>
    <p:sldLayoutId id="2147483668" r:id="rId16"/>
    <p:sldLayoutId id="2147483669" r:id="rId17"/>
    <p:sldLayoutId id="2147483670" r:id="rId18"/>
    <p:sldLayoutId id="2147483671" r:id="rId19"/>
    <p:sldLayoutId id="2147483672" r:id="rId20"/>
    <p:sldLayoutId id="2147483673" r:id="rId21"/>
    <p:sldLayoutId id="2147483674" r:id="rId22"/>
    <p:sldLayoutId id="2147483675" r:id="rId23"/>
    <p:sldLayoutId id="2147483676" r:id="rId24"/>
    <p:sldLayoutId id="2147483677" r:id="rId25"/>
    <p:sldLayoutId id="2147483678" r:id="rId26"/>
    <p:sldLayoutId id="2147483679" r:id="rId27"/>
    <p:sldLayoutId id="2147483680" r:id="rId28"/>
    <p:sldLayoutId id="2147483681" r:id="rId29"/>
    <p:sldLayoutId id="2147483682" r:id="rId30"/>
    <p:sldLayoutId id="2147483683" r:id="rId31"/>
    <p:sldLayoutId id="2147483684" r:id="rId32"/>
    <p:sldLayoutId id="2147483685" r:id="rId33"/>
    <p:sldLayoutId id="2147483686" r:id="rId34"/>
    <p:sldLayoutId id="2147483687" r:id="rId35"/>
    <p:sldLayoutId id="2147483688" r:id="rId36"/>
    <p:sldLayoutId id="2147483689" r:id="rId37"/>
    <p:sldLayoutId id="2147483690" r:id="rId38"/>
    <p:sldLayoutId id="2147483691" r:id="rId39"/>
    <p:sldLayoutId id="2147483692" r:id="rId40"/>
    <p:sldLayoutId id="2147483693" r:id="rId41"/>
    <p:sldLayoutId id="2147483694" r:id="rId42"/>
    <p:sldLayoutId id="2147483695" r:id="rId43"/>
    <p:sldLayoutId id="2147483696" r:id="rId4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FF4"/>
        </a:solidFill>
        <a:effectLst/>
      </p:bgPr>
    </p:bg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1"/>
          <p:cNvSpPr/>
          <p:nvPr/>
        </p:nvSpPr>
        <p:spPr>
          <a:xfrm>
            <a:off x="476475" y="611588"/>
            <a:ext cx="8046600" cy="107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2800" b="1">
                <a:solidFill>
                  <a:srgbClr val="1C171A"/>
                </a:solidFill>
              </a:defRPr>
            </a:pPr>
            <a:r>
              <a:t>Web Platform — Báo Cáo Tháng 10/2026</a:t>
            </a:r>
          </a:p>
        </p:txBody>
      </p:sp>
      <p:sp>
        <p:nvSpPr>
          <p:cNvPr id="305" name="Google Shape;305;p1"/>
          <p:cNvSpPr/>
          <p:nvPr/>
        </p:nvSpPr>
        <p:spPr>
          <a:xfrm>
            <a:off x="476465" y="1791225"/>
            <a:ext cx="80466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1300">
                <a:solidFill>
                  <a:srgbClr val="5C5060"/>
                </a:solidFill>
              </a:defRPr>
            </a:pPr>
            <a:r>
              <a:t>Report để cung cấp thông tin  •  Meeting để thảo luận và ra quyết định</a:t>
            </a:r>
          </a:p>
        </p:txBody>
      </p:sp>
      <p:sp>
        <p:nvSpPr>
          <p:cNvPr id="306" name="Google Shape;306;p1"/>
          <p:cNvSpPr/>
          <p:nvPr/>
        </p:nvSpPr>
        <p:spPr>
          <a:xfrm>
            <a:off x="476465" y="2522745"/>
            <a:ext cx="347400" cy="347400"/>
          </a:xfrm>
          <a:prstGeom prst="ellipse">
            <a:avLst/>
          </a:prstGeom>
          <a:solidFill>
            <a:srgbClr val="A50064"/>
          </a:solidFill>
          <a:ln w="12700" cap="flat" cmpd="sng">
            <a:solidFill>
              <a:srgbClr val="A5006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7" name="Google Shape;307;p1"/>
          <p:cNvSpPr/>
          <p:nvPr/>
        </p:nvSpPr>
        <p:spPr>
          <a:xfrm>
            <a:off x="476465" y="2522745"/>
            <a:ext cx="347400" cy="34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1"/>
          <p:cNvSpPr/>
          <p:nvPr/>
        </p:nvSpPr>
        <p:spPr>
          <a:xfrm>
            <a:off x="979385" y="2522745"/>
            <a:ext cx="7315200" cy="34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Reporting  </a:t>
            </a:r>
            <a:r>
              <a:rPr lang="en-US" sz="13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Pre-read, không trình bày lại trong họp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1"/>
          <p:cNvSpPr/>
          <p:nvPr/>
        </p:nvSpPr>
        <p:spPr>
          <a:xfrm>
            <a:off x="476465" y="2979945"/>
            <a:ext cx="347400" cy="347400"/>
          </a:xfrm>
          <a:prstGeom prst="ellipse">
            <a:avLst/>
          </a:prstGeom>
          <a:solidFill>
            <a:srgbClr val="A50064"/>
          </a:solidFill>
          <a:ln w="12700" cap="flat" cmpd="sng">
            <a:solidFill>
              <a:srgbClr val="A5006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0" name="Google Shape;310;p1"/>
          <p:cNvSpPr/>
          <p:nvPr/>
        </p:nvSpPr>
        <p:spPr>
          <a:xfrm>
            <a:off x="476465" y="2979945"/>
            <a:ext cx="347400" cy="34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1"/>
          <p:cNvSpPr/>
          <p:nvPr/>
        </p:nvSpPr>
        <p:spPr>
          <a:xfrm>
            <a:off x="979385" y="2979945"/>
            <a:ext cx="7315200" cy="34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Discussion  </a:t>
            </a:r>
            <a:r>
              <a:rPr lang="en-US" sz="13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Cần thảo luận / alignment / quyết định — nội dung chính của họp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1"/>
          <p:cNvSpPr/>
          <p:nvPr/>
        </p:nvSpPr>
        <p:spPr>
          <a:xfrm>
            <a:off x="476465" y="3437145"/>
            <a:ext cx="347400" cy="347400"/>
          </a:xfrm>
          <a:prstGeom prst="ellipse">
            <a:avLst/>
          </a:prstGeom>
          <a:solidFill>
            <a:srgbClr val="A50064"/>
          </a:solidFill>
          <a:ln w="12700" cap="flat" cmpd="sng">
            <a:solidFill>
              <a:srgbClr val="A5006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3" name="Google Shape;313;p1"/>
          <p:cNvSpPr/>
          <p:nvPr/>
        </p:nvSpPr>
        <p:spPr>
          <a:xfrm>
            <a:off x="476465" y="3437145"/>
            <a:ext cx="347400" cy="34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1"/>
          <p:cNvSpPr/>
          <p:nvPr/>
        </p:nvSpPr>
        <p:spPr>
          <a:xfrm>
            <a:off x="979385" y="3437145"/>
            <a:ext cx="7315200" cy="34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FYI  </a:t>
            </a:r>
            <a:r>
              <a:rPr lang="en-US" sz="13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Thông tin tham khảo, không thảo luận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1"/>
          <p:cNvSpPr txBox="1"/>
          <p:nvPr/>
        </p:nvSpPr>
        <p:spPr>
          <a:xfrm>
            <a:off x="476475" y="3978600"/>
            <a:ext cx="8379600" cy="49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defRPr sz="1000">
                <a:solidFill>
                  <a:srgbClr val="5C5060"/>
                </a:solidFill>
              </a:defRPr>
            </a:pPr>
            <a:r>
              <a:t>Note: Kỳ dữ liệu từ 01/10/2026 đến 30/10/2026 (MTD 30 ngày &amp; ước tính 31 ngày). Nguồn: GA4 (Property 270743103). Báo cáo tập trung vào tăng trưởng lượt xem (Pageviews) và mở rộng hệ sinh thái sản phẩm mới.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2"/>
          <p:cNvSpPr/>
          <p:nvPr/>
        </p:nvSpPr>
        <p:spPr>
          <a:xfrm>
            <a:off x="320040" y="128016"/>
            <a:ext cx="768096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850">
                <a:solidFill>
                  <a:srgbClr val="5C5060"/>
                </a:solidFill>
              </a:defRPr>
            </a:pPr>
            <a:r>
              <a:t>Mục đích: Thống nhất danh mục 1 chủ đề cần BOM phê duyệt và thứ tự thảo luận trong cuộc họp.</a:t>
            </a:r>
          </a:p>
        </p:txBody>
      </p:sp>
      <p:sp>
        <p:nvSpPr>
          <p:cNvPr id="343" name="Google Shape;343;p2"/>
          <p:cNvSpPr/>
          <p:nvPr/>
        </p:nvSpPr>
        <p:spPr>
          <a:xfrm>
            <a:off x="320040" y="347472"/>
            <a:ext cx="7680960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1C171A"/>
                </a:solidFill>
              </a:defRPr>
            </a:pPr>
            <a:r>
              <a:t>Discussion Topics — 1 Chủ Đề Trọng Tâm: 0 Discuss, 1 Approve</a:t>
            </a:r>
          </a:p>
        </p:txBody>
      </p:sp>
      <p:sp>
        <p:nvSpPr>
          <p:cNvPr id="344" name="Google Shape;344;p2"/>
          <p:cNvSpPr/>
          <p:nvPr/>
        </p:nvSpPr>
        <p:spPr>
          <a:xfrm>
            <a:off x="8394192" y="146304"/>
            <a:ext cx="384048" cy="384048"/>
          </a:xfrm>
          <a:prstGeom prst="ellipse">
            <a:avLst/>
          </a:prstGeom>
          <a:solidFill>
            <a:srgbClr val="F95396"/>
          </a:solidFill>
          <a:ln w="12700" cap="flat" cmpd="sng">
            <a:solidFill>
              <a:srgbClr val="F9539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5" name="Google Shape;345;p2"/>
          <p:cNvSpPr/>
          <p:nvPr/>
        </p:nvSpPr>
        <p:spPr>
          <a:xfrm>
            <a:off x="8394192" y="146304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2"/>
          <p:cNvSpPr/>
          <p:nvPr/>
        </p:nvSpPr>
        <p:spPr>
          <a:xfrm>
            <a:off x="8119872" y="548640"/>
            <a:ext cx="932688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95396"/>
              </a:buClr>
              <a:buSzPts val="750"/>
              <a:buFont typeface="Calibri"/>
              <a:buNone/>
            </a:pPr>
            <a:r>
              <a:rPr lang="en-US" sz="750" b="0" i="0" u="none" strike="noStrike" cap="none">
                <a:solidFill>
                  <a:srgbClr val="F95396"/>
                </a:solidFill>
                <a:latin typeface="Calibri"/>
                <a:ea typeface="Calibri"/>
                <a:cs typeface="Calibri"/>
                <a:sym typeface="Calibri"/>
              </a:rPr>
              <a:t>Discussion</a:t>
            </a:r>
            <a:endParaRPr sz="7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2"/>
          <p:cNvSpPr/>
          <p:nvPr/>
        </p:nvSpPr>
        <p:spPr>
          <a:xfrm>
            <a:off x="320040" y="4873752"/>
            <a:ext cx="731520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900">
                <a:solidFill>
                  <a:srgbClr val="5C5060"/>
                </a:solidFill>
              </a:defRPr>
            </a:pPr>
            <a:r>
              <a:t>Nguồn: GA4 (Property 270743103)   |   Owner: Web Platform   |   Chốt số liệu: 30/10/2026</a:t>
            </a:r>
          </a:p>
        </p:txBody>
      </p:sp>
      <p:sp>
        <p:nvSpPr>
          <p:cNvPr id="348" name="Google Shape;348;p2"/>
          <p:cNvSpPr/>
          <p:nvPr/>
        </p:nvSpPr>
        <p:spPr>
          <a:xfrm>
            <a:off x="8321040" y="4873752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900">
                <a:solidFill>
                  <a:srgbClr val="5C5060"/>
                </a:solidFill>
              </a:defRPr>
            </a:pPr>
            <a:r>
              <a:t>2 / 7</a:t>
            </a:r>
          </a:p>
        </p:txBody>
      </p:sp>
      <p:graphicFrame>
        <p:nvGraphicFramePr>
          <p:cNvPr id="349" name="Google Shape;349;p2"/>
          <p:cNvGraphicFramePr/>
          <p:nvPr/>
        </p:nvGraphicFramePr>
        <p:xfrm>
          <a:off x="274315" y="1005840"/>
          <a:ext cx="8823960" cy="1261872"/>
        </p:xfrm>
        <a:graphic>
          <a:graphicData uri="http://schemas.openxmlformats.org/drawingml/2006/table">
            <a:tbl>
              <a:tblPr>
                <a:noFill/>
                <a:tableStyleId>{E4150D1B-22CA-4B41-9D43-DA15F05A9917}</a:tableStyleId>
              </a:tblPr>
              <a:tblGrid>
                <a:gridCol w="320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500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Chủ đề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500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Loại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500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Cần CEO/BOM quyết định / hỗ trợ gì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500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Tác động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500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Hạn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500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Ưu tiên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500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Chi tiết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500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algn="ctr">
                        <a:defRPr sz="850" b="1"/>
                      </a:pPr>
                      <a:r>
                        <a:t>1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1"/>
                      </a:pPr>
                      <a:r>
                        <a:t>Kế Hoạch Ra Mắt Bộ Tiện Ích Thuế TNCN &amp; Tính Lương Cuối Năm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D82D8B"/>
                          </a:solidFill>
                        </a:defRPr>
                      </a:pPr>
                      <a:r>
                        <a:t>Approve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800" b="0"/>
                      </a:pPr>
                      <a:r>
                        <a:t>Phê duyệt kế hoạch phát hành và cơ chế phối hợp dữ liệu biểu mẫu thuế với Finhub; ưu tiên tài nguyên kỹ thuật go-live trong tháng 11/2026.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800" b="0">
                          <a:solidFill>
                            <a:srgbClr val="059669"/>
                          </a:solidFill>
                        </a:defRPr>
                      </a:pPr>
                      <a:r>
                        <a:t>Dự kiến thu hút 300K - 500K Pageviews tự nhiên; đón đỉnh tìm kiếm quyết toán thuế cuối năm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/>
                      </a:pPr>
                      <a:r>
                        <a:t>31/10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B91C1C"/>
                          </a:solidFill>
                        </a:defRPr>
                      </a:pPr>
                      <a:r>
                        <a:t>CAO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D82D8B"/>
                          </a:solidFill>
                        </a:defRPr>
                      </a:pPr>
                      <a:r>
                        <a:t>Slide 3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50" name="Google Shape;350;p2"/>
          <p:cNvSpPr/>
          <p:nvPr/>
        </p:nvSpPr>
        <p:spPr>
          <a:xfrm>
            <a:off x="274378" y="3291840"/>
            <a:ext cx="8503800" cy="123444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E0E0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1" name="Google Shape;351;p2"/>
          <p:cNvSpPr/>
          <p:nvPr/>
        </p:nvSpPr>
        <p:spPr>
          <a:xfrm>
            <a:off x="411538" y="3474720"/>
            <a:ext cx="1051500" cy="196200"/>
          </a:xfrm>
          <a:prstGeom prst="roundRect">
            <a:avLst>
              <a:gd name="adj" fmla="val 27942"/>
            </a:avLst>
          </a:prstGeom>
          <a:solidFill>
            <a:srgbClr val="FFE3ED"/>
          </a:solidFill>
          <a:ln w="12700" cap="flat" cmpd="sng">
            <a:solidFill>
              <a:srgbClr val="FFE3E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2" name="Google Shape;352;p2"/>
          <p:cNvSpPr/>
          <p:nvPr/>
        </p:nvSpPr>
        <p:spPr>
          <a:xfrm>
            <a:off x="411538" y="3474720"/>
            <a:ext cx="1051500" cy="19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A50064"/>
              </a:buClr>
              <a:buSzPts val="900"/>
              <a:buFont typeface="Calibri"/>
              <a:buNone/>
            </a:pPr>
            <a:r>
              <a:rPr lang="en-US" sz="900" b="1" i="0" u="none" strike="noStrike" cap="none">
                <a:solidFill>
                  <a:srgbClr val="A50064"/>
                </a:solidFill>
                <a:latin typeface="Calibri"/>
                <a:ea typeface="Calibri"/>
                <a:cs typeface="Calibri"/>
                <a:sym typeface="Calibri"/>
              </a:rPr>
              <a:t>Nội dung chính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"/>
          <p:cNvSpPr/>
          <p:nvPr/>
        </p:nvSpPr>
        <p:spPr>
          <a:xfrm>
            <a:off x="1645978" y="3337560"/>
            <a:ext cx="69951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950">
                <a:solidFill>
                  <a:srgbClr val="1C171A"/>
                </a:solidFill>
              </a:defRPr>
            </a:pPr>
            <a:r>
              <a:t>• 01. Bộ Tiện Ích Thuế &amp; Lương: Phê duyệt kế hoạch go-live bộ công cụ Tính Thuế TNCN &amp; Lương Gross-Net đón đỉnh tìm kiếm quyết toán cuối năm (300K - 500K PVs).</a:t>
            </a:r>
          </a:p>
          <a:p>
            <a:pPr>
              <a:defRPr sz="950">
                <a:solidFill>
                  <a:srgbClr val="1C171A"/>
                </a:solidFill>
              </a:defRPr>
            </a:pPr>
            <a:r>
              <a:t>• 02. Phối hợp dữ liệu Finhub/Bank: Thống nhất cơ chế đối soát biểu mẫu và chuẩn hóa công thức tính thuế lũy tiến theo quy định hiện hành.</a:t>
            </a:r>
          </a:p>
          <a:p>
            <a:pPr>
              <a:defRPr sz="950">
                <a:solidFill>
                  <a:srgbClr val="1C171A"/>
                </a:solidFill>
              </a:defRPr>
            </a:pPr>
            <a:r>
              <a:t>• 03. Kỷ luật phê duyệt: Hoàn tất phê duyệt trước 31/10 để kịp kiểm thử chất lượng và go-live đúng kỳ tính lương tháng 11/2026.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3"/>
          <p:cNvSpPr/>
          <p:nvPr/>
        </p:nvSpPr>
        <p:spPr>
          <a:xfrm>
            <a:off x="320040" y="128016"/>
            <a:ext cx="768096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850">
                <a:solidFill>
                  <a:srgbClr val="5C5060"/>
                </a:solidFill>
              </a:defRPr>
            </a:pPr>
            <a:r>
              <a:t>Mục đích: Xin CEO/BOM phê duyệt kế hoạch go-live bộ công cụ Thuế &amp; Lương trước 31/10 để đón đỉnh tìm kiếm cuối năm.</a:t>
            </a:r>
          </a:p>
        </p:txBody>
      </p:sp>
      <p:sp>
        <p:nvSpPr>
          <p:cNvPr id="379" name="Google Shape;379;p3"/>
          <p:cNvSpPr/>
          <p:nvPr/>
        </p:nvSpPr>
        <p:spPr>
          <a:xfrm>
            <a:off x="320050" y="347475"/>
            <a:ext cx="8281500" cy="53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1C171A"/>
                </a:solidFill>
              </a:defRPr>
            </a:pPr>
            <a:r>
              <a:t>Đề Xuất 1: Phát Hành Bộ Tiện Ích Thuế Thu Nhập Cá Nhân &amp; Tính Lương Gross-Net</a:t>
            </a:r>
          </a:p>
        </p:txBody>
      </p:sp>
      <p:sp>
        <p:nvSpPr>
          <p:cNvPr id="380" name="Google Shape;380;p3"/>
          <p:cNvSpPr/>
          <p:nvPr/>
        </p:nvSpPr>
        <p:spPr>
          <a:xfrm>
            <a:off x="8394192" y="146304"/>
            <a:ext cx="384048" cy="384048"/>
          </a:xfrm>
          <a:prstGeom prst="ellipse">
            <a:avLst/>
          </a:prstGeom>
          <a:solidFill>
            <a:srgbClr val="F95396"/>
          </a:solidFill>
          <a:ln w="12700" cap="flat" cmpd="sng">
            <a:solidFill>
              <a:srgbClr val="F9539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1" name="Google Shape;381;p3"/>
          <p:cNvSpPr/>
          <p:nvPr/>
        </p:nvSpPr>
        <p:spPr>
          <a:xfrm>
            <a:off x="8394192" y="146304"/>
            <a:ext cx="3840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3"/>
          <p:cNvSpPr/>
          <p:nvPr/>
        </p:nvSpPr>
        <p:spPr>
          <a:xfrm>
            <a:off x="8119872" y="548640"/>
            <a:ext cx="932688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95396"/>
              </a:buClr>
              <a:buSzPts val="750"/>
              <a:buFont typeface="Calibri"/>
              <a:buNone/>
            </a:pPr>
            <a:r>
              <a:rPr lang="en-US" sz="750" b="0" i="0" u="none" strike="noStrike" cap="none">
                <a:solidFill>
                  <a:srgbClr val="F95396"/>
                </a:solidFill>
                <a:latin typeface="Calibri"/>
                <a:ea typeface="Calibri"/>
                <a:cs typeface="Calibri"/>
                <a:sym typeface="Calibri"/>
              </a:rPr>
              <a:t>Discussion</a:t>
            </a:r>
            <a:endParaRPr sz="7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3"/>
          <p:cNvSpPr/>
          <p:nvPr/>
        </p:nvSpPr>
        <p:spPr>
          <a:xfrm>
            <a:off x="320040" y="4873752"/>
            <a:ext cx="731520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900">
                <a:solidFill>
                  <a:srgbClr val="5C5060"/>
                </a:solidFill>
              </a:defRPr>
            </a:pPr>
            <a:r>
              <a:t>Nguồn: Google Search Trends &amp; Web Platform   |   Owner: Web Platform   |   Chốt số liệu: 30/10/2026</a:t>
            </a:r>
          </a:p>
        </p:txBody>
      </p:sp>
      <p:sp>
        <p:nvSpPr>
          <p:cNvPr id="384" name="Google Shape;384;p3"/>
          <p:cNvSpPr/>
          <p:nvPr/>
        </p:nvSpPr>
        <p:spPr>
          <a:xfrm>
            <a:off x="8321040" y="4873752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900">
                <a:solidFill>
                  <a:srgbClr val="5C5060"/>
                </a:solidFill>
              </a:defRPr>
            </a:pPr>
            <a:r>
              <a:t>3 / 7</a:t>
            </a:r>
          </a:p>
        </p:txBody>
      </p:sp>
      <p:sp>
        <p:nvSpPr>
          <p:cNvPr id="385" name="Google Shape;385;p3"/>
          <p:cNvSpPr/>
          <p:nvPr/>
        </p:nvSpPr>
        <p:spPr>
          <a:xfrm>
            <a:off x="274340" y="985856"/>
            <a:ext cx="5303400" cy="60420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E0E0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6" name="Google Shape;386;p3"/>
          <p:cNvSpPr/>
          <p:nvPr/>
        </p:nvSpPr>
        <p:spPr>
          <a:xfrm>
            <a:off x="411500" y="1189756"/>
            <a:ext cx="1097400" cy="196200"/>
          </a:xfrm>
          <a:prstGeom prst="roundRect">
            <a:avLst>
              <a:gd name="adj" fmla="val 27942"/>
            </a:avLst>
          </a:prstGeom>
          <a:solidFill>
            <a:srgbClr val="FFE3ED"/>
          </a:solidFill>
          <a:ln w="12700" cap="flat" cmpd="sng">
            <a:solidFill>
              <a:srgbClr val="FFE3E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7" name="Google Shape;387;p3"/>
          <p:cNvSpPr/>
          <p:nvPr/>
        </p:nvSpPr>
        <p:spPr>
          <a:xfrm>
            <a:off x="411500" y="1189756"/>
            <a:ext cx="1097400" cy="19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A50064"/>
              </a:buClr>
              <a:buSzPts val="900"/>
              <a:buFont typeface="Calibri"/>
              <a:buNone/>
            </a:pPr>
            <a:r>
              <a:rPr lang="en-US" sz="900" b="1" i="0" u="none" strike="noStrike" cap="none">
                <a:solidFill>
                  <a:srgbClr val="A50064"/>
                </a:solidFill>
                <a:latin typeface="Calibri"/>
                <a:ea typeface="Calibri"/>
                <a:cs typeface="Calibri"/>
                <a:sym typeface="Calibri"/>
              </a:rPr>
              <a:t>Problem statement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3"/>
          <p:cNvSpPr/>
          <p:nvPr/>
        </p:nvSpPr>
        <p:spPr>
          <a:xfrm>
            <a:off x="1645940" y="1023615"/>
            <a:ext cx="3840600" cy="5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850">
                <a:solidFill>
                  <a:srgbClr val="1C171A"/>
                </a:solidFill>
              </a:defRPr>
            </a:pPr>
            <a:r>
              <a:t>Nhu cầu tìm kiếm về quyết toán thuế TNCN và tính lương thưởng Tết tăng mạnh từ T11 đến T1 (&gt;1.2M search/tháng). Web Platform cần bộ công cụ tự động chuẩn xác để giữ chân người dùng và tạo lưu lượng tự nhiên chất lượng cao.</a:t>
            </a:r>
          </a:p>
        </p:txBody>
      </p:sp>
      <p:sp>
        <p:nvSpPr>
          <p:cNvPr id="389" name="Google Shape;389;p3"/>
          <p:cNvSpPr/>
          <p:nvPr/>
        </p:nvSpPr>
        <p:spPr>
          <a:xfrm>
            <a:off x="274340" y="1650420"/>
            <a:ext cx="5303400" cy="60420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E0E0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0" name="Google Shape;390;p3"/>
          <p:cNvSpPr/>
          <p:nvPr/>
        </p:nvSpPr>
        <p:spPr>
          <a:xfrm>
            <a:off x="411500" y="1854321"/>
            <a:ext cx="1097400" cy="196200"/>
          </a:xfrm>
          <a:prstGeom prst="roundRect">
            <a:avLst>
              <a:gd name="adj" fmla="val 27942"/>
            </a:avLst>
          </a:prstGeom>
          <a:solidFill>
            <a:srgbClr val="FFE3ED"/>
          </a:solidFill>
          <a:ln w="12700" cap="flat" cmpd="sng">
            <a:solidFill>
              <a:srgbClr val="FFE3E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1" name="Google Shape;391;p3"/>
          <p:cNvSpPr/>
          <p:nvPr/>
        </p:nvSpPr>
        <p:spPr>
          <a:xfrm>
            <a:off x="411500" y="1854321"/>
            <a:ext cx="1097400" cy="19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A50064"/>
              </a:buClr>
              <a:buSzPts val="900"/>
              <a:buFont typeface="Calibri"/>
              <a:buNone/>
            </a:pPr>
            <a:r>
              <a:rPr lang="en-US" sz="900" b="1" i="0" u="none" strike="noStrike" cap="none">
                <a:solidFill>
                  <a:srgbClr val="A50064"/>
                </a:solidFill>
                <a:latin typeface="Calibri"/>
                <a:ea typeface="Calibri"/>
                <a:cs typeface="Calibri"/>
                <a:sym typeface="Calibri"/>
              </a:rPr>
              <a:t>Bối cảnh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3"/>
          <p:cNvSpPr/>
          <p:nvPr/>
        </p:nvSpPr>
        <p:spPr>
          <a:xfrm>
            <a:off x="1645940" y="1688180"/>
            <a:ext cx="3840600" cy="5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850">
                <a:solidFill>
                  <a:srgbClr val="1C171A"/>
                </a:solidFill>
              </a:defRPr>
            </a:pPr>
            <a:r>
              <a:t>Kỹ thuật đã hoàn thành Staging cho bộ đôi công cụ Tính Thuế TNCN &amp; Lương Gross-Net theo biểu thuế lũy tiến và giảm trừ gia cảnh mới nhất. Tiện ích dự kiến thu hút 300K - 500K PVs/tháng, nâng thời gian lưu trang lên &gt;2.5 phút.</a:t>
            </a:r>
          </a:p>
        </p:txBody>
      </p:sp>
      <p:sp>
        <p:nvSpPr>
          <p:cNvPr id="393" name="Google Shape;393;p3"/>
          <p:cNvSpPr/>
          <p:nvPr/>
        </p:nvSpPr>
        <p:spPr>
          <a:xfrm>
            <a:off x="274340" y="2314985"/>
            <a:ext cx="5303400" cy="60420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E0E0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"/>
          <p:cNvSpPr/>
          <p:nvPr/>
        </p:nvSpPr>
        <p:spPr>
          <a:xfrm>
            <a:off x="411500" y="2518885"/>
            <a:ext cx="1097400" cy="196200"/>
          </a:xfrm>
          <a:prstGeom prst="roundRect">
            <a:avLst>
              <a:gd name="adj" fmla="val 27942"/>
            </a:avLst>
          </a:prstGeom>
          <a:solidFill>
            <a:srgbClr val="FFE3ED"/>
          </a:solidFill>
          <a:ln w="12700" cap="flat" cmpd="sng">
            <a:solidFill>
              <a:srgbClr val="FFE3E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5" name="Google Shape;395;p3"/>
          <p:cNvSpPr/>
          <p:nvPr/>
        </p:nvSpPr>
        <p:spPr>
          <a:xfrm>
            <a:off x="411500" y="2518885"/>
            <a:ext cx="1097400" cy="19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A50064"/>
              </a:buClr>
              <a:buSzPts val="900"/>
              <a:buFont typeface="Calibri"/>
              <a:buNone/>
            </a:pPr>
            <a:r>
              <a:rPr lang="en-US" sz="900" b="1" i="0" u="none" strike="noStrike" cap="none">
                <a:solidFill>
                  <a:srgbClr val="A50064"/>
                </a:solidFill>
                <a:latin typeface="Calibri"/>
                <a:ea typeface="Calibri"/>
                <a:cs typeface="Calibri"/>
                <a:sym typeface="Calibri"/>
              </a:rPr>
              <a:t>Tác động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3"/>
          <p:cNvSpPr/>
          <p:nvPr/>
        </p:nvSpPr>
        <p:spPr>
          <a:xfrm>
            <a:off x="1645940" y="2352744"/>
            <a:ext cx="3840600" cy="5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800">
                <a:solidFill>
                  <a:srgbClr val="1C171A"/>
                </a:solidFill>
              </a:defRPr>
            </a:pPr>
            <a:r>
              <a:t>Hiệu quả kinh tế &amp; ROI (cho CEO):</a:t>
            </a:r>
          </a:p>
          <a:p>
            <a:pPr>
              <a:defRPr sz="800">
                <a:solidFill>
                  <a:srgbClr val="1C171A"/>
                </a:solidFill>
              </a:defRPr>
            </a:pPr>
            <a:r>
              <a:t>• Thu hút 300K - 500K PVs tự nhiên/tháng; tăng tương tác onsite gấp 3 lần.</a:t>
            </a:r>
          </a:p>
          <a:p>
            <a:pPr>
              <a:defRPr sz="800">
                <a:solidFill>
                  <a:srgbClr val="1C171A"/>
                </a:solidFill>
              </a:defRPr>
            </a:pPr>
            <a:r>
              <a:t>• Quy đổi Media Value: Tiết kiệm ~120 - 200 Triệu VNĐ/tháng ngân sách Ads.</a:t>
            </a:r>
          </a:p>
          <a:p>
            <a:pPr>
              <a:defRPr sz="800">
                <a:solidFill>
                  <a:srgbClr val="1C171A"/>
                </a:solidFill>
              </a:defRPr>
            </a:pPr>
            <a:r>
              <a:t>• Chi phí phát sinh: 0 VNĐ (tận dụng 100% hạ tầng server hiện hữu).</a:t>
            </a:r>
          </a:p>
        </p:txBody>
      </p:sp>
      <p:sp>
        <p:nvSpPr>
          <p:cNvPr id="397" name="Google Shape;397;p3"/>
          <p:cNvSpPr/>
          <p:nvPr/>
        </p:nvSpPr>
        <p:spPr>
          <a:xfrm>
            <a:off x="274340" y="3009757"/>
            <a:ext cx="5303400" cy="16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50064"/>
              </a:buClr>
              <a:buSzPts val="1000"/>
              <a:buFont typeface="Calibri"/>
              <a:buNone/>
            </a:pPr>
            <a:r>
              <a:rPr lang="en-US" sz="1000" b="1" i="0" u="none" strike="noStrike" cap="none">
                <a:solidFill>
                  <a:srgbClr val="A50064"/>
                </a:solidFill>
                <a:latin typeface="Calibri"/>
                <a:ea typeface="Calibri"/>
                <a:cs typeface="Calibri"/>
                <a:sym typeface="Calibri"/>
              </a:rPr>
              <a:t>PHƯƠNG ÁN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98" name="Google Shape;398;p3"/>
          <p:cNvGraphicFramePr/>
          <p:nvPr/>
        </p:nvGraphicFramePr>
        <p:xfrm>
          <a:off x="274340" y="3191002"/>
          <a:ext cx="5303500" cy="800500"/>
        </p:xfrm>
        <a:graphic>
          <a:graphicData uri="http://schemas.openxmlformats.org/drawingml/2006/table">
            <a:tbl>
              <a:tblPr>
                <a:noFill/>
                <a:tableStyleId>{E4150D1B-22CA-4B41-9D43-DA15F05A9917}</a:tableStyleId>
              </a:tblPr>
              <a:tblGrid>
                <a:gridCol w="1005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9635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Phương Án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500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Nội Dung Triển Khai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500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Tác Động Lượng Hóa &amp; ROI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500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Đánh Giá Rủi Ro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500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2075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59669"/>
                          </a:solidFill>
                        </a:defRPr>
                      </a:pPr>
                      <a:r>
                        <a:t>Phương Án A</a:t>
                      </a:r>
                      <a:br/>
                      <a:r>
                        <a:t>(Khuyến nghị)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800" b="0"/>
                      </a:pPr>
                      <a:r>
                        <a:t>Phát hành bộ tiện ích chuẩn UX MoMo, tích hợp biểu mẫu thuế mới nhất, tự động tính giảm trừ gia cảnh và xuất bảng chi tiết.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800" b="0">
                          <a:solidFill>
                            <a:srgbClr val="059669"/>
                          </a:solidFill>
                        </a:defRPr>
                      </a:pPr>
                      <a:r>
                        <a:t>Đạt 300K - 500K PVs tự nhiên; tiết kiệm 120 - 200 Tr VNĐ/tháng tiền Ads; chi phí phát sinh 0 VNĐ.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800" b="0"/>
                      </a:pPr>
                      <a:r>
                        <a:t>Rủi ro thấp: Hạ tầng kỹ thuật đã hoàn thành trên môi trường Staging.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2075">
                <a:tc>
                  <a:txBody>
                    <a:bodyPr/>
                    <a:lstStyle/>
                    <a:p>
                      <a:pPr algn="ctr">
                        <a:defRPr sz="850" b="1"/>
                      </a:pPr>
                      <a:r>
                        <a:t>Phương Án B</a:t>
                      </a:r>
                      <a:br/>
                      <a:r>
                        <a:t>(Hiện trạng)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800" b="0"/>
                      </a:pPr>
                      <a:r>
                        <a:t>Giữ các bài viết nội dung tĩnh thông thường không kèm công cụ tính toán tương tác.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800" b="0">
                          <a:solidFill>
                            <a:srgbClr val="B91C1C"/>
                          </a:solidFill>
                        </a:defRPr>
                      </a:pPr>
                      <a:r>
                        <a:t>Tỷ lệ thoát trang cao (&gt;75%); muốn đạt cùng lượng truy cập phải chi 120 - 200 Tr VNĐ tiền Ads ngoài.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800" b="0"/>
                      </a:pPr>
                      <a:r>
                        <a:t>Rủi ro cao: Mất vị thế cạnh tranh trên Google Search vào tay các nền tảng tính lương ngoài.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99" name="Google Shape;399;p3"/>
          <p:cNvSpPr/>
          <p:nvPr/>
        </p:nvSpPr>
        <p:spPr>
          <a:xfrm>
            <a:off x="5669300" y="985856"/>
            <a:ext cx="3108900" cy="317190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E0E0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"/>
          <p:cNvSpPr/>
          <p:nvPr/>
        </p:nvSpPr>
        <p:spPr>
          <a:xfrm>
            <a:off x="5806460" y="1046271"/>
            <a:ext cx="2834700" cy="22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50064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A50064"/>
                </a:solidFill>
                <a:latin typeface="Calibri"/>
                <a:ea typeface="Calibri"/>
                <a:cs typeface="Calibri"/>
                <a:sym typeface="Calibri"/>
              </a:rPr>
              <a:t>Key Highlights &amp; Commentary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"/>
          <p:cNvSpPr/>
          <p:nvPr/>
        </p:nvSpPr>
        <p:spPr>
          <a:xfrm>
            <a:off x="5806460" y="1363449"/>
            <a:ext cx="1577400" cy="181200"/>
          </a:xfrm>
          <a:prstGeom prst="roundRect">
            <a:avLst>
              <a:gd name="adj" fmla="val 30271"/>
            </a:avLst>
          </a:prstGeom>
          <a:solidFill>
            <a:srgbClr val="FFE3ED"/>
          </a:solidFill>
          <a:ln w="12700" cap="flat" cmpd="sng">
            <a:solidFill>
              <a:srgbClr val="FFE3E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2" name="Google Shape;402;p3"/>
          <p:cNvSpPr/>
          <p:nvPr/>
        </p:nvSpPr>
        <p:spPr>
          <a:xfrm>
            <a:off x="5806460" y="1363449"/>
            <a:ext cx="1577400" cy="18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A50064"/>
              </a:buClr>
              <a:buSzPts val="900"/>
              <a:buFont typeface="Calibri"/>
              <a:buNone/>
            </a:pPr>
            <a:r>
              <a:rPr lang="en-US" sz="900" b="1" i="0" u="none" strike="noStrike" cap="none">
                <a:solidFill>
                  <a:srgbClr val="A50064"/>
                </a:solidFill>
                <a:latin typeface="Calibri"/>
                <a:ea typeface="Calibri"/>
                <a:cs typeface="Calibri"/>
                <a:sym typeface="Calibri"/>
              </a:rPr>
              <a:t>Đề nghị với CEO/BOM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3"/>
          <p:cNvSpPr/>
          <p:nvPr/>
        </p:nvSpPr>
        <p:spPr>
          <a:xfrm>
            <a:off x="5806460" y="1590005"/>
            <a:ext cx="2834700" cy="11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defRPr sz="950">
                <a:solidFill>
                  <a:srgbClr val="1C171A"/>
                </a:solidFill>
              </a:defRPr>
            </a:pPr>
            <a:r>
              <a:t>Nội dung xin phê duyệt (Approve): Phê duyệt kế hoạch go-live bộ công cụ Thuế TNCN &amp; Lương Gross-Net trong tháng 11/2026; phối hợp Finhub chuẩn hóa công thức tính thuế.</a:t>
            </a:r>
          </a:p>
          <a:p>
            <a:pPr>
              <a:defRPr sz="950">
                <a:solidFill>
                  <a:srgbClr val="1C171A"/>
                </a:solidFill>
              </a:defRPr>
            </a:pPr>
            <a:r>
              <a:t>Khuyến nghị của BU &amp; ROI: Thông qua Phương án A. ROI vượt trội: Thu hồi giá trị thương hiệu và lưu lượng tự nhiên ngay trong tháng đầu; tiết kiệm 120 - 200 Tr VNĐ/tháng chi phí quảng cáo với 0 đồng chi phí ngoài.</a:t>
            </a:r>
          </a:p>
        </p:txBody>
      </p:sp>
      <p:sp>
        <p:nvSpPr>
          <p:cNvPr id="404" name="Google Shape;404;p3"/>
          <p:cNvSpPr/>
          <p:nvPr/>
        </p:nvSpPr>
        <p:spPr>
          <a:xfrm>
            <a:off x="5806460" y="2798304"/>
            <a:ext cx="1645800" cy="181200"/>
          </a:xfrm>
          <a:prstGeom prst="roundRect">
            <a:avLst>
              <a:gd name="adj" fmla="val 30271"/>
            </a:avLst>
          </a:prstGeom>
          <a:solidFill>
            <a:srgbClr val="FFE3ED"/>
          </a:solidFill>
          <a:ln w="12700" cap="flat" cmpd="sng">
            <a:solidFill>
              <a:srgbClr val="FFE3E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5" name="Google Shape;405;p3"/>
          <p:cNvSpPr/>
          <p:nvPr/>
        </p:nvSpPr>
        <p:spPr>
          <a:xfrm>
            <a:off x="5806460" y="2798304"/>
            <a:ext cx="1645800" cy="18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850" b="1">
                <a:solidFill>
                  <a:srgbClr val="FFFFFF"/>
                </a:solidFill>
              </a:defRPr>
            </a:pPr>
            <a:r>
              <a:t>Rủi ro khi chậm quyết định</a:t>
            </a:r>
          </a:p>
        </p:txBody>
      </p:sp>
      <p:sp>
        <p:nvSpPr>
          <p:cNvPr id="406" name="Google Shape;406;p3"/>
          <p:cNvSpPr/>
          <p:nvPr/>
        </p:nvSpPr>
        <p:spPr>
          <a:xfrm>
            <a:off x="5806460" y="3024860"/>
            <a:ext cx="2834700" cy="75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defRPr sz="950">
                <a:solidFill>
                  <a:srgbClr val="1C171A"/>
                </a:solidFill>
              </a:defRPr>
            </a:pPr>
            <a:r>
              <a:t>Rủi ro khi chậm phê duyệt (sau 31/10): Không kịp kiểm thử công thức và triển khai trước kỳ lương tháng 11, bỏ lỡ điểm rơi nhu cầu cao điểm vào tay các website công cụ đối thủ.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p6"/>
          <p:cNvSpPr/>
          <p:nvPr/>
        </p:nvSpPr>
        <p:spPr>
          <a:xfrm>
            <a:off x="320040" y="128016"/>
            <a:ext cx="768096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850">
                <a:solidFill>
                  <a:srgbClr val="5C5060"/>
                </a:solidFill>
              </a:defRPr>
            </a:pPr>
            <a:r>
              <a:t>Mục đích: Báo cáo kết quả lưu lượng tháng 10, chứng minh kênh tự nhiên (Non-Paid) tăng trưởng tự bù đắp phần Paid Ads cắt giảm.</a:t>
            </a:r>
          </a:p>
        </p:txBody>
      </p:sp>
      <p:sp>
        <p:nvSpPr>
          <p:cNvPr id="419" name="Google Shape;419;p6"/>
          <p:cNvSpPr/>
          <p:nvPr/>
        </p:nvSpPr>
        <p:spPr>
          <a:xfrm>
            <a:off x="320040" y="347472"/>
            <a:ext cx="7680900" cy="53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1700" b="1">
                <a:solidFill>
                  <a:srgbClr val="1C171A"/>
                </a:solidFill>
              </a:defRPr>
            </a:pPr>
            <a:r>
              <a:t>Kênh Tự Nhiên Vượt Mốc 3.04M Lượt Xem (+14.0% MoM), Tự Bù Đắp 725K Ads Cắt Giảm Và Đạt 98.6% Dự Báo</a:t>
            </a:r>
          </a:p>
        </p:txBody>
      </p:sp>
      <p:sp>
        <p:nvSpPr>
          <p:cNvPr id="420" name="Google Shape;420;p6"/>
          <p:cNvSpPr/>
          <p:nvPr/>
        </p:nvSpPr>
        <p:spPr>
          <a:xfrm>
            <a:off x="8394192" y="146304"/>
            <a:ext cx="384048" cy="384048"/>
          </a:xfrm>
          <a:prstGeom prst="ellipse">
            <a:avLst/>
          </a:prstGeom>
          <a:solidFill>
            <a:srgbClr val="A50064"/>
          </a:solidFill>
          <a:ln w="12700" cap="flat" cmpd="sng">
            <a:solidFill>
              <a:srgbClr val="A5006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1" name="Google Shape;421;p6"/>
          <p:cNvSpPr/>
          <p:nvPr/>
        </p:nvSpPr>
        <p:spPr>
          <a:xfrm>
            <a:off x="8394192" y="146304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6"/>
          <p:cNvSpPr/>
          <p:nvPr/>
        </p:nvSpPr>
        <p:spPr>
          <a:xfrm>
            <a:off x="8119872" y="548640"/>
            <a:ext cx="932688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A50064"/>
              </a:buClr>
              <a:buSzPts val="750"/>
              <a:buFont typeface="Calibri"/>
              <a:buNone/>
            </a:pPr>
            <a:r>
              <a:rPr lang="en-US" sz="750" b="0" i="0" u="none" strike="noStrike" cap="none">
                <a:solidFill>
                  <a:srgbClr val="A50064"/>
                </a:solidFill>
                <a:latin typeface="Calibri"/>
                <a:ea typeface="Calibri"/>
                <a:cs typeface="Calibri"/>
                <a:sym typeface="Calibri"/>
              </a:rPr>
              <a:t>Reporting</a:t>
            </a:r>
            <a:endParaRPr sz="7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6"/>
          <p:cNvSpPr/>
          <p:nvPr/>
        </p:nvSpPr>
        <p:spPr>
          <a:xfrm>
            <a:off x="320065" y="4343340"/>
            <a:ext cx="73152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900">
                <a:solidFill>
                  <a:srgbClr val="5C5060"/>
                </a:solidFill>
              </a:defRPr>
            </a:pPr>
            <a:r>
              <a:t>Nguồn: GA4 (Property 270743103)   |   Owner: Web Platform   |   Chốt số liệu: 30/10/2026</a:t>
            </a:r>
          </a:p>
        </p:txBody>
      </p:sp>
      <p:sp>
        <p:nvSpPr>
          <p:cNvPr id="424" name="Google Shape;424;p6"/>
          <p:cNvSpPr/>
          <p:nvPr/>
        </p:nvSpPr>
        <p:spPr>
          <a:xfrm>
            <a:off x="8321040" y="4873752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900">
                <a:solidFill>
                  <a:srgbClr val="5C5060"/>
                </a:solidFill>
              </a:defRPr>
            </a:pPr>
            <a:r>
              <a:t>4 / 7</a:t>
            </a:r>
          </a:p>
        </p:txBody>
      </p:sp>
      <p:graphicFrame>
        <p:nvGraphicFramePr>
          <p:cNvPr id="425" name="Google Shape;425;p6"/>
          <p:cNvGraphicFramePr/>
          <p:nvPr/>
        </p:nvGraphicFramePr>
        <p:xfrm>
          <a:off x="320065" y="1060643"/>
          <a:ext cx="5303520" cy="2545080"/>
        </p:xfrm>
        <a:graphic>
          <a:graphicData uri="http://schemas.openxmlformats.org/drawingml/2006/table">
            <a:tbl>
              <a:tblPr>
                <a:noFill/>
                <a:tableStyleId>{E4150D1B-22CA-4B41-9D43-DA15F05A9917}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43475">
                <a:tc rowSpan="2"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Chỉ tiêu hiệu suất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T9 Thực tế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50064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T10 MTD (30d)</a:t>
                      </a:r>
                    </a:p>
                  </a:txBody>
                  <a:tcPr marL="18288" marR="18288" marT="18288" marB="18288"/>
                </a:tc>
                <a:tc hMerge="1"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 (%)</a:t>
                      </a:r>
                    </a:p>
                  </a:txBody>
                  <a:tcPr marL="18288" marR="18288" marT="18288" marB="18288"/>
                </a:tc>
                <a:tc gridSpan="3"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Kế hoạch T10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50064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% Kế hoạch</a:t>
                      </a:r>
                    </a:p>
                  </a:txBody>
                  <a:tcPr marL="18288" marR="18288" marT="18288" marB="18288"/>
                </a:tc>
                <a:tc hMerge="1"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Đánh giá</a:t>
                      </a:r>
                    </a:p>
                  </a:txBody>
                  <a:tcPr marL="18288" marR="18288" marT="18288" marB="18288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3475">
                <a:tc vMerge="1">
                  <a:txBody>
                    <a:bodyPr/>
                    <a:lstStyle/>
                    <a:p>
                      <a:pPr algn="l">
                        <a:defRPr sz="850" b="1"/>
                      </a:pPr>
                      <a:r>
                        <a:t>Tổng lượt xem (PVs)</a:t>
                      </a:r>
                    </a:p>
                  </a:txBody>
                  <a:tcPr marL="18288" marR="18288" marT="18288" marB="18288"/>
                </a:tc>
                <a:tc>
                  <a:txBody>
                    <a:bodyPr/>
                    <a:lstStyle/>
                    <a:p>
                      <a:pPr algn="ctr">
                        <a:defRPr sz="850" b="1"/>
                      </a:pPr>
                      <a:r>
                        <a:t>3.952.859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53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/>
                      </a:pPr>
                      <a:r>
                        <a:t>3.496.864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53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/>
                      </a:pPr>
                      <a:r>
                        <a:t>-8.6%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53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/>
                      </a:pPr>
                      <a:r>
                        <a:t>3.665.607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53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/>
                      </a:pPr>
                      <a:r>
                        <a:t>95.4%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53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/>
                      </a:pPr>
                      <a:r>
                        <a:t>Đạt 98.6% FC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539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3475">
                <a:tc>
                  <a:txBody>
                    <a:bodyPr/>
                    <a:lstStyle/>
                    <a:p>
                      <a:pPr algn="l">
                        <a:defRPr sz="850" b="1"/>
                      </a:pPr>
                      <a:r>
                        <a:t>• Kênh tự nhiên (Non-Paid)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F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/>
                      </a:pPr>
                      <a:r>
                        <a:t>2.755.766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F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/>
                      </a:pPr>
                      <a:r>
                        <a:t>3.040.526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F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/>
                      </a:pPr>
                      <a:r>
                        <a:t>+14.0%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F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/>
                      </a:pPr>
                      <a:r>
                        <a:t>2.900.000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F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/>
                      </a:pPr>
                      <a:r>
                        <a:t>104.8%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F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/>
                      </a:pPr>
                      <a:r>
                        <a:t>Vượt mốc 3M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3475">
                <a:tc>
                  <a:txBody>
                    <a:bodyPr/>
                    <a:lstStyle/>
                    <a:p>
                      <a:pPr algn="l">
                        <a:defRPr sz="850" b="0"/>
                      </a:pPr>
                      <a:r>
                        <a:t>• Quảng cáo trả phí (Paid)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/>
                      </a:pPr>
                      <a:r>
                        <a:t>1.197.093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/>
                      </a:pPr>
                      <a:r>
                        <a:t>456.338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/>
                      </a:pPr>
                      <a:r>
                        <a:t>-60.6%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/>
                      </a:pPr>
                      <a:r>
                        <a:t>765.000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/>
                      </a:pPr>
                      <a:r>
                        <a:t>59.6%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/>
                      </a:pPr>
                      <a:r>
                        <a:t>Chủ động giảm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3475">
                <a:tc>
                  <a:txBody>
                    <a:bodyPr/>
                    <a:lstStyle/>
                    <a:p>
                      <a:pPr algn="l">
                        <a:defRPr sz="850" b="0"/>
                      </a:pPr>
                      <a:r>
                        <a:t>• Lượt truy cập trực tiếp (Direct)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/>
                      </a:pPr>
                      <a:r>
                        <a:t>755.896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/>
                      </a:pPr>
                      <a:r>
                        <a:t>907.813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/>
                      </a:pPr>
                      <a:r>
                        <a:t>+20.1%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/>
                      </a:pPr>
                      <a:r>
                        <a:t>850.000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/>
                      </a:pPr>
                      <a:r>
                        <a:t>106.8%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/>
                      </a:pPr>
                      <a:r>
                        <a:t>Tăng trưởng mạnh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3475">
                <a:tc>
                  <a:txBody>
                    <a:bodyPr/>
                    <a:lstStyle/>
                    <a:p>
                      <a:pPr algn="l">
                        <a:defRPr sz="850" b="0"/>
                      </a:pPr>
                      <a:r>
                        <a:t>• Lưu lượng AI Search (GEO)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/>
                      </a:pPr>
                      <a:r>
                        <a:t>33.661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/>
                      </a:pPr>
                      <a:r>
                        <a:t>40.827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/>
                      </a:pPr>
                      <a:r>
                        <a:t>+25.6%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/>
                      </a:pPr>
                      <a:r>
                        <a:t>38.000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/>
                      </a:pPr>
                      <a:r>
                        <a:t>107.4%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/>
                      </a:pPr>
                      <a:r>
                        <a:t>Trích dẫn AI cao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27" name="Google Shape;427;p6"/>
          <p:cNvSpPr/>
          <p:nvPr/>
        </p:nvSpPr>
        <p:spPr>
          <a:xfrm>
            <a:off x="5715025" y="1060643"/>
            <a:ext cx="3108900" cy="317190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E0E0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8" name="Google Shape;428;p6"/>
          <p:cNvSpPr/>
          <p:nvPr/>
        </p:nvSpPr>
        <p:spPr>
          <a:xfrm>
            <a:off x="5852185" y="1121059"/>
            <a:ext cx="2834700" cy="22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50064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A50064"/>
                </a:solidFill>
                <a:latin typeface="Calibri"/>
                <a:ea typeface="Calibri"/>
                <a:cs typeface="Calibri"/>
                <a:sym typeface="Calibri"/>
              </a:rPr>
              <a:t>Key Highlights &amp; Commentary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" name="Google Shape;429;p6"/>
          <p:cNvSpPr/>
          <p:nvPr/>
        </p:nvSpPr>
        <p:spPr>
          <a:xfrm>
            <a:off x="5852185" y="1438237"/>
            <a:ext cx="1028700" cy="181200"/>
          </a:xfrm>
          <a:prstGeom prst="roundRect">
            <a:avLst>
              <a:gd name="adj" fmla="val 30271"/>
            </a:avLst>
          </a:prstGeom>
          <a:solidFill>
            <a:srgbClr val="FFE3ED"/>
          </a:solidFill>
          <a:ln w="12700" cap="flat" cmpd="sng">
            <a:solidFill>
              <a:srgbClr val="FFE3E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0" name="Google Shape;430;p6"/>
          <p:cNvSpPr/>
          <p:nvPr/>
        </p:nvSpPr>
        <p:spPr>
          <a:xfrm>
            <a:off x="5852185" y="1438237"/>
            <a:ext cx="1028700" cy="18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A50064"/>
              </a:buClr>
              <a:buSzPts val="900"/>
              <a:buFont typeface="Calibri"/>
              <a:buNone/>
            </a:pPr>
            <a:r>
              <a:rPr lang="en-US" sz="900" b="1" i="0" u="none" strike="noStrike" cap="none">
                <a:solidFill>
                  <a:srgbClr val="A50064"/>
                </a:solidFill>
                <a:latin typeface="Calibri"/>
                <a:ea typeface="Calibri"/>
                <a:cs typeface="Calibri"/>
                <a:sym typeface="Calibri"/>
              </a:rPr>
              <a:t>Performance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6"/>
          <p:cNvSpPr/>
          <p:nvPr/>
        </p:nvSpPr>
        <p:spPr>
          <a:xfrm>
            <a:off x="5852185" y="1664793"/>
            <a:ext cx="2834700" cy="151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defRPr sz="950">
                <a:solidFill>
                  <a:srgbClr val="1C171A"/>
                </a:solidFill>
              </a:defRPr>
            </a:pPr>
            <a:r>
              <a:t>• Kênh tự nhiên (Non-Paid) chính thức vượt mốc 3 triệu PVs (+14.0% MoM, đạt 3.04M views), chiếm 87.0% toàn Web (tháng 9: 69.7%).</a:t>
            </a:r>
          </a:p>
          <a:p>
            <a:pPr>
              <a:defRPr sz="950">
                <a:solidFill>
                  <a:srgbClr val="1C171A"/>
                </a:solidFill>
              </a:defRPr>
            </a:pPr>
            <a:r>
              <a:t>• Việc chủ động giảm 60.6% Paid Ads (-725K views) giúp tiết kiệm dòng tiền mà tổng lượt xem đạt 95.4% kế hoạch MTD (3.50M MTD, forecast 3.61M - 98.6% Target).</a:t>
            </a:r>
          </a:p>
          <a:p>
            <a:pPr>
              <a:defRPr sz="950">
                <a:solidFill>
                  <a:srgbClr val="1C171A"/>
                </a:solidFill>
              </a:defRPr>
            </a:pPr>
            <a:r>
              <a:t>• Lượt truy cập trực tiếp (Direct) đạt 907.813 PVs (+20.1% MoM), phản ánh sức mạnh thương hiệu và thói quen quay lại tự nhiên của người dùng.</a:t>
            </a:r>
          </a:p>
        </p:txBody>
      </p:sp>
      <p:sp>
        <p:nvSpPr>
          <p:cNvPr id="432" name="Google Shape;432;p6"/>
          <p:cNvSpPr/>
          <p:nvPr/>
        </p:nvSpPr>
        <p:spPr>
          <a:xfrm>
            <a:off x="5852185" y="3250685"/>
            <a:ext cx="1508700" cy="181200"/>
          </a:xfrm>
          <a:prstGeom prst="roundRect">
            <a:avLst>
              <a:gd name="adj" fmla="val 30271"/>
            </a:avLst>
          </a:prstGeom>
          <a:solidFill>
            <a:srgbClr val="FFE3ED"/>
          </a:solidFill>
          <a:ln w="12700" cap="flat" cmpd="sng">
            <a:solidFill>
              <a:srgbClr val="FFE3E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3" name="Google Shape;433;p6"/>
          <p:cNvSpPr/>
          <p:nvPr/>
        </p:nvSpPr>
        <p:spPr>
          <a:xfrm>
            <a:off x="5852185" y="3250685"/>
            <a:ext cx="1508700" cy="18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A50064"/>
              </a:buClr>
              <a:buSzPts val="900"/>
              <a:buFont typeface="Calibri"/>
              <a:buNone/>
            </a:pPr>
            <a:r>
              <a:rPr lang="en-US" sz="900" b="1" i="0" u="none" strike="noStrike" cap="none">
                <a:solidFill>
                  <a:srgbClr val="A50064"/>
                </a:solidFill>
                <a:latin typeface="Calibri"/>
                <a:ea typeface="Calibri"/>
                <a:cs typeface="Calibri"/>
                <a:sym typeface="Calibri"/>
              </a:rPr>
              <a:t>Lowlights / Rủi ro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p6"/>
          <p:cNvSpPr/>
          <p:nvPr/>
        </p:nvSpPr>
        <p:spPr>
          <a:xfrm>
            <a:off x="5852185" y="3477242"/>
            <a:ext cx="2834700" cy="75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defRPr sz="950">
                <a:solidFill>
                  <a:srgbClr val="1C171A"/>
                </a:solidFill>
              </a:defRPr>
            </a:pPr>
            <a:r>
              <a:t>• Rủi ro: Lưu lượng phụ thuộc vào thuật toán cập nhật của công cụ tìm kiếm và tính mùa vụ thị trường.</a:t>
            </a:r>
          </a:p>
          <a:p>
            <a:pPr>
              <a:defRPr sz="950">
                <a:solidFill>
                  <a:srgbClr val="1C171A"/>
                </a:solidFill>
              </a:defRPr>
            </a:pPr>
            <a:r>
              <a:t>• Hướng xử lý: Đa dạng hóa nguồn lưu lượng qua hệ sinh thái tiện ích tương tác, tối ưu SEO thực thể (Entity) và trích dẫn AI Overviews (GEO).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7"/>
          <p:cNvSpPr/>
          <p:nvPr/>
        </p:nvSpPr>
        <p:spPr>
          <a:xfrm>
            <a:off x="320040" y="128016"/>
            <a:ext cx="768096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850">
                <a:solidFill>
                  <a:srgbClr val="5C5060"/>
                </a:solidFill>
              </a:defRPr>
            </a:pPr>
            <a:r>
              <a:t>Mục đích: Theo dõi nhanh hiệu suất các Hubs trọng điểm (Cinema, Financial) và các chỉ số tương tác chất lượng trang.</a:t>
            </a:r>
          </a:p>
        </p:txBody>
      </p:sp>
      <p:sp>
        <p:nvSpPr>
          <p:cNvPr id="441" name="Google Shape;441;p7"/>
          <p:cNvSpPr/>
          <p:nvPr/>
        </p:nvSpPr>
        <p:spPr>
          <a:xfrm>
            <a:off x="320040" y="347472"/>
            <a:ext cx="7680960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1700" b="1">
                <a:solidFill>
                  <a:srgbClr val="1C171A"/>
                </a:solidFill>
              </a:defRPr>
            </a:pPr>
            <a:r>
              <a:t>Cinema Hub Dẫn Đầu Tăng Trưởng (+142.2% Cụm Rạp); Financial Hub Tăng Trưởng Cụm Tỷ Giá (+444.9% MoM)</a:t>
            </a:r>
          </a:p>
        </p:txBody>
      </p:sp>
      <p:sp>
        <p:nvSpPr>
          <p:cNvPr id="442" name="Google Shape;442;p7"/>
          <p:cNvSpPr/>
          <p:nvPr/>
        </p:nvSpPr>
        <p:spPr>
          <a:xfrm>
            <a:off x="8394192" y="146304"/>
            <a:ext cx="384048" cy="384048"/>
          </a:xfrm>
          <a:prstGeom prst="ellipse">
            <a:avLst/>
          </a:prstGeom>
          <a:solidFill>
            <a:srgbClr val="A50064"/>
          </a:solidFill>
          <a:ln w="12700" cap="flat" cmpd="sng">
            <a:solidFill>
              <a:srgbClr val="A5006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3" name="Google Shape;443;p7"/>
          <p:cNvSpPr/>
          <p:nvPr/>
        </p:nvSpPr>
        <p:spPr>
          <a:xfrm>
            <a:off x="8394192" y="146304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" name="Google Shape;444;p7"/>
          <p:cNvSpPr/>
          <p:nvPr/>
        </p:nvSpPr>
        <p:spPr>
          <a:xfrm>
            <a:off x="8119872" y="548640"/>
            <a:ext cx="932688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A50064"/>
              </a:buClr>
              <a:buSzPts val="750"/>
              <a:buFont typeface="Calibri"/>
              <a:buNone/>
            </a:pPr>
            <a:r>
              <a:rPr lang="en-US" sz="750" b="0" i="0" u="none" strike="noStrike" cap="none">
                <a:solidFill>
                  <a:srgbClr val="A50064"/>
                </a:solidFill>
                <a:latin typeface="Calibri"/>
                <a:ea typeface="Calibri"/>
                <a:cs typeface="Calibri"/>
                <a:sym typeface="Calibri"/>
              </a:rPr>
              <a:t>Reporting</a:t>
            </a:r>
            <a:endParaRPr sz="7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p7"/>
          <p:cNvSpPr/>
          <p:nvPr/>
        </p:nvSpPr>
        <p:spPr>
          <a:xfrm>
            <a:off x="320040" y="4873752"/>
            <a:ext cx="731520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900">
                <a:solidFill>
                  <a:srgbClr val="5C5060"/>
                </a:solidFill>
              </a:defRPr>
            </a:pPr>
            <a:r>
              <a:t>Nguồn: GA4 &amp; BigQuery   |   Owner: Web Platform   |   Chốt số liệu: 30/10/2026</a:t>
            </a:r>
          </a:p>
        </p:txBody>
      </p:sp>
      <p:sp>
        <p:nvSpPr>
          <p:cNvPr id="446" name="Google Shape;446;p7"/>
          <p:cNvSpPr/>
          <p:nvPr/>
        </p:nvSpPr>
        <p:spPr>
          <a:xfrm>
            <a:off x="8321040" y="4873752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900">
                <a:solidFill>
                  <a:srgbClr val="5C5060"/>
                </a:solidFill>
              </a:defRPr>
            </a:pPr>
            <a:r>
              <a:t>5 / 7</a:t>
            </a:r>
          </a:p>
        </p:txBody>
      </p:sp>
      <p:sp>
        <p:nvSpPr>
          <p:cNvPr id="447" name="Google Shape;447;p7"/>
          <p:cNvSpPr/>
          <p:nvPr/>
        </p:nvSpPr>
        <p:spPr>
          <a:xfrm>
            <a:off x="320040" y="896112"/>
            <a:ext cx="8503920" cy="621792"/>
          </a:xfrm>
          <a:prstGeom prst="rect">
            <a:avLst/>
          </a:prstGeom>
          <a:solidFill>
            <a:srgbClr val="FFEFF4"/>
          </a:solidFill>
          <a:ln w="12700" cap="flat" cmpd="sng">
            <a:solidFill>
              <a:srgbClr val="FFEFF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8" name="Google Shape;448;p7"/>
          <p:cNvSpPr/>
          <p:nvPr/>
        </p:nvSpPr>
        <p:spPr>
          <a:xfrm>
            <a:off x="457200" y="896112"/>
            <a:ext cx="8229600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950">
                <a:solidFill>
                  <a:srgbClr val="1C171A"/>
                </a:solidFill>
              </a:defRPr>
            </a:pPr>
            <a:r>
              <a:t>• Ý chính 1: Cinema Hub đạt 1.07M views (cụm rạp 795K views +142.2%), ra mắt cụm trang Diễn Viên và Minigame Bò Sữa Bay (85K lượt chơi).</a:t>
            </a:r>
          </a:p>
          <a:p>
            <a:pPr>
              <a:defRPr sz="950">
                <a:solidFill>
                  <a:srgbClr val="1C171A"/>
                </a:solidFill>
              </a:defRPr>
            </a:pPr>
            <a:r>
              <a:t>• Ý chính 2: Financial Hub đạt 299.5K views (+25.6%), riêng cụm Tỷ giá tăng +444.9% (34.0K views), bù đắp phần giảm của Vay Nhanh do cắt Ads.</a:t>
            </a:r>
          </a:p>
          <a:p>
            <a:pPr>
              <a:defRPr sz="950">
                <a:solidFill>
                  <a:srgbClr val="1C171A"/>
                </a:solidFill>
              </a:defRPr>
            </a:pPr>
            <a:r>
              <a:t>• Ý chính 3: Mở rộng cụm tiện ích tài chính (Thuế TNCN, Lương Gross-Net) chuẩn bị phục vụ cao điểm tra cứu cuối năm.</a:t>
            </a:r>
          </a:p>
        </p:txBody>
      </p:sp>
      <p:sp>
        <p:nvSpPr>
          <p:cNvPr id="449" name="Google Shape;449;p7"/>
          <p:cNvSpPr/>
          <p:nvPr/>
        </p:nvSpPr>
        <p:spPr>
          <a:xfrm>
            <a:off x="320040" y="1575952"/>
            <a:ext cx="5303520" cy="1812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1100" b="1">
                <a:solidFill>
                  <a:srgbClr val="D82D8B"/>
                </a:solidFill>
              </a:defRPr>
            </a:pPr>
            <a:r>
              <a:t>HIỆU SUẤT CÁC HUBS TRỌNG ĐIỂM (KEY HUBS PERFORMANCE)</a:t>
            </a:r>
          </a:p>
        </p:txBody>
      </p:sp>
      <p:cxnSp>
        <p:nvCxnSpPr>
          <p:cNvPr id="450" name="Google Shape;450;p7"/>
          <p:cNvCxnSpPr/>
          <p:nvPr/>
        </p:nvCxnSpPr>
        <p:spPr>
          <a:xfrm>
            <a:off x="320040" y="1772301"/>
            <a:ext cx="5303520" cy="0"/>
          </a:xfrm>
          <a:prstGeom prst="straightConnector1">
            <a:avLst/>
          </a:prstGeom>
          <a:noFill/>
          <a:ln w="12700" cap="flat" cmpd="sng">
            <a:solidFill>
              <a:srgbClr val="A5006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51" name="Google Shape;451;p7"/>
          <p:cNvSpPr/>
          <p:nvPr/>
        </p:nvSpPr>
        <p:spPr>
          <a:xfrm>
            <a:off x="320040" y="1855371"/>
            <a:ext cx="2606040" cy="906224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E0E0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2" name="Google Shape;452;p7"/>
          <p:cNvSpPr/>
          <p:nvPr/>
        </p:nvSpPr>
        <p:spPr>
          <a:xfrm>
            <a:off x="320040" y="1885579"/>
            <a:ext cx="2606040" cy="1661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1050" b="1">
                <a:solidFill>
                  <a:srgbClr val="1C171A"/>
                </a:solidFill>
              </a:defRPr>
            </a:pPr>
            <a:r>
              <a:t>Cinema Hub (Lưu lượng MTD)</a:t>
            </a:r>
          </a:p>
        </p:txBody>
      </p:sp>
      <p:sp>
        <p:nvSpPr>
          <p:cNvPr id="453" name="Google Shape;453;p7"/>
          <p:cNvSpPr/>
          <p:nvPr/>
        </p:nvSpPr>
        <p:spPr>
          <a:xfrm>
            <a:off x="320040" y="2036616"/>
            <a:ext cx="2606040" cy="30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2000" b="1">
                <a:solidFill>
                  <a:srgbClr val="1C171A"/>
                </a:solidFill>
              </a:defRPr>
            </a:pPr>
            <a:r>
              <a:t>1.07M</a:t>
            </a:r>
          </a:p>
        </p:txBody>
      </p:sp>
      <p:sp>
        <p:nvSpPr>
          <p:cNvPr id="454" name="Google Shape;454;p7"/>
          <p:cNvSpPr/>
          <p:nvPr/>
        </p:nvSpPr>
        <p:spPr>
          <a:xfrm>
            <a:off x="320040" y="2338691"/>
            <a:ext cx="2606040" cy="151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900" b="1">
                <a:solidFill>
                  <a:srgbClr val="059669"/>
                </a:solidFill>
              </a:defRPr>
            </a:pPr>
            <a:r>
              <a:t>▲ +31.8% MoM (Rạp: +142%)</a:t>
            </a:r>
          </a:p>
        </p:txBody>
      </p:sp>
      <p:sp>
        <p:nvSpPr>
          <p:cNvPr id="455" name="Google Shape;455;p7"/>
          <p:cNvSpPr/>
          <p:nvPr/>
        </p:nvSpPr>
        <p:spPr>
          <a:xfrm>
            <a:off x="457200" y="2519936"/>
            <a:ext cx="2331720" cy="166141"/>
          </a:xfrm>
          <a:prstGeom prst="rect">
            <a:avLst/>
          </a:prstGeom>
          <a:solidFill>
            <a:srgbClr val="1565C0"/>
          </a:solidFill>
          <a:ln w="12700" cap="flat" cmpd="sng">
            <a:solidFill>
              <a:srgbClr val="1565C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6" name="Google Shape;456;p7"/>
          <p:cNvSpPr/>
          <p:nvPr/>
        </p:nvSpPr>
        <p:spPr>
          <a:xfrm>
            <a:off x="457200" y="2519936"/>
            <a:ext cx="2331720" cy="1661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850" b="1">
                <a:solidFill>
                  <a:srgbClr val="FFFFFF"/>
                </a:solidFill>
              </a:defRPr>
            </a:pPr>
            <a:r>
              <a:t>Cụm rạp: 795K views</a:t>
            </a:r>
          </a:p>
        </p:txBody>
      </p:sp>
      <p:sp>
        <p:nvSpPr>
          <p:cNvPr id="457" name="Google Shape;457;p7"/>
          <p:cNvSpPr/>
          <p:nvPr/>
        </p:nvSpPr>
        <p:spPr>
          <a:xfrm>
            <a:off x="3017520" y="1855371"/>
            <a:ext cx="2606040" cy="906224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E0E0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8" name="Google Shape;458;p7"/>
          <p:cNvSpPr/>
          <p:nvPr/>
        </p:nvSpPr>
        <p:spPr>
          <a:xfrm>
            <a:off x="3017520" y="1885579"/>
            <a:ext cx="2606040" cy="1661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1050" b="1">
                <a:solidFill>
                  <a:srgbClr val="1C171A"/>
                </a:solidFill>
              </a:defRPr>
            </a:pPr>
            <a:r>
              <a:t>Financial Hub (Lưu lượng MTD)</a:t>
            </a:r>
          </a:p>
        </p:txBody>
      </p:sp>
      <p:sp>
        <p:nvSpPr>
          <p:cNvPr id="459" name="Google Shape;459;p7"/>
          <p:cNvSpPr/>
          <p:nvPr/>
        </p:nvSpPr>
        <p:spPr>
          <a:xfrm>
            <a:off x="3017520" y="2036616"/>
            <a:ext cx="2606040" cy="30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2000" b="1">
                <a:solidFill>
                  <a:srgbClr val="1C171A"/>
                </a:solidFill>
              </a:defRPr>
            </a:pPr>
            <a:r>
              <a:t>299.5K</a:t>
            </a:r>
          </a:p>
        </p:txBody>
      </p:sp>
      <p:sp>
        <p:nvSpPr>
          <p:cNvPr id="460" name="Google Shape;460;p7"/>
          <p:cNvSpPr/>
          <p:nvPr/>
        </p:nvSpPr>
        <p:spPr>
          <a:xfrm>
            <a:off x="3017520" y="2338691"/>
            <a:ext cx="2606040" cy="151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900" b="1">
                <a:solidFill>
                  <a:srgbClr val="059669"/>
                </a:solidFill>
              </a:defRPr>
            </a:pPr>
            <a:r>
              <a:t>▲ +25.6% MoM</a:t>
            </a:r>
          </a:p>
        </p:txBody>
      </p:sp>
      <p:sp>
        <p:nvSpPr>
          <p:cNvPr id="461" name="Google Shape;461;p7"/>
          <p:cNvSpPr/>
          <p:nvPr/>
        </p:nvSpPr>
        <p:spPr>
          <a:xfrm>
            <a:off x="3154680" y="2519936"/>
            <a:ext cx="2331720" cy="166141"/>
          </a:xfrm>
          <a:prstGeom prst="rect">
            <a:avLst/>
          </a:prstGeom>
          <a:solidFill>
            <a:srgbClr val="F57F17"/>
          </a:solidFill>
          <a:ln w="12700" cap="flat" cmpd="sng">
            <a:solidFill>
              <a:srgbClr val="F57F1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2" name="Google Shape;462;p7"/>
          <p:cNvSpPr/>
          <p:nvPr/>
        </p:nvSpPr>
        <p:spPr>
          <a:xfrm>
            <a:off x="3154680" y="2519936"/>
            <a:ext cx="2331720" cy="1661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850" b="1">
                <a:solidFill>
                  <a:srgbClr val="FFFFFF"/>
                </a:solidFill>
              </a:defRPr>
            </a:pPr>
            <a:r>
              <a:t>98.5% Kế hoạch MTD</a:t>
            </a:r>
          </a:p>
        </p:txBody>
      </p:sp>
      <p:sp>
        <p:nvSpPr>
          <p:cNvPr id="463" name="Google Shape;463;p7"/>
          <p:cNvSpPr/>
          <p:nvPr/>
        </p:nvSpPr>
        <p:spPr>
          <a:xfrm>
            <a:off x="320040" y="2837114"/>
            <a:ext cx="2606040" cy="906224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E0E0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4" name="Google Shape;464;p7"/>
          <p:cNvSpPr/>
          <p:nvPr/>
        </p:nvSpPr>
        <p:spPr>
          <a:xfrm>
            <a:off x="320040" y="2867322"/>
            <a:ext cx="2606040" cy="1661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1050" b="1">
                <a:solidFill>
                  <a:srgbClr val="1C171A"/>
                </a:solidFill>
              </a:defRPr>
            </a:pPr>
            <a:r>
              <a:t>Cụm Tỷ Giá Ngoại Tệ</a:t>
            </a:r>
          </a:p>
        </p:txBody>
      </p:sp>
      <p:sp>
        <p:nvSpPr>
          <p:cNvPr id="465" name="Google Shape;465;p7"/>
          <p:cNvSpPr/>
          <p:nvPr/>
        </p:nvSpPr>
        <p:spPr>
          <a:xfrm>
            <a:off x="320040" y="3018359"/>
            <a:ext cx="2606040" cy="30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2000" b="1">
                <a:solidFill>
                  <a:srgbClr val="4F46E5"/>
                </a:solidFill>
              </a:defRPr>
            </a:pPr>
            <a:r>
              <a:t>34.0K</a:t>
            </a:r>
          </a:p>
        </p:txBody>
      </p:sp>
      <p:sp>
        <p:nvSpPr>
          <p:cNvPr id="466" name="Google Shape;466;p7"/>
          <p:cNvSpPr/>
          <p:nvPr/>
        </p:nvSpPr>
        <p:spPr>
          <a:xfrm>
            <a:off x="320040" y="3320434"/>
            <a:ext cx="2606040" cy="151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900" b="1">
                <a:solidFill>
                  <a:srgbClr val="059669"/>
                </a:solidFill>
              </a:defRPr>
            </a:pPr>
            <a:r>
              <a:t>▲ +444.9% MoM</a:t>
            </a:r>
          </a:p>
        </p:txBody>
      </p:sp>
      <p:sp>
        <p:nvSpPr>
          <p:cNvPr id="467" name="Google Shape;467;p7"/>
          <p:cNvSpPr/>
          <p:nvPr/>
        </p:nvSpPr>
        <p:spPr>
          <a:xfrm>
            <a:off x="457200" y="3501679"/>
            <a:ext cx="2331720" cy="166141"/>
          </a:xfrm>
          <a:prstGeom prst="rect">
            <a:avLst/>
          </a:prstGeom>
          <a:solidFill>
            <a:srgbClr val="1565C0"/>
          </a:solidFill>
          <a:ln w="12700" cap="flat" cmpd="sng">
            <a:solidFill>
              <a:srgbClr val="1565C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8" name="Google Shape;468;p7"/>
          <p:cNvSpPr/>
          <p:nvPr/>
        </p:nvSpPr>
        <p:spPr>
          <a:xfrm>
            <a:off x="457200" y="3501679"/>
            <a:ext cx="2331720" cy="1661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850" b="1">
                <a:solidFill>
                  <a:srgbClr val="FFFFFF"/>
                </a:solidFill>
              </a:defRPr>
            </a:pPr>
            <a:r>
              <a:t>100% Kênh tự nhiên</a:t>
            </a:r>
          </a:p>
        </p:txBody>
      </p:sp>
      <p:sp>
        <p:nvSpPr>
          <p:cNvPr id="469" name="Google Shape;469;p7"/>
          <p:cNvSpPr/>
          <p:nvPr/>
        </p:nvSpPr>
        <p:spPr>
          <a:xfrm>
            <a:off x="3017520" y="2837114"/>
            <a:ext cx="2606040" cy="906224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E0E0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0" name="Google Shape;470;p7"/>
          <p:cNvSpPr/>
          <p:nvPr/>
        </p:nvSpPr>
        <p:spPr>
          <a:xfrm>
            <a:off x="3017520" y="2867322"/>
            <a:ext cx="2606040" cy="1661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1050" b="1">
                <a:solidFill>
                  <a:srgbClr val="1C171A"/>
                </a:solidFill>
              </a:defRPr>
            </a:pPr>
            <a:r>
              <a:t>Tra Cứu Phạt Nguội CSGT</a:t>
            </a:r>
          </a:p>
        </p:txBody>
      </p:sp>
      <p:sp>
        <p:nvSpPr>
          <p:cNvPr id="471" name="Google Shape;471;p7"/>
          <p:cNvSpPr/>
          <p:nvPr/>
        </p:nvSpPr>
        <p:spPr>
          <a:xfrm>
            <a:off x="3017520" y="3018359"/>
            <a:ext cx="2606040" cy="30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2000" b="1">
                <a:solidFill>
                  <a:srgbClr val="D82D8B"/>
                </a:solidFill>
              </a:defRPr>
            </a:pPr>
            <a:r>
              <a:t>245.0K</a:t>
            </a:r>
          </a:p>
        </p:txBody>
      </p:sp>
      <p:sp>
        <p:nvSpPr>
          <p:cNvPr id="472" name="Google Shape;472;p7"/>
          <p:cNvSpPr/>
          <p:nvPr/>
        </p:nvSpPr>
        <p:spPr>
          <a:xfrm>
            <a:off x="3017520" y="3320434"/>
            <a:ext cx="2606040" cy="151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900" b="1">
                <a:solidFill>
                  <a:srgbClr val="059669"/>
                </a:solidFill>
              </a:defRPr>
            </a:pPr>
            <a:r>
              <a:t>▲ Ổn định MoM</a:t>
            </a:r>
          </a:p>
        </p:txBody>
      </p:sp>
      <p:sp>
        <p:nvSpPr>
          <p:cNvPr id="473" name="Google Shape;473;p7"/>
          <p:cNvSpPr/>
          <p:nvPr/>
        </p:nvSpPr>
        <p:spPr>
          <a:xfrm>
            <a:off x="3154680" y="3501679"/>
            <a:ext cx="2331720" cy="166141"/>
          </a:xfrm>
          <a:prstGeom prst="rect">
            <a:avLst/>
          </a:prstGeom>
          <a:solidFill>
            <a:srgbClr val="1B5E20"/>
          </a:solidFill>
          <a:ln w="12700" cap="flat" cmpd="sng">
            <a:solidFill>
              <a:srgbClr val="1B5E2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4" name="Google Shape;474;p7"/>
          <p:cNvSpPr/>
          <p:nvPr/>
        </p:nvSpPr>
        <p:spPr>
          <a:xfrm>
            <a:off x="3154680" y="3501679"/>
            <a:ext cx="2331720" cy="1661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850" b="1">
                <a:solidFill>
                  <a:srgbClr val="FFFFFF"/>
                </a:solidFill>
              </a:defRPr>
            </a:pPr>
            <a:r>
              <a:t>Top 1 Tiện ích Web</a:t>
            </a:r>
          </a:p>
        </p:txBody>
      </p:sp>
      <p:sp>
        <p:nvSpPr>
          <p:cNvPr id="475" name="Google Shape;475;p7"/>
          <p:cNvSpPr/>
          <p:nvPr/>
        </p:nvSpPr>
        <p:spPr>
          <a:xfrm>
            <a:off x="320040" y="3841513"/>
            <a:ext cx="5303520" cy="1812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1000" b="1">
                <a:solidFill>
                  <a:srgbClr val="D82D8B"/>
                </a:solidFill>
              </a:defRPr>
            </a:pPr>
            <a:r>
              <a:t>CHỈ SỐ TƯƠNG TÁC &amp; CHẤT LƯỢNG (ENGAGEMENT &amp; QUALITY)</a:t>
            </a:r>
          </a:p>
        </p:txBody>
      </p:sp>
      <p:cxnSp>
        <p:nvCxnSpPr>
          <p:cNvPr id="476" name="Google Shape;476;p7"/>
          <p:cNvCxnSpPr/>
          <p:nvPr/>
        </p:nvCxnSpPr>
        <p:spPr>
          <a:xfrm>
            <a:off x="320040" y="4037861"/>
            <a:ext cx="5303520" cy="0"/>
          </a:xfrm>
          <a:prstGeom prst="straightConnector1">
            <a:avLst/>
          </a:prstGeom>
          <a:noFill/>
          <a:ln w="12700" cap="flat" cmpd="sng">
            <a:solidFill>
              <a:srgbClr val="A5006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77" name="Google Shape;477;p7"/>
          <p:cNvSpPr/>
          <p:nvPr/>
        </p:nvSpPr>
        <p:spPr>
          <a:xfrm>
            <a:off x="320040" y="4098276"/>
            <a:ext cx="1700784" cy="679668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E0E0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8" name="Google Shape;478;p7"/>
          <p:cNvSpPr/>
          <p:nvPr/>
        </p:nvSpPr>
        <p:spPr>
          <a:xfrm>
            <a:off x="320040" y="4120932"/>
            <a:ext cx="1700784" cy="151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900">
                <a:solidFill>
                  <a:srgbClr val="5C5060"/>
                </a:solidFill>
              </a:defRPr>
            </a:pPr>
            <a:r>
              <a:t>Thời gian lưu trang</a:t>
            </a:r>
          </a:p>
        </p:txBody>
      </p:sp>
      <p:sp>
        <p:nvSpPr>
          <p:cNvPr id="479" name="Google Shape;479;p7"/>
          <p:cNvSpPr/>
          <p:nvPr/>
        </p:nvSpPr>
        <p:spPr>
          <a:xfrm>
            <a:off x="320040" y="4271969"/>
            <a:ext cx="1700784" cy="30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1600" b="1">
                <a:solidFill>
                  <a:srgbClr val="1C171A"/>
                </a:solidFill>
              </a:defRPr>
            </a:pPr>
            <a:r>
              <a:t>2.45p</a:t>
            </a:r>
          </a:p>
        </p:txBody>
      </p:sp>
      <p:sp>
        <p:nvSpPr>
          <p:cNvPr id="480" name="Google Shape;480;p7"/>
          <p:cNvSpPr/>
          <p:nvPr/>
        </p:nvSpPr>
        <p:spPr>
          <a:xfrm>
            <a:off x="320040" y="4574044"/>
            <a:ext cx="1700784" cy="151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850" b="1">
                <a:solidFill>
                  <a:srgbClr val="059669"/>
                </a:solidFill>
              </a:defRPr>
            </a:pPr>
            <a:r>
              <a:t>▲ +45s (nhóm tool)</a:t>
            </a:r>
          </a:p>
        </p:txBody>
      </p:sp>
      <p:sp>
        <p:nvSpPr>
          <p:cNvPr id="481" name="Google Shape;481;p7"/>
          <p:cNvSpPr/>
          <p:nvPr/>
        </p:nvSpPr>
        <p:spPr>
          <a:xfrm>
            <a:off x="2121408" y="4098276"/>
            <a:ext cx="1700784" cy="679668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E0E0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2" name="Google Shape;482;p7"/>
          <p:cNvSpPr/>
          <p:nvPr/>
        </p:nvSpPr>
        <p:spPr>
          <a:xfrm>
            <a:off x="2121408" y="4120932"/>
            <a:ext cx="1700784" cy="151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900">
                <a:solidFill>
                  <a:srgbClr val="5C5060"/>
                </a:solidFill>
              </a:defRPr>
            </a:pPr>
            <a:r>
              <a:t>Tỷ lệ thoát trang</a:t>
            </a:r>
          </a:p>
        </p:txBody>
      </p:sp>
      <p:sp>
        <p:nvSpPr>
          <p:cNvPr id="483" name="Google Shape;483;p7"/>
          <p:cNvSpPr/>
          <p:nvPr/>
        </p:nvSpPr>
        <p:spPr>
          <a:xfrm>
            <a:off x="2121408" y="4271969"/>
            <a:ext cx="1700784" cy="30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1600" b="1">
                <a:solidFill>
                  <a:srgbClr val="059669"/>
                </a:solidFill>
              </a:defRPr>
            </a:pPr>
            <a:r>
              <a:t>42.1%</a:t>
            </a:r>
          </a:p>
        </p:txBody>
      </p:sp>
      <p:sp>
        <p:nvSpPr>
          <p:cNvPr id="484" name="Google Shape;484;p7"/>
          <p:cNvSpPr/>
          <p:nvPr/>
        </p:nvSpPr>
        <p:spPr>
          <a:xfrm>
            <a:off x="2121408" y="4574044"/>
            <a:ext cx="1700784" cy="151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850" b="1">
                <a:solidFill>
                  <a:srgbClr val="059669"/>
                </a:solidFill>
              </a:defRPr>
            </a:pPr>
            <a:r>
              <a:t>▼ -18.5 pp (sạch Ads)</a:t>
            </a:r>
          </a:p>
        </p:txBody>
      </p:sp>
      <p:sp>
        <p:nvSpPr>
          <p:cNvPr id="485" name="Google Shape;485;p7"/>
          <p:cNvSpPr/>
          <p:nvPr/>
        </p:nvSpPr>
        <p:spPr>
          <a:xfrm>
            <a:off x="3922776" y="4098276"/>
            <a:ext cx="1700784" cy="679668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E0E0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7"/>
          <p:cNvSpPr/>
          <p:nvPr/>
        </p:nvSpPr>
        <p:spPr>
          <a:xfrm>
            <a:off x="3922776" y="4120932"/>
            <a:ext cx="1700784" cy="151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900">
                <a:solidFill>
                  <a:srgbClr val="5C5060"/>
                </a:solidFill>
              </a:defRPr>
            </a:pPr>
            <a:r>
              <a:t>Hồ sơ Diễn viên</a:t>
            </a:r>
          </a:p>
        </p:txBody>
      </p:sp>
      <p:sp>
        <p:nvSpPr>
          <p:cNvPr id="487" name="Google Shape;487;p7"/>
          <p:cNvSpPr/>
          <p:nvPr/>
        </p:nvSpPr>
        <p:spPr>
          <a:xfrm>
            <a:off x="3922776" y="4271969"/>
            <a:ext cx="1700784" cy="30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1600" b="1">
                <a:solidFill>
                  <a:srgbClr val="1C171A"/>
                </a:solidFill>
              </a:defRPr>
            </a:pPr>
            <a:r>
              <a:t>1.200+</a:t>
            </a:r>
          </a:p>
        </p:txBody>
      </p:sp>
      <p:sp>
        <p:nvSpPr>
          <p:cNvPr id="488" name="Google Shape;488;p7"/>
          <p:cNvSpPr/>
          <p:nvPr/>
        </p:nvSpPr>
        <p:spPr>
          <a:xfrm>
            <a:off x="3922776" y="4574044"/>
            <a:ext cx="1700784" cy="151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850" b="1">
                <a:solidFill>
                  <a:srgbClr val="4F46E5"/>
                </a:solidFill>
              </a:defRPr>
            </a:pPr>
            <a:r>
              <a:t>▲ Mới go-live T10</a:t>
            </a:r>
          </a:p>
        </p:txBody>
      </p:sp>
      <p:sp>
        <p:nvSpPr>
          <p:cNvPr id="489" name="Google Shape;489;p7"/>
          <p:cNvSpPr/>
          <p:nvPr/>
        </p:nvSpPr>
        <p:spPr>
          <a:xfrm>
            <a:off x="5715000" y="1591056"/>
            <a:ext cx="3108960" cy="3171785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E0E0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0" name="Google Shape;490;p7"/>
          <p:cNvSpPr/>
          <p:nvPr/>
        </p:nvSpPr>
        <p:spPr>
          <a:xfrm>
            <a:off x="5852160" y="1651471"/>
            <a:ext cx="2834640" cy="226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50064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A50064"/>
                </a:solidFill>
                <a:latin typeface="Calibri"/>
                <a:ea typeface="Calibri"/>
                <a:cs typeface="Calibri"/>
                <a:sym typeface="Calibri"/>
              </a:rPr>
              <a:t>Key Highlights &amp; Commentary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1" name="Google Shape;491;p7"/>
          <p:cNvSpPr/>
          <p:nvPr/>
        </p:nvSpPr>
        <p:spPr>
          <a:xfrm>
            <a:off x="5852160" y="1968649"/>
            <a:ext cx="1028700" cy="181245"/>
          </a:xfrm>
          <a:prstGeom prst="roundRect">
            <a:avLst>
              <a:gd name="adj" fmla="val 30271"/>
            </a:avLst>
          </a:prstGeom>
          <a:solidFill>
            <a:srgbClr val="FFE3ED"/>
          </a:solidFill>
          <a:ln w="12700" cap="flat" cmpd="sng">
            <a:solidFill>
              <a:srgbClr val="FFE3E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2" name="Google Shape;492;p7"/>
          <p:cNvSpPr/>
          <p:nvPr/>
        </p:nvSpPr>
        <p:spPr>
          <a:xfrm>
            <a:off x="5852160" y="1968649"/>
            <a:ext cx="1028700" cy="1812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A50064"/>
              </a:buClr>
              <a:buSzPts val="900"/>
              <a:buFont typeface="Calibri"/>
              <a:buNone/>
            </a:pPr>
            <a:r>
              <a:rPr lang="en-US" sz="900" b="1" i="0" u="none" strike="noStrike" cap="none">
                <a:solidFill>
                  <a:srgbClr val="A50064"/>
                </a:solidFill>
                <a:latin typeface="Calibri"/>
                <a:ea typeface="Calibri"/>
                <a:cs typeface="Calibri"/>
                <a:sym typeface="Calibri"/>
              </a:rPr>
              <a:t>Performance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3" name="Google Shape;493;p7"/>
          <p:cNvSpPr/>
          <p:nvPr/>
        </p:nvSpPr>
        <p:spPr>
          <a:xfrm>
            <a:off x="5852160" y="2195205"/>
            <a:ext cx="2834640" cy="15103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defRPr sz="950">
                <a:solidFill>
                  <a:srgbClr val="1C171A"/>
                </a:solidFill>
              </a:defRPr>
            </a:pPr>
            <a:r>
              <a:t>• Cinema Hub: Đạt 1.07M views (+31.8% MoM), cụm rạp đối tác bứt phá 795K views (+142.2%), chiếm 74.6% lưu lượng; đã go-live 1.200 hồ sơ diễn viên.</a:t>
            </a:r>
          </a:p>
          <a:p>
            <a:pPr>
              <a:defRPr sz="950">
                <a:solidFill>
                  <a:srgbClr val="1C171A"/>
                </a:solidFill>
              </a:defRPr>
            </a:pPr>
            <a:r>
              <a:t>• Financial Hub: Đạt 299.5K views (+25.6%), cụm Tỷ giá tăng đột phá +444.9% (34.0K views) nhờ cập nhật real-time 20+ ngân hàng.</a:t>
            </a:r>
          </a:p>
        </p:txBody>
      </p:sp>
      <p:sp>
        <p:nvSpPr>
          <p:cNvPr id="494" name="Google Shape;494;p7"/>
          <p:cNvSpPr/>
          <p:nvPr/>
        </p:nvSpPr>
        <p:spPr>
          <a:xfrm>
            <a:off x="5852160" y="3781098"/>
            <a:ext cx="1165860" cy="181245"/>
          </a:xfrm>
          <a:prstGeom prst="roundRect">
            <a:avLst>
              <a:gd name="adj" fmla="val 30271"/>
            </a:avLst>
          </a:prstGeom>
          <a:solidFill>
            <a:srgbClr val="FFE3ED"/>
          </a:solidFill>
          <a:ln w="12700" cap="flat" cmpd="sng">
            <a:solidFill>
              <a:srgbClr val="FFE3E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5" name="Google Shape;495;p7"/>
          <p:cNvSpPr/>
          <p:nvPr/>
        </p:nvSpPr>
        <p:spPr>
          <a:xfrm>
            <a:off x="5852160" y="3781098"/>
            <a:ext cx="1165860" cy="1812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A50064"/>
              </a:buClr>
              <a:buSzPts val="900"/>
              <a:buFont typeface="Calibri"/>
              <a:buNone/>
            </a:pPr>
            <a:r>
              <a:rPr lang="en-US" sz="900" b="1" i="0" u="none" strike="noStrike" cap="none">
                <a:solidFill>
                  <a:srgbClr val="A50064"/>
                </a:solidFill>
                <a:latin typeface="Calibri"/>
                <a:ea typeface="Calibri"/>
                <a:cs typeface="Calibri"/>
                <a:sym typeface="Calibri"/>
              </a:rPr>
              <a:t>Other Metrics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7"/>
          <p:cNvSpPr/>
          <p:nvPr/>
        </p:nvSpPr>
        <p:spPr>
          <a:xfrm>
            <a:off x="5852160" y="4007654"/>
            <a:ext cx="2834640" cy="755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defRPr sz="950">
                <a:solidFill>
                  <a:srgbClr val="1C171A"/>
                </a:solidFill>
              </a:defRPr>
            </a:pPr>
            <a:r>
              <a:t>• Vay Nhanh giảm -31.2K views do cắt 61% Paid Ads -&gt; Cần đẩy mạnh SEO On-Page và chèn liên kết nội bộ từ các tiện ích tài chính để bù đắp tự nhiên.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Google Shape;578;p9"/>
          <p:cNvSpPr/>
          <p:nvPr/>
        </p:nvSpPr>
        <p:spPr>
          <a:xfrm>
            <a:off x="320040" y="128016"/>
            <a:ext cx="768096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850">
                <a:solidFill>
                  <a:srgbClr val="5C5060"/>
                </a:solidFill>
              </a:defRPr>
            </a:pPr>
            <a:r>
              <a:t>Mục đích: Cập nhật tiến độ 8 sản phẩm/tiện ích mới và chứng minh hiệu quả giữ chân người dùng của mô hình công cụ tương tác.</a:t>
            </a:r>
          </a:p>
        </p:txBody>
      </p:sp>
      <p:sp>
        <p:nvSpPr>
          <p:cNvPr id="579" name="Google Shape;579;p9"/>
          <p:cNvSpPr/>
          <p:nvPr/>
        </p:nvSpPr>
        <p:spPr>
          <a:xfrm>
            <a:off x="320040" y="347472"/>
            <a:ext cx="7680960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1700" b="1">
                <a:solidFill>
                  <a:srgbClr val="1C171A"/>
                </a:solidFill>
              </a:defRPr>
            </a:pPr>
            <a:r>
              <a:t>Hệ Sinh Thái Sản Phẩm &amp; Tiện Ích Mới: 8 Công Cụ Đời Sống &amp; Tài Chính Thúc Đẩy Lưu Lượng Tự Nhiên</a:t>
            </a:r>
          </a:p>
        </p:txBody>
      </p:sp>
      <p:sp>
        <p:nvSpPr>
          <p:cNvPr id="580" name="Google Shape;580;p9"/>
          <p:cNvSpPr/>
          <p:nvPr/>
        </p:nvSpPr>
        <p:spPr>
          <a:xfrm>
            <a:off x="8394192" y="146304"/>
            <a:ext cx="384048" cy="384048"/>
          </a:xfrm>
          <a:prstGeom prst="ellipse">
            <a:avLst/>
          </a:prstGeom>
          <a:solidFill>
            <a:srgbClr val="A50064"/>
          </a:solidFill>
          <a:ln w="12700" cap="flat" cmpd="sng">
            <a:solidFill>
              <a:srgbClr val="A5006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1" name="Google Shape;581;p9"/>
          <p:cNvSpPr/>
          <p:nvPr/>
        </p:nvSpPr>
        <p:spPr>
          <a:xfrm>
            <a:off x="8394192" y="146304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2" name="Google Shape;582;p9"/>
          <p:cNvSpPr/>
          <p:nvPr/>
        </p:nvSpPr>
        <p:spPr>
          <a:xfrm>
            <a:off x="8119872" y="548640"/>
            <a:ext cx="932688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A50064"/>
              </a:buClr>
              <a:buSzPts val="750"/>
              <a:buFont typeface="Calibri"/>
              <a:buNone/>
            </a:pPr>
            <a:r>
              <a:rPr lang="en-US" sz="750" b="0" i="0" u="none" strike="noStrike" cap="none">
                <a:solidFill>
                  <a:srgbClr val="A50064"/>
                </a:solidFill>
                <a:latin typeface="Calibri"/>
                <a:ea typeface="Calibri"/>
                <a:cs typeface="Calibri"/>
                <a:sym typeface="Calibri"/>
              </a:rPr>
              <a:t>Reporting</a:t>
            </a:r>
            <a:endParaRPr sz="7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3" name="Google Shape;583;p9"/>
          <p:cNvSpPr/>
          <p:nvPr/>
        </p:nvSpPr>
        <p:spPr>
          <a:xfrm>
            <a:off x="320040" y="4873752"/>
            <a:ext cx="731520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900">
                <a:solidFill>
                  <a:srgbClr val="5C5060"/>
                </a:solidFill>
              </a:defRPr>
            </a:pPr>
            <a:r>
              <a:t>Nguồn: GA4 &amp; Web Platform Utilities   |   Owner: Web Platform   |   Chốt số liệu: 30/10/2026</a:t>
            </a:r>
          </a:p>
        </p:txBody>
      </p:sp>
      <p:sp>
        <p:nvSpPr>
          <p:cNvPr id="584" name="Google Shape;584;p9"/>
          <p:cNvSpPr/>
          <p:nvPr/>
        </p:nvSpPr>
        <p:spPr>
          <a:xfrm>
            <a:off x="8321040" y="4873752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900">
                <a:solidFill>
                  <a:srgbClr val="5C5060"/>
                </a:solidFill>
              </a:defRPr>
            </a:pPr>
            <a:r>
              <a:t>6 / 7</a:t>
            </a:r>
          </a:p>
        </p:txBody>
      </p:sp>
      <p:sp>
        <p:nvSpPr>
          <p:cNvPr id="585" name="Google Shape;585;p9"/>
          <p:cNvSpPr/>
          <p:nvPr/>
        </p:nvSpPr>
        <p:spPr>
          <a:xfrm>
            <a:off x="320040" y="896112"/>
            <a:ext cx="8503920" cy="621792"/>
          </a:xfrm>
          <a:prstGeom prst="rect">
            <a:avLst/>
          </a:prstGeom>
          <a:solidFill>
            <a:srgbClr val="FFEFF4"/>
          </a:solidFill>
          <a:ln w="12700" cap="flat" cmpd="sng">
            <a:solidFill>
              <a:srgbClr val="FFEFF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6" name="Google Shape;586;p9"/>
          <p:cNvSpPr/>
          <p:nvPr/>
        </p:nvSpPr>
        <p:spPr>
          <a:xfrm>
            <a:off x="457200" y="896112"/>
            <a:ext cx="8229600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950">
                <a:solidFill>
                  <a:srgbClr val="1C171A"/>
                </a:solidFill>
              </a:defRPr>
            </a:pPr>
            <a:r>
              <a:t>• Ý chính 1: Đã và đang triển khai 8 tiện ích sản phẩm mới nhằm mở rộng điểm chạm tìm kiếm tự nhiên ngoài bài viết nội dung truyền thống.</a:t>
            </a:r>
          </a:p>
          <a:p>
            <a:pPr>
              <a:defRPr sz="950">
                <a:solidFill>
                  <a:srgbClr val="1C171A"/>
                </a:solidFill>
              </a:defRPr>
            </a:pPr>
            <a:r>
              <a:t>• Ý chính 2: Cụm tiện ích Tỷ giá (+445% MoM) và Diễn viên chứng minh mô hình công cụ tương tác giữ chân người dùng hiệu quả hơn 3.2 lần so với bài viết tĩnh.</a:t>
            </a:r>
          </a:p>
        </p:txBody>
      </p:sp>
      <p:graphicFrame>
        <p:nvGraphicFramePr>
          <p:cNvPr id="587" name="Google Shape;587;p9"/>
          <p:cNvGraphicFramePr/>
          <p:nvPr/>
        </p:nvGraphicFramePr>
        <p:xfrm>
          <a:off x="320040" y="1591056"/>
          <a:ext cx="5303500" cy="2614555"/>
        </p:xfrm>
        <a:graphic>
          <a:graphicData uri="http://schemas.openxmlformats.org/drawingml/2006/table">
            <a:tbl>
              <a:tblPr>
                <a:noFill/>
                <a:tableStyleId>{E4150D1B-22CA-4B41-9D43-DA15F05A9917}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6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86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6550"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Sản phẩm / Tiện ích mới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500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Trạng thái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500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Lưu lượng MTD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500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Điểm nổi bật &amp; Vai trò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500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Kế hoạch T11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500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7425">
                <a:tc>
                  <a:txBody>
                    <a:bodyPr/>
                    <a:lstStyle/>
                    <a:p>
                      <a:pPr algn="l">
                        <a:defRPr sz="800" b="1"/>
                      </a:pPr>
                      <a:r>
                        <a:t>1. Cụm Trang Diễn Viên (/cinema/person)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0"/>
                      </a:pPr>
                      <a:r>
                        <a:t>Go-live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0"/>
                      </a:pPr>
                      <a:r>
                        <a:t>150K PVs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800" b="0"/>
                      </a:pPr>
                      <a:r>
                        <a:t>1.200+ hồ sơ nghệ sĩ, tối ưu SEO thực thể diễn viên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0"/>
                      </a:pPr>
                      <a:r>
                        <a:t>Mở rộng hồ sơ phim Tết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7425">
                <a:tc>
                  <a:txBody>
                    <a:bodyPr/>
                    <a:lstStyle/>
                    <a:p>
                      <a:pPr algn="l">
                        <a:defRPr sz="800" b="1"/>
                      </a:pPr>
                      <a:r>
                        <a:t>2. Tiện Ích Tỷ Giá (/tai-chinh/ty-gia)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0"/>
                      </a:pPr>
                      <a:r>
                        <a:t>Hoạt động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0"/>
                      </a:pPr>
                      <a:r>
                        <a:t>34.0K (+445%)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800" b="0"/>
                      </a:pPr>
                      <a:r>
                        <a:t>Tự động cập nhật 20+ ngân hàng thương mại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0"/>
                      </a:pPr>
                      <a:r>
                        <a:t>Tích hợp biểu đồ tỷ giá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7425">
                <a:tc>
                  <a:txBody>
                    <a:bodyPr/>
                    <a:lstStyle/>
                    <a:p>
                      <a:pPr algn="l">
                        <a:defRPr sz="800" b="1"/>
                      </a:pPr>
                      <a:r>
                        <a:t>3. Bộ Đôi Công Cụ Thuế &amp; Lương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0"/>
                      </a:pPr>
                      <a:r>
                        <a:t>Staging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0"/>
                      </a:pPr>
                      <a:r>
                        <a:t>Kỳ vọng 300K+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800" b="0"/>
                      </a:pPr>
                      <a:r>
                        <a:t>Tính thuế TNCN &amp; Lương Gross-Net chuẩn mới nhất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0"/>
                      </a:pPr>
                      <a:r>
                        <a:t>Go-live đón quyết toán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88" name="Google Shape;588;p9"/>
          <p:cNvSpPr/>
          <p:nvPr/>
        </p:nvSpPr>
        <p:spPr>
          <a:xfrm>
            <a:off x="5715000" y="1591056"/>
            <a:ext cx="3108960" cy="3171785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E0E0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9" name="Google Shape;589;p9"/>
          <p:cNvSpPr/>
          <p:nvPr/>
        </p:nvSpPr>
        <p:spPr>
          <a:xfrm>
            <a:off x="5852160" y="1651471"/>
            <a:ext cx="2834640" cy="226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50064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A50064"/>
                </a:solidFill>
                <a:latin typeface="Calibri"/>
                <a:ea typeface="Calibri"/>
                <a:cs typeface="Calibri"/>
                <a:sym typeface="Calibri"/>
              </a:rPr>
              <a:t>Key Highlights &amp; Commentary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0" name="Google Shape;590;p9"/>
          <p:cNvSpPr/>
          <p:nvPr/>
        </p:nvSpPr>
        <p:spPr>
          <a:xfrm>
            <a:off x="5852160" y="1968649"/>
            <a:ext cx="1028700" cy="181245"/>
          </a:xfrm>
          <a:prstGeom prst="roundRect">
            <a:avLst>
              <a:gd name="adj" fmla="val 30271"/>
            </a:avLst>
          </a:prstGeom>
          <a:solidFill>
            <a:srgbClr val="FFE3ED"/>
          </a:solidFill>
          <a:ln w="12700" cap="flat" cmpd="sng">
            <a:solidFill>
              <a:srgbClr val="FFE3E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1" name="Google Shape;591;p9"/>
          <p:cNvSpPr/>
          <p:nvPr/>
        </p:nvSpPr>
        <p:spPr>
          <a:xfrm>
            <a:off x="5852160" y="1968649"/>
            <a:ext cx="1028700" cy="1812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A50064"/>
              </a:buClr>
              <a:buSzPts val="900"/>
              <a:buFont typeface="Calibri"/>
              <a:buNone/>
            </a:pPr>
            <a:r>
              <a:rPr lang="en-US" sz="900" b="1" i="0" u="none" strike="noStrike" cap="none">
                <a:solidFill>
                  <a:srgbClr val="A50064"/>
                </a:solidFill>
                <a:latin typeface="Calibri"/>
                <a:ea typeface="Calibri"/>
                <a:cs typeface="Calibri"/>
                <a:sym typeface="Calibri"/>
              </a:rPr>
              <a:t>Performance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2" name="Google Shape;592;p9"/>
          <p:cNvSpPr/>
          <p:nvPr/>
        </p:nvSpPr>
        <p:spPr>
          <a:xfrm>
            <a:off x="5852160" y="2195205"/>
            <a:ext cx="2834640" cy="1208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defRPr sz="950">
                <a:solidFill>
                  <a:srgbClr val="1C171A"/>
                </a:solidFill>
              </a:defRPr>
            </a:pPr>
            <a:r>
              <a:t>• Nhóm công cụ tra cứu (Tỷ giá, Giá vàng, Phạt nguội) ghi nhận thời gian tương tác trung bình &gt;2.0 phút, cao hơn đáng kể so với bài tin tức.</a:t>
            </a:r>
          </a:p>
          <a:p>
            <a:pPr>
              <a:defRPr sz="950">
                <a:solidFill>
                  <a:srgbClr val="1C171A"/>
                </a:solidFill>
              </a:defRPr>
            </a:pPr>
            <a:r>
              <a:t>• Cụm trang Diễn viên (/cinema/person) mở rộng thêm 1.200 hồ sơ nghệ sĩ, đón đầu xu hướng SEO thực thể (Entity SEO).</a:t>
            </a:r>
          </a:p>
        </p:txBody>
      </p:sp>
      <p:sp>
        <p:nvSpPr>
          <p:cNvPr id="593" name="Google Shape;593;p9"/>
          <p:cNvSpPr/>
          <p:nvPr/>
        </p:nvSpPr>
        <p:spPr>
          <a:xfrm>
            <a:off x="5852160" y="3479023"/>
            <a:ext cx="822960" cy="181245"/>
          </a:xfrm>
          <a:prstGeom prst="roundRect">
            <a:avLst>
              <a:gd name="adj" fmla="val 30271"/>
            </a:avLst>
          </a:prstGeom>
          <a:solidFill>
            <a:srgbClr val="FFE3ED"/>
          </a:solidFill>
          <a:ln w="12700" cap="flat" cmpd="sng">
            <a:solidFill>
              <a:srgbClr val="FFE3E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4" name="Google Shape;594;p9"/>
          <p:cNvSpPr/>
          <p:nvPr/>
        </p:nvSpPr>
        <p:spPr>
          <a:xfrm>
            <a:off x="5852160" y="3479023"/>
            <a:ext cx="822960" cy="1812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A50064"/>
              </a:buClr>
              <a:buSzPts val="900"/>
              <a:buFont typeface="Calibri"/>
              <a:buNone/>
            </a:pPr>
            <a:r>
              <a:rPr lang="en-US" sz="900" b="1" i="0" u="none" strike="noStrike" cap="none">
                <a:solidFill>
                  <a:srgbClr val="A50064"/>
                </a:solidFill>
                <a:latin typeface="Calibri"/>
                <a:ea typeface="Calibri"/>
                <a:cs typeface="Calibri"/>
                <a:sym typeface="Calibri"/>
              </a:rPr>
              <a:t>Lưu ý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5" name="Google Shape;595;p9"/>
          <p:cNvSpPr/>
          <p:nvPr/>
        </p:nvSpPr>
        <p:spPr>
          <a:xfrm>
            <a:off x="5852160" y="3705579"/>
            <a:ext cx="2834640" cy="1057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defRPr sz="950">
                <a:solidFill>
                  <a:srgbClr val="1C171A"/>
                </a:solidFill>
              </a:defRPr>
            </a:pPr>
            <a:r>
              <a:t>• Tập trung nguồn lực đưa bộ đôi công cụ Thuế TNCN &amp; Tính Lương Gross-Net lên Production trong tháng 11/2026 để đón đỉnh tìm kiếm quyết toán cuối năm.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h19034d514f5d6f97_0_2164"/>
          <p:cNvSpPr/>
          <p:nvPr/>
        </p:nvSpPr>
        <p:spPr>
          <a:xfrm>
            <a:off x="342900" y="171450"/>
            <a:ext cx="7406400" cy="20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850">
                <a:solidFill>
                  <a:srgbClr val="5C5060"/>
                </a:solidFill>
              </a:defRPr>
            </a:pPr>
            <a:r>
              <a:t>Mục đích: Cho người đọc hiểu tiến độ các mốc dự án Q4/2026 và các đề xuất hỗ trợ liên phòng ban cần chốt.</a:t>
            </a:r>
          </a:p>
        </p:txBody>
      </p:sp>
      <p:sp>
        <p:nvSpPr>
          <p:cNvPr id="602" name="Google Shape;602;h19034d514f5d6f97_0_2164"/>
          <p:cNvSpPr/>
          <p:nvPr/>
        </p:nvSpPr>
        <p:spPr>
          <a:xfrm>
            <a:off x="342900" y="425196"/>
            <a:ext cx="8456100" cy="58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defRPr sz="1700" b="1">
                <a:solidFill>
                  <a:srgbClr val="1C171A"/>
                </a:solidFill>
              </a:defRPr>
            </a:pPr>
            <a:r>
              <a:t>Lộ Trình Quý 4: Đưa 4 Tiện Ích Thuế &amp; Tính Lương Lên Production, Chuẩn Bị Toàn Diện Cho Cao Điểm Tết 2027</a:t>
            </a:r>
          </a:p>
        </p:txBody>
      </p:sp>
      <p:sp>
        <p:nvSpPr>
          <p:cNvPr id="603" name="Google Shape;603;h19034d514f5d6f97_0_2164"/>
          <p:cNvSpPr/>
          <p:nvPr/>
        </p:nvSpPr>
        <p:spPr>
          <a:xfrm>
            <a:off x="342900" y="1062990"/>
            <a:ext cx="8456100" cy="754500"/>
          </a:xfrm>
          <a:prstGeom prst="rect">
            <a:avLst/>
          </a:prstGeom>
          <a:solidFill>
            <a:srgbClr val="FFEFF4"/>
          </a:solidFill>
          <a:ln>
            <a:noFill/>
          </a:ln>
        </p:spPr>
        <p:txBody>
          <a:bodyPr spcFirstLastPara="1" wrap="square" lIns="95250" tIns="95250" rIns="95250" bIns="95250" anchor="ctr" anchorCtr="0">
            <a:noAutofit/>
          </a:bodyPr>
          <a:lstStyle/>
          <a:p>
            <a:pPr>
              <a:defRPr sz="950">
                <a:solidFill>
                  <a:srgbClr val="1C171A"/>
                </a:solidFill>
              </a:defRPr>
            </a:pPr>
            <a:r>
              <a:t>• Ý chính 1: Hoàn thành 100% mốc Dev cho 4 tiện ích tài chính (Thuế TNCN, Lương Gross-Net, BHXH, Tính SIP).</a:t>
            </a:r>
          </a:p>
          <a:p>
            <a:pPr>
              <a:defRPr sz="950">
                <a:solidFill>
                  <a:srgbClr val="1C171A"/>
                </a:solidFill>
              </a:defRPr>
            </a:pPr>
            <a:r>
              <a:t>• Ý chính 2: Mốc UAT dự kiến hoàn tất trước 12/11; go-live Production chính thức trước 20/11 để phục vụ nhu cầu quyết toán cuối năm.</a:t>
            </a:r>
          </a:p>
          <a:p>
            <a:pPr>
              <a:defRPr sz="950">
                <a:solidFill>
                  <a:srgbClr val="1C171A"/>
                </a:solidFill>
              </a:defRPr>
            </a:pPr>
            <a:r>
              <a:t>• Ý chính 3: Cần 3 nội dung hỗ trợ từ BOM, HR và Pháp chế để bảo đảm tiến độ triển khai.</a:t>
            </a:r>
          </a:p>
        </p:txBody>
      </p:sp>
      <p:sp>
        <p:nvSpPr>
          <p:cNvPr id="604" name="Google Shape;604;h19034d514f5d6f97_0_2164"/>
          <p:cNvSpPr/>
          <p:nvPr/>
        </p:nvSpPr>
        <p:spPr>
          <a:xfrm>
            <a:off x="342900" y="4766310"/>
            <a:ext cx="8456100" cy="20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900">
                <a:solidFill>
                  <a:srgbClr val="5C5060"/>
                </a:solidFill>
              </a:defRPr>
            </a:pPr>
            <a:r>
              <a:t>Nguồn: Jira &amp; Web Platform Roadmap   |   Owner: Web Platform   |   Chốt số liệu: 30/10/2026</a:t>
            </a:r>
          </a:p>
        </p:txBody>
      </p:sp>
      <p:sp>
        <p:nvSpPr>
          <p:cNvPr id="605" name="Google Shape;605;h19034d514f5d6f97_0_2164"/>
          <p:cNvSpPr/>
          <p:nvPr/>
        </p:nvSpPr>
        <p:spPr>
          <a:xfrm>
            <a:off x="342900" y="1954530"/>
            <a:ext cx="5349300" cy="20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50064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A50064"/>
                </a:solidFill>
                <a:latin typeface="Calibri"/>
                <a:ea typeface="Calibri"/>
                <a:cs typeface="Calibri"/>
                <a:sym typeface="Calibri"/>
              </a:rPr>
              <a:t>Mốc dự án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06" name="Google Shape;606;h19034d514f5d6f97_0_2164"/>
          <p:cNvCxnSpPr/>
          <p:nvPr/>
        </p:nvCxnSpPr>
        <p:spPr>
          <a:xfrm>
            <a:off x="891540" y="2708910"/>
            <a:ext cx="4251900" cy="0"/>
          </a:xfrm>
          <a:prstGeom prst="straightConnector1">
            <a:avLst/>
          </a:prstGeom>
          <a:noFill/>
          <a:ln w="28575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607" name="Google Shape;607;h19034d514f5d6f97_0_2164"/>
          <p:cNvCxnSpPr/>
          <p:nvPr/>
        </p:nvCxnSpPr>
        <p:spPr>
          <a:xfrm>
            <a:off x="891540" y="2708910"/>
            <a:ext cx="2126100" cy="0"/>
          </a:xfrm>
          <a:prstGeom prst="straightConnector1">
            <a:avLst/>
          </a:prstGeom>
          <a:noFill/>
          <a:ln w="28575" cap="flat" cmpd="sng">
            <a:solidFill>
              <a:srgbClr val="A5006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08" name="Google Shape;608;h19034d514f5d6f97_0_2164"/>
          <p:cNvSpPr/>
          <p:nvPr/>
        </p:nvSpPr>
        <p:spPr>
          <a:xfrm>
            <a:off x="788670" y="2606040"/>
            <a:ext cx="205800" cy="205800"/>
          </a:xfrm>
          <a:prstGeom prst="ellipse">
            <a:avLst/>
          </a:prstGeom>
          <a:solidFill>
            <a:srgbClr val="A50064"/>
          </a:solidFill>
          <a:ln w="19050" cap="flat" cmpd="sng">
            <a:solidFill>
              <a:srgbClr val="A5006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9" name="Google Shape;609;h19034d514f5d6f97_0_2164"/>
          <p:cNvSpPr/>
          <p:nvPr/>
        </p:nvSpPr>
        <p:spPr>
          <a:xfrm>
            <a:off x="411480" y="2228850"/>
            <a:ext cx="9600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Calibri"/>
              <a:buNone/>
            </a:pPr>
            <a:r>
              <a:rPr lang="en-US" sz="1000" b="1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Kickoff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0" name="Google Shape;610;h19034d514f5d6f97_0_2164"/>
          <p:cNvSpPr/>
          <p:nvPr/>
        </p:nvSpPr>
        <p:spPr>
          <a:xfrm>
            <a:off x="411480" y="2880360"/>
            <a:ext cx="960000" cy="20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01/09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1" name="Google Shape;611;h19034d514f5d6f97_0_2164"/>
          <p:cNvSpPr/>
          <p:nvPr/>
        </p:nvSpPr>
        <p:spPr>
          <a:xfrm>
            <a:off x="1851660" y="2606040"/>
            <a:ext cx="205800" cy="205800"/>
          </a:xfrm>
          <a:prstGeom prst="ellipse">
            <a:avLst/>
          </a:prstGeom>
          <a:solidFill>
            <a:srgbClr val="A50064"/>
          </a:solidFill>
          <a:ln w="19050" cap="flat" cmpd="sng">
            <a:solidFill>
              <a:srgbClr val="A5006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2" name="Google Shape;612;h19034d514f5d6f97_0_2164"/>
          <p:cNvSpPr/>
          <p:nvPr/>
        </p:nvSpPr>
        <p:spPr>
          <a:xfrm>
            <a:off x="1474470" y="2228850"/>
            <a:ext cx="9600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Calibri"/>
              <a:buNone/>
            </a:pPr>
            <a:r>
              <a:rPr lang="en-US" sz="1000" b="1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Thiết kế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" name="Google Shape;613;h19034d514f5d6f97_0_2164"/>
          <p:cNvSpPr/>
          <p:nvPr/>
        </p:nvSpPr>
        <p:spPr>
          <a:xfrm>
            <a:off x="1474470" y="2880360"/>
            <a:ext cx="960000" cy="20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30/09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4" name="Google Shape;614;h19034d514f5d6f97_0_2164"/>
          <p:cNvSpPr/>
          <p:nvPr/>
        </p:nvSpPr>
        <p:spPr>
          <a:xfrm>
            <a:off x="2914650" y="2606040"/>
            <a:ext cx="205800" cy="205800"/>
          </a:xfrm>
          <a:prstGeom prst="ellipse">
            <a:avLst/>
          </a:prstGeom>
          <a:solidFill>
            <a:srgbClr val="F95396"/>
          </a:solidFill>
          <a:ln w="19050" cap="flat" cmpd="sng">
            <a:solidFill>
              <a:srgbClr val="F9539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5" name="Google Shape;615;h19034d514f5d6f97_0_2164"/>
          <p:cNvSpPr/>
          <p:nvPr/>
        </p:nvSpPr>
        <p:spPr>
          <a:xfrm>
            <a:off x="2537460" y="2228850"/>
            <a:ext cx="9600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Calibri"/>
              <a:buNone/>
            </a:pPr>
            <a:r>
              <a:rPr lang="en-US" sz="1000" b="1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Dev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6" name="Google Shape;616;h19034d514f5d6f97_0_2164"/>
          <p:cNvSpPr/>
          <p:nvPr/>
        </p:nvSpPr>
        <p:spPr>
          <a:xfrm>
            <a:off x="2537460" y="2880360"/>
            <a:ext cx="960000" cy="20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31/10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7" name="Google Shape;617;h19034d514f5d6f97_0_2164"/>
          <p:cNvSpPr/>
          <p:nvPr/>
        </p:nvSpPr>
        <p:spPr>
          <a:xfrm>
            <a:off x="3977640" y="2606040"/>
            <a:ext cx="205800" cy="205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6B728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8" name="Google Shape;618;h19034d514f5d6f97_0_2164"/>
          <p:cNvSpPr/>
          <p:nvPr/>
        </p:nvSpPr>
        <p:spPr>
          <a:xfrm>
            <a:off x="3600450" y="2228850"/>
            <a:ext cx="9600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Calibri"/>
              <a:buNone/>
            </a:pPr>
            <a:r>
              <a:rPr lang="en-US" sz="1000" b="1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UAT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9" name="Google Shape;619;h19034d514f5d6f97_0_2164"/>
          <p:cNvSpPr/>
          <p:nvPr/>
        </p:nvSpPr>
        <p:spPr>
          <a:xfrm>
            <a:off x="3600450" y="2880360"/>
            <a:ext cx="960000" cy="20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12/11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0" name="Google Shape;620;h19034d514f5d6f97_0_2164"/>
          <p:cNvSpPr/>
          <p:nvPr/>
        </p:nvSpPr>
        <p:spPr>
          <a:xfrm>
            <a:off x="5040630" y="2606040"/>
            <a:ext cx="205800" cy="205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6B728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1" name="Google Shape;621;h19034d514f5d6f97_0_2164"/>
          <p:cNvSpPr/>
          <p:nvPr/>
        </p:nvSpPr>
        <p:spPr>
          <a:xfrm>
            <a:off x="4663440" y="2228850"/>
            <a:ext cx="9600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Calibri"/>
              <a:buNone/>
            </a:pPr>
            <a:r>
              <a:rPr lang="en-US" sz="1000" b="1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Go-live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2" name="Google Shape;622;h19034d514f5d6f97_0_2164"/>
          <p:cNvSpPr/>
          <p:nvPr/>
        </p:nvSpPr>
        <p:spPr>
          <a:xfrm>
            <a:off x="4663440" y="2880360"/>
            <a:ext cx="960000" cy="20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29/11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3" name="Google Shape;623;h19034d514f5d6f97_0_2164"/>
          <p:cNvSpPr/>
          <p:nvPr/>
        </p:nvSpPr>
        <p:spPr>
          <a:xfrm>
            <a:off x="342900" y="3429000"/>
            <a:ext cx="5349300" cy="20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50064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A50064"/>
                </a:solidFill>
                <a:latin typeface="Calibri"/>
                <a:ea typeface="Calibri"/>
                <a:cs typeface="Calibri"/>
                <a:sym typeface="Calibri"/>
              </a:rPr>
              <a:t>Tiến độ so với kế hoạch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4" name="Google Shape;624;h19034d514f5d6f97_0_2164"/>
          <p:cNvSpPr/>
          <p:nvPr/>
        </p:nvSpPr>
        <p:spPr>
          <a:xfrm>
            <a:off x="342900" y="3737610"/>
            <a:ext cx="7545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Kế hoạch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5" name="Google Shape;625;h19034d514f5d6f97_0_2164"/>
          <p:cNvSpPr/>
          <p:nvPr/>
        </p:nvSpPr>
        <p:spPr>
          <a:xfrm>
            <a:off x="1165860" y="3737610"/>
            <a:ext cx="3703200" cy="240000"/>
          </a:xfrm>
          <a:prstGeom prst="rect">
            <a:avLst/>
          </a:prstGeom>
          <a:solidFill>
            <a:srgbClr val="F3F4F6"/>
          </a:solidFill>
          <a:ln w="9525" cap="flat" cmpd="sng">
            <a:solidFill>
              <a:srgbClr val="F3F4F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6" name="Google Shape;626;h19034d514f5d6f97_0_2164"/>
          <p:cNvSpPr/>
          <p:nvPr/>
        </p:nvSpPr>
        <p:spPr>
          <a:xfrm>
            <a:off x="1165860" y="3737610"/>
            <a:ext cx="2777400" cy="240000"/>
          </a:xfrm>
          <a:prstGeom prst="rect">
            <a:avLst/>
          </a:prstGeom>
          <a:solidFill>
            <a:srgbClr val="FFE3ED"/>
          </a:solidFill>
          <a:ln w="9525" cap="flat" cmpd="sng">
            <a:solidFill>
              <a:srgbClr val="FFE3E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7" name="Google Shape;627;h19034d514f5d6f97_0_2164"/>
          <p:cNvSpPr/>
          <p:nvPr/>
        </p:nvSpPr>
        <p:spPr>
          <a:xfrm>
            <a:off x="4937760" y="3737610"/>
            <a:ext cx="4803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1100" b="1">
                <a:solidFill>
                  <a:srgbClr val="1C171A"/>
                </a:solidFill>
              </a:defRPr>
            </a:pPr>
            <a:r>
              <a:t>80%</a:t>
            </a:r>
          </a:p>
        </p:txBody>
      </p:sp>
      <p:sp>
        <p:nvSpPr>
          <p:cNvPr id="628" name="Google Shape;628;h19034d514f5d6f97_0_2164"/>
          <p:cNvSpPr/>
          <p:nvPr/>
        </p:nvSpPr>
        <p:spPr>
          <a:xfrm>
            <a:off x="342900" y="4080510"/>
            <a:ext cx="7545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Thực tế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9" name="Google Shape;629;h19034d514f5d6f97_0_2164"/>
          <p:cNvSpPr/>
          <p:nvPr/>
        </p:nvSpPr>
        <p:spPr>
          <a:xfrm>
            <a:off x="1165860" y="4080510"/>
            <a:ext cx="3703200" cy="240000"/>
          </a:xfrm>
          <a:prstGeom prst="rect">
            <a:avLst/>
          </a:prstGeom>
          <a:solidFill>
            <a:srgbClr val="F3F4F6"/>
          </a:solidFill>
          <a:ln w="9525" cap="flat" cmpd="sng">
            <a:solidFill>
              <a:srgbClr val="F3F4F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0" name="Google Shape;630;h19034d514f5d6f97_0_2164"/>
          <p:cNvSpPr/>
          <p:nvPr/>
        </p:nvSpPr>
        <p:spPr>
          <a:xfrm>
            <a:off x="1165860" y="4080510"/>
            <a:ext cx="2037000" cy="240000"/>
          </a:xfrm>
          <a:prstGeom prst="rect">
            <a:avLst/>
          </a:prstGeom>
          <a:solidFill>
            <a:srgbClr val="A50064"/>
          </a:solidFill>
          <a:ln w="9525" cap="flat" cmpd="sng">
            <a:solidFill>
              <a:srgbClr val="A5006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1" name="Google Shape;631;h19034d514f5d6f97_0_2164"/>
          <p:cNvSpPr/>
          <p:nvPr/>
        </p:nvSpPr>
        <p:spPr>
          <a:xfrm>
            <a:off x="4937760" y="4080510"/>
            <a:ext cx="4803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1100" b="1">
                <a:solidFill>
                  <a:srgbClr val="059669"/>
                </a:solidFill>
              </a:defRPr>
            </a:pPr>
            <a:r>
              <a:t>85%</a:t>
            </a:r>
          </a:p>
        </p:txBody>
      </p:sp>
      <p:sp>
        <p:nvSpPr>
          <p:cNvPr id="632" name="Google Shape;632;h19034d514f5d6f97_0_2164"/>
          <p:cNvSpPr/>
          <p:nvPr/>
        </p:nvSpPr>
        <p:spPr>
          <a:xfrm>
            <a:off x="5966460" y="1954530"/>
            <a:ext cx="2832300" cy="20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50064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A50064"/>
                </a:solidFill>
                <a:latin typeface="Calibri"/>
                <a:ea typeface="Calibri"/>
                <a:cs typeface="Calibri"/>
                <a:sym typeface="Calibri"/>
              </a:rPr>
              <a:t>Việc cần hỗ trợ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33" name="Google Shape;633;h19034d514f5d6f97_0_2164"/>
          <p:cNvGraphicFramePr/>
          <p:nvPr/>
        </p:nvGraphicFramePr>
        <p:xfrm>
          <a:off x="5966460" y="2228850"/>
          <a:ext cx="2832325" cy="1920275"/>
        </p:xfrm>
        <a:graphic>
          <a:graphicData uri="http://schemas.openxmlformats.org/drawingml/2006/table">
            <a:tbl>
              <a:tblPr>
                <a:noFill/>
                <a:tableStyleId>{E4150D1B-22CA-4B41-9D43-DA15F05A9917}</a:tableStyleId>
              </a:tblPr>
              <a:tblGrid>
                <a:gridCol w="1508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0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5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Việc cần hỗ trợ</a:t>
                      </a:r>
                    </a:p>
                  </a:txBody>
                  <a:tcPr marL="18288" marR="18288" marT="18288" marB="18288" anchor="ctr">
                    <a:lnL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500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Bên liên quan / Owner</a:t>
                      </a:r>
                    </a:p>
                  </a:txBody>
                  <a:tcPr marL="18288" marR="18288" marT="18288" marB="18288" anchor="ctr">
                    <a:lnL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500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Hạn hoàn thành</a:t>
                      </a:r>
                    </a:p>
                  </a:txBody>
                  <a:tcPr marL="18288" marR="18288" marT="18288" marB="18288" anchor="ctr">
                    <a:lnL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500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50">
                <a:tc>
                  <a:txBody>
                    <a:bodyPr/>
                    <a:lstStyle/>
                    <a:p>
                      <a:pPr algn="l">
                        <a:defRPr sz="850" b="1"/>
                      </a:pPr>
                      <a:r>
                        <a:t>Phê duyệt kế hoạch ra mắt bộ tiện ích Thuế TNCN &amp; Tính Lương</a:t>
                      </a:r>
                    </a:p>
                  </a:txBody>
                  <a:tcPr marL="18288" marR="18288" marT="18288" marB="18288" anchor="ctr">
                    <a:lnL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F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0"/>
                      </a:pPr>
                      <a:r>
                        <a:t>BOM / Finhub</a:t>
                      </a:r>
                    </a:p>
                  </a:txBody>
                  <a:tcPr marL="18288" marR="18288" marT="18288" marB="18288" anchor="ctr">
                    <a:lnL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F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/>
                      </a:pPr>
                      <a:r>
                        <a:t>31/10</a:t>
                      </a:r>
                    </a:p>
                  </a:txBody>
                  <a:tcPr marL="18288" marR="18288" marT="18288" marB="18288" anchor="ctr">
                    <a:lnL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50">
                <a:tc>
                  <a:txBody>
                    <a:bodyPr/>
                    <a:lstStyle/>
                    <a:p>
                      <a:pPr algn="l">
                        <a:defRPr sz="850" b="1"/>
                      </a:pPr>
                      <a:r>
                        <a:t>Hỗ trợ thủ tục hợp đồng đối tác báo chí phục vụ Cinema Hub</a:t>
                      </a:r>
                    </a:p>
                  </a:txBody>
                  <a:tcPr marL="18288" marR="18288" marT="18288" marB="18288" anchor="ctr">
                    <a:lnL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F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0"/>
                      </a:pPr>
                      <a:r>
                        <a:t>Pháp chế &amp; Mua hàng</a:t>
                      </a:r>
                    </a:p>
                  </a:txBody>
                  <a:tcPr marL="18288" marR="18288" marT="18288" marB="18288" anchor="ctr">
                    <a:lnL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F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/>
                      </a:pPr>
                      <a:r>
                        <a:t>08/11</a:t>
                      </a:r>
                    </a:p>
                  </a:txBody>
                  <a:tcPr marL="18288" marR="18288" marT="18288" marB="18288" anchor="ctr">
                    <a:lnL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50">
                <a:tc>
                  <a:txBody>
                    <a:bodyPr/>
                    <a:lstStyle/>
                    <a:p>
                      <a:pPr algn="l">
                        <a:defRPr sz="850" b="1"/>
                      </a:pPr>
                      <a:r>
                        <a:t>Hoàn tất tuyển dụng 1 nhân sự Senior SEO Technical in-house</a:t>
                      </a:r>
                    </a:p>
                  </a:txBody>
                  <a:tcPr marL="18288" marR="18288" marT="18288" marB="18288" anchor="ctr">
                    <a:lnL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F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0"/>
                      </a:pPr>
                      <a:r>
                        <a:t>HR Talent Acquisition</a:t>
                      </a:r>
                    </a:p>
                  </a:txBody>
                  <a:tcPr marL="18288" marR="18288" marT="18288" marB="18288" anchor="ctr">
                    <a:lnL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F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/>
                      </a:pPr>
                      <a:r>
                        <a:t>15/11</a:t>
                      </a:r>
                    </a:p>
                  </a:txBody>
                  <a:tcPr marL="18288" marR="18288" marT="18288" marB="18288" anchor="ctr">
                    <a:lnL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34" name="Google Shape;634;h19034d514f5d6f97_0_2164"/>
          <p:cNvSpPr/>
          <p:nvPr/>
        </p:nvSpPr>
        <p:spPr>
          <a:xfrm>
            <a:off x="5966460" y="4251960"/>
            <a:ext cx="2832300" cy="3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defRPr sz="950">
                <a:solidFill>
                  <a:srgbClr val="5C5060"/>
                </a:solidFill>
              </a:defRPr>
            </a:pPr>
            <a:r>
              <a:t>Lưu ý: Việc phê duyệt kế hoạch ra mắt tiện ích thuế trước 31/10 quyết định khả năng kịp tiến độ kiểm thử và go-live đón mùa quyết toán cuối năm.</a:t>
            </a:r>
          </a:p>
        </p:txBody>
      </p:sp>
      <p:sp>
        <p:nvSpPr>
          <p:cNvPr id="635" name="Oval 634"/>
          <p:cNvSpPr/>
          <p:nvPr/>
        </p:nvSpPr>
        <p:spPr>
          <a:xfrm>
            <a:off x="8394192" y="146304"/>
            <a:ext cx="384048" cy="384048"/>
          </a:xfrm>
          <a:prstGeom prst="ellipse">
            <a:avLst/>
          </a:prstGeom>
          <a:solidFill>
            <a:srgbClr val="991B1B"/>
          </a:solidFill>
          <a:ln>
            <a:solidFill>
              <a:srgbClr val="991B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R</a:t>
            </a:r>
          </a:p>
        </p:txBody>
      </p:sp>
      <p:sp>
        <p:nvSpPr>
          <p:cNvPr id="636" name="TextBox 635"/>
          <p:cNvSpPr txBox="1"/>
          <p:nvPr/>
        </p:nvSpPr>
        <p:spPr>
          <a:xfrm>
            <a:off x="8119872" y="548640"/>
            <a:ext cx="93268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>
                <a:solidFill>
                  <a:srgbClr val="991B1B"/>
                </a:solidFill>
              </a:defRPr>
            </a:pPr>
            <a:r>
              <a:t>Reporting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256</TotalTime>
  <Words>3968</Words>
  <Application>Microsoft Office PowerPoint</Application>
  <PresentationFormat>On-screen Show (16:9)</PresentationFormat>
  <Paragraphs>639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23</vt:i4>
      </vt:variant>
    </vt:vector>
  </HeadingPairs>
  <TitlesOfParts>
    <vt:vector size="33" baseType="lpstr">
      <vt:lpstr>Momo Trust Display</vt:lpstr>
      <vt:lpstr>Inter Tight</vt:lpstr>
      <vt:lpstr>Inter</vt:lpstr>
      <vt:lpstr>Arial</vt:lpstr>
      <vt:lpstr>Inter SemiBold</vt:lpstr>
      <vt:lpstr>Momo Trust Sans</vt:lpstr>
      <vt:lpstr>Momo Trust Sans SemiBold</vt:lpstr>
      <vt:lpstr>Calibri</vt:lpstr>
      <vt:lpstr>Office Theme</vt:lpstr>
      <vt:lpstr>Simple Light</vt:lpstr>
      <vt:lpstr>Nguyên tắc thiết kế/xây dựng báo cáo </vt:lpstr>
      <vt:lpstr>PowerPoint Presentation</vt:lpstr>
      <vt:lpstr>PowerPoint Presentation</vt:lpstr>
      <vt:lpstr>PowerPoint Presentation</vt:lpstr>
      <vt:lpstr>PowerPoint Presentation</vt:lpstr>
      <vt:lpstr>Template slide tham khảo Anh/Chị có thể tùy chọn mẫu phù hợp với bài báo cáo của mình.  </vt:lpstr>
      <vt:lpstr>PowerPoint Presentation</vt:lpstr>
      <vt:lpstr>Table of Contents</vt:lpstr>
      <vt:lpstr>Execution summary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PptxGenJS</dc:creator>
  <cp:lastModifiedBy>NGUYỄN THỊ KIM TUYỀN - GPD</cp:lastModifiedBy>
  <cp:revision>2</cp:revision>
  <dcterms:created xsi:type="dcterms:W3CDTF">2026-10-22T10:38:27Z</dcterms:created>
  <dcterms:modified xsi:type="dcterms:W3CDTF">2026-10-29T07:42:32Z</dcterms:modified>
</cp:coreProperties>
</file>