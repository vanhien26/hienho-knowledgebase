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2" r:id="rId2"/>
  </p:sldMasterIdLst>
  <p:notesMasterIdLst>
    <p:notesMasterId r:id="rId26"/>
  </p:notesMasterIdLst>
  <p:sldIdLst>
    <p:sldId id="262" r:id="rId9"/>
    <p:sldId id="265" r:id="rId12"/>
    <p:sldId id="267" r:id="rId14"/>
    <p:sldId id="269" r:id="rId16"/>
    <p:sldId id="270" r:id="rId17"/>
    <p:sldId id="275" r:id="rId22"/>
    <p:sldId id="276" r:id="rId23"/>
  </p:sldIdLst>
  <p:sldSz cx="9144000" cy="5143500" type="screen16x9"/>
  <p:notesSz cx="5143500" cy="9144000"/>
  <p:embeddedFontLs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  <p:embeddedFont>
      <p:font typeface="Inter Tight" panose="020B0604020202020204" charset="0"/>
      <p:regular r:id="rId35"/>
      <p:bold r:id="rId36"/>
      <p:italic r:id="rId37"/>
      <p:boldItalic r:id="rId38"/>
    </p:embeddedFont>
    <p:embeddedFont>
      <p:font typeface="Momo Trust Display" panose="020B0604020202020204" charset="0"/>
      <p:regular r:id="rId39"/>
    </p:embeddedFont>
    <p:embeddedFont>
      <p:font typeface="Momo Trust Sans" panose="020B0604020202020204" charset="0"/>
      <p:regular r:id="rId40"/>
      <p:bold r:id="rId41"/>
    </p:embeddedFont>
    <p:embeddedFont>
      <p:font typeface="Momo Trust Sans SemiBold" panose="020B0604020202020204" charset="0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g9aMRGqxliLC/9/bTCfiAzxGwc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150D1B-22CA-4B41-9D43-DA15F05A9917}">
  <a:tblStyle styleId="{E4150D1B-22CA-4B41-9D43-DA15F05A99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0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9" Type="http://schemas.openxmlformats.org/officeDocument/2006/relationships/slide" Target="slides/slide7.xml"/><Relationship Id="rId12" Type="http://schemas.openxmlformats.org/officeDocument/2006/relationships/slide" Target="slides/slide10.xml"/><Relationship Id="rId14" Type="http://schemas.openxmlformats.org/officeDocument/2006/relationships/slide" Target="slides/slide12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7" Type="http://customschemas.google.com/relationships/presentationmetadata" Target="metadata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5" name="Google Shape;5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19034d514f5d6f97_0_2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435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h19034d514f5d6f97_0_2164:notes"/>
          <p:cNvSpPr txBox="1">
            <a:spLocks noGrp="1"/>
          </p:cNvSpPr>
          <p:nvPr>
            <p:ph type="body" idx="1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h19034d514f5d6f97_0_2164:notes"/>
          <p:cNvSpPr txBox="1">
            <a:spLocks noGrp="1"/>
          </p:cNvSpPr>
          <p:nvPr>
            <p:ph type="sldNum" idx="12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ố cục tùy chỉnh 2">
  <p:cSld name="CUSTOM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19034d514f5d6f97_0_12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" name="Google Shape;13;h19034d514f5d6f97_0_128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nk Page with Pattern Background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nk Cover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h19034d514f5d6f97_0_1795"/>
          <p:cNvSpPr txBox="1">
            <a:spLocks noGrp="1"/>
          </p:cNvSpPr>
          <p:nvPr>
            <p:ph type="ctrTitle"/>
          </p:nvPr>
        </p:nvSpPr>
        <p:spPr>
          <a:xfrm>
            <a:off x="670850" y="1621850"/>
            <a:ext cx="5386800" cy="14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21" name="Google Shape;21;h19034d514f5d6f97_0_1795"/>
          <p:cNvSpPr txBox="1">
            <a:spLocks noGrp="1"/>
          </p:cNvSpPr>
          <p:nvPr>
            <p:ph type="subTitle" idx="1"/>
          </p:nvPr>
        </p:nvSpPr>
        <p:spPr>
          <a:xfrm>
            <a:off x="670850" y="3780897"/>
            <a:ext cx="646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" name="Google Shape;22;h19034d514f5d6f97_0_17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h19034d514f5d6f97_0_17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750225"/>
            <a:ext cx="758774" cy="70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Cover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19034d514f5d6f97_0_1800"/>
          <p:cNvSpPr txBox="1">
            <a:spLocks noGrp="1"/>
          </p:cNvSpPr>
          <p:nvPr>
            <p:ph type="ctrTitle"/>
          </p:nvPr>
        </p:nvSpPr>
        <p:spPr>
          <a:xfrm>
            <a:off x="670850" y="1621850"/>
            <a:ext cx="5386800" cy="14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26" name="Google Shape;26;h19034d514f5d6f97_0_1800"/>
          <p:cNvSpPr txBox="1">
            <a:spLocks noGrp="1"/>
          </p:cNvSpPr>
          <p:nvPr>
            <p:ph type="subTitle" idx="1"/>
          </p:nvPr>
        </p:nvSpPr>
        <p:spPr>
          <a:xfrm>
            <a:off x="670850" y="3780897"/>
            <a:ext cx="646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7" name="Google Shape;27;h19034d514f5d6f97_0_18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h19034d514f5d6f97_0_18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750225"/>
            <a:ext cx="758774" cy="70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Cover">
  <p:cSld name="TITLE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h19034d514f5d6f97_0_1805"/>
          <p:cNvSpPr txBox="1">
            <a:spLocks noGrp="1"/>
          </p:cNvSpPr>
          <p:nvPr>
            <p:ph type="ctrTitle"/>
          </p:nvPr>
        </p:nvSpPr>
        <p:spPr>
          <a:xfrm>
            <a:off x="670850" y="1621850"/>
            <a:ext cx="5386800" cy="14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31" name="Google Shape;31;h19034d514f5d6f97_0_1805"/>
          <p:cNvSpPr txBox="1">
            <a:spLocks noGrp="1"/>
          </p:cNvSpPr>
          <p:nvPr>
            <p:ph type="subTitle" idx="1"/>
          </p:nvPr>
        </p:nvSpPr>
        <p:spPr>
          <a:xfrm>
            <a:off x="670850" y="3780897"/>
            <a:ext cx="646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2" name="Google Shape;32;h19034d514f5d6f97_0_18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h19034d514f5d6f97_0_18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750225"/>
            <a:ext cx="758774" cy="70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Cover">
  <p:cSld name="TITLE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19034d514f5d6f97_0_1810"/>
          <p:cNvSpPr txBox="1">
            <a:spLocks noGrp="1"/>
          </p:cNvSpPr>
          <p:nvPr>
            <p:ph type="ctrTitle"/>
          </p:nvPr>
        </p:nvSpPr>
        <p:spPr>
          <a:xfrm>
            <a:off x="670850" y="1621850"/>
            <a:ext cx="5386800" cy="14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36" name="Google Shape;36;h19034d514f5d6f97_0_1810"/>
          <p:cNvSpPr txBox="1">
            <a:spLocks noGrp="1"/>
          </p:cNvSpPr>
          <p:nvPr>
            <p:ph type="subTitle" idx="1"/>
          </p:nvPr>
        </p:nvSpPr>
        <p:spPr>
          <a:xfrm>
            <a:off x="670850" y="3780897"/>
            <a:ext cx="646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7" name="Google Shape;37;h19034d514f5d6f97_0_18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" name="Google Shape;38;h19034d514f5d6f97_0_18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750225"/>
            <a:ext cx="758774" cy="70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Cover">
  <p:cSld name="TITLE_2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h19034d514f5d6f97_0_1815"/>
          <p:cNvSpPr txBox="1">
            <a:spLocks noGrp="1"/>
          </p:cNvSpPr>
          <p:nvPr>
            <p:ph type="ctrTitle"/>
          </p:nvPr>
        </p:nvSpPr>
        <p:spPr>
          <a:xfrm>
            <a:off x="670850" y="1621850"/>
            <a:ext cx="5386800" cy="14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h19034d514f5d6f97_0_1815"/>
          <p:cNvSpPr txBox="1">
            <a:spLocks noGrp="1"/>
          </p:cNvSpPr>
          <p:nvPr>
            <p:ph type="subTitle" idx="1"/>
          </p:nvPr>
        </p:nvSpPr>
        <p:spPr>
          <a:xfrm>
            <a:off x="670850" y="3780897"/>
            <a:ext cx="646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42" name="Google Shape;42;h19034d514f5d6f97_0_18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h19034d514f5d6f97_0_18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750225"/>
            <a:ext cx="758774" cy="70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l Cover">
  <p:cSld name="TITLE_2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h19034d514f5d6f97_0_1820"/>
          <p:cNvSpPr txBox="1">
            <a:spLocks noGrp="1"/>
          </p:cNvSpPr>
          <p:nvPr>
            <p:ph type="ctrTitle"/>
          </p:nvPr>
        </p:nvSpPr>
        <p:spPr>
          <a:xfrm>
            <a:off x="670850" y="1621850"/>
            <a:ext cx="5386800" cy="14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6" name="Google Shape;46;h19034d514f5d6f97_0_1820"/>
          <p:cNvSpPr txBox="1">
            <a:spLocks noGrp="1"/>
          </p:cNvSpPr>
          <p:nvPr>
            <p:ph type="subTitle" idx="1"/>
          </p:nvPr>
        </p:nvSpPr>
        <p:spPr>
          <a:xfrm>
            <a:off x="670850" y="3780897"/>
            <a:ext cx="646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47" name="Google Shape;47;h19034d514f5d6f97_0_18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" name="Google Shape;48;h19034d514f5d6f97_0_18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750225"/>
            <a:ext cx="758774" cy="70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Cover">
  <p:cSld name="TITLE_2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h19034d514f5d6f97_0_1825"/>
          <p:cNvSpPr txBox="1">
            <a:spLocks noGrp="1"/>
          </p:cNvSpPr>
          <p:nvPr>
            <p:ph type="ctrTitle"/>
          </p:nvPr>
        </p:nvSpPr>
        <p:spPr>
          <a:xfrm>
            <a:off x="670850" y="1621850"/>
            <a:ext cx="5386800" cy="14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1" name="Google Shape;51;h19034d514f5d6f97_0_1825"/>
          <p:cNvSpPr txBox="1">
            <a:spLocks noGrp="1"/>
          </p:cNvSpPr>
          <p:nvPr>
            <p:ph type="subTitle" idx="1"/>
          </p:nvPr>
        </p:nvSpPr>
        <p:spPr>
          <a:xfrm>
            <a:off x="670850" y="3780897"/>
            <a:ext cx="646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52" name="Google Shape;52;h19034d514f5d6f97_0_18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h19034d514f5d6f97_0_18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750225"/>
            <a:ext cx="758774" cy="70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le Cover">
  <p:cSld name="TITLE_2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19034d514f5d6f97_0_1830"/>
          <p:cNvSpPr txBox="1">
            <a:spLocks noGrp="1"/>
          </p:cNvSpPr>
          <p:nvPr>
            <p:ph type="ctrTitle"/>
          </p:nvPr>
        </p:nvSpPr>
        <p:spPr>
          <a:xfrm>
            <a:off x="670850" y="1621850"/>
            <a:ext cx="5386800" cy="14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Inter Tight"/>
              <a:buNone/>
              <a:defRPr sz="52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6" name="Google Shape;56;h19034d514f5d6f97_0_1830"/>
          <p:cNvSpPr txBox="1">
            <a:spLocks noGrp="1"/>
          </p:cNvSpPr>
          <p:nvPr>
            <p:ph type="subTitle" idx="1"/>
          </p:nvPr>
        </p:nvSpPr>
        <p:spPr>
          <a:xfrm>
            <a:off x="670850" y="3780897"/>
            <a:ext cx="646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57" name="Google Shape;57;h19034d514f5d6f97_0_18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h19034d514f5d6f97_0_18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750225"/>
            <a:ext cx="758774" cy="70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19034d514f5d6f97_0_18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h19034d514f5d6f97_0_18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Momo Trust Sans"/>
              <a:buChar char="●"/>
              <a:defRPr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h19034d514f5d6f97_0_18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nk Break Page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19034d514f5d6f97_0_1839"/>
          <p:cNvSpPr txBox="1">
            <a:spLocks noGrp="1"/>
          </p:cNvSpPr>
          <p:nvPr>
            <p:ph type="title"/>
          </p:nvPr>
        </p:nvSpPr>
        <p:spPr>
          <a:xfrm>
            <a:off x="3249100" y="2649700"/>
            <a:ext cx="4786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reak Page">
  <p:cSld name="CUSTOM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9034d514f5d6f97_0_1841"/>
          <p:cNvSpPr txBox="1">
            <a:spLocks noGrp="1"/>
          </p:cNvSpPr>
          <p:nvPr>
            <p:ph type="title"/>
          </p:nvPr>
        </p:nvSpPr>
        <p:spPr>
          <a:xfrm>
            <a:off x="3249100" y="2649700"/>
            <a:ext cx="4786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Break Page">
  <p:cSld name="CUSTOM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19034d514f5d6f97_0_1843"/>
          <p:cNvSpPr txBox="1">
            <a:spLocks noGrp="1"/>
          </p:cNvSpPr>
          <p:nvPr>
            <p:ph type="title"/>
          </p:nvPr>
        </p:nvSpPr>
        <p:spPr>
          <a:xfrm>
            <a:off x="3249100" y="2649700"/>
            <a:ext cx="4786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Break Page">
  <p:cSld name="CUSTOM_3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19034d514f5d6f97_0_1845"/>
          <p:cNvSpPr txBox="1">
            <a:spLocks noGrp="1"/>
          </p:cNvSpPr>
          <p:nvPr>
            <p:ph type="title"/>
          </p:nvPr>
        </p:nvSpPr>
        <p:spPr>
          <a:xfrm>
            <a:off x="3249100" y="2649700"/>
            <a:ext cx="4786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Break Page">
  <p:cSld name="CUSTOM_3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9034d514f5d6f97_0_1847"/>
          <p:cNvSpPr txBox="1">
            <a:spLocks noGrp="1"/>
          </p:cNvSpPr>
          <p:nvPr>
            <p:ph type="title"/>
          </p:nvPr>
        </p:nvSpPr>
        <p:spPr>
          <a:xfrm>
            <a:off x="3249100" y="2649700"/>
            <a:ext cx="4786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l Break Page">
  <p:cSld name="CUSTOM_3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19034d514f5d6f97_0_1849"/>
          <p:cNvSpPr txBox="1">
            <a:spLocks noGrp="1"/>
          </p:cNvSpPr>
          <p:nvPr>
            <p:ph type="title"/>
          </p:nvPr>
        </p:nvSpPr>
        <p:spPr>
          <a:xfrm>
            <a:off x="3249100" y="2649700"/>
            <a:ext cx="4786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reak Page">
  <p:cSld name="CUSTOM_3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19034d514f5d6f97_0_1851"/>
          <p:cNvSpPr txBox="1">
            <a:spLocks noGrp="1"/>
          </p:cNvSpPr>
          <p:nvPr>
            <p:ph type="title"/>
          </p:nvPr>
        </p:nvSpPr>
        <p:spPr>
          <a:xfrm>
            <a:off x="3249100" y="2649700"/>
            <a:ext cx="4786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le Break Page">
  <p:cSld name="CUSTOM_3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19034d514f5d6f97_0_1853"/>
          <p:cNvSpPr txBox="1">
            <a:spLocks noGrp="1"/>
          </p:cNvSpPr>
          <p:nvPr>
            <p:ph type="title"/>
          </p:nvPr>
        </p:nvSpPr>
        <p:spPr>
          <a:xfrm>
            <a:off x="3249100" y="2649700"/>
            <a:ext cx="4786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ố cục tùy chỉnh 2">
  <p:cSld name="CUSTOM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19034d514f5d6f97_0_18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1" name="Google Shape;81;h19034d514f5d6f97_0_18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nk Page with Pattern Background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nk Page with Pattern Background">
  <p:cSld name="CUSTOM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Bank Page with Pattern Background">
  <p:cSld name="CUSTOM_2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ank Page with Pattern Background">
  <p:cSld name="CUSTOM_2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l Bank Page with Pattern Background">
  <p:cSld name="CUSTOM_2_2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le Bank Page with Pattern Background">
  <p:cSld name="CUSTOM_2_2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Bank Page with Pattern Background">
  <p:cSld name="CUSTOM_2_2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Bank Page with Pattern Background">
  <p:cSld name="CUSTOM_2_2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nk Cover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9034d514f5d6f97_0_1866"/>
          <p:cNvSpPr txBox="1">
            <a:spLocks noGrp="1"/>
          </p:cNvSpPr>
          <p:nvPr>
            <p:ph type="ctrTitle"/>
          </p:nvPr>
        </p:nvSpPr>
        <p:spPr>
          <a:xfrm>
            <a:off x="249300" y="1621850"/>
            <a:ext cx="39333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2" name="Google Shape;92;h19034d514f5d6f97_0_1866"/>
          <p:cNvSpPr txBox="1">
            <a:spLocks noGrp="1"/>
          </p:cNvSpPr>
          <p:nvPr>
            <p:ph type="subTitle" idx="1"/>
          </p:nvPr>
        </p:nvSpPr>
        <p:spPr>
          <a:xfrm>
            <a:off x="249300" y="3311550"/>
            <a:ext cx="39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3" name="Google Shape;93;h19034d514f5d6f97_0_18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Cover">
  <p:cSld name="TITLE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19034d514f5d6f97_0_1870"/>
          <p:cNvSpPr txBox="1">
            <a:spLocks noGrp="1"/>
          </p:cNvSpPr>
          <p:nvPr>
            <p:ph type="ctrTitle"/>
          </p:nvPr>
        </p:nvSpPr>
        <p:spPr>
          <a:xfrm>
            <a:off x="249300" y="1621850"/>
            <a:ext cx="39333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h19034d514f5d6f97_0_1870"/>
          <p:cNvSpPr txBox="1">
            <a:spLocks noGrp="1"/>
          </p:cNvSpPr>
          <p:nvPr>
            <p:ph type="subTitle" idx="1"/>
          </p:nvPr>
        </p:nvSpPr>
        <p:spPr>
          <a:xfrm>
            <a:off x="249300" y="3311550"/>
            <a:ext cx="39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7" name="Google Shape;97;h19034d514f5d6f97_0_18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Cover">
  <p:cSld name="TITLE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19034d514f5d6f97_0_1874"/>
          <p:cNvSpPr txBox="1">
            <a:spLocks noGrp="1"/>
          </p:cNvSpPr>
          <p:nvPr>
            <p:ph type="ctrTitle"/>
          </p:nvPr>
        </p:nvSpPr>
        <p:spPr>
          <a:xfrm>
            <a:off x="249300" y="1621850"/>
            <a:ext cx="39333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00" name="Google Shape;100;h19034d514f5d6f97_0_1874"/>
          <p:cNvSpPr txBox="1">
            <a:spLocks noGrp="1"/>
          </p:cNvSpPr>
          <p:nvPr>
            <p:ph type="subTitle" idx="1"/>
          </p:nvPr>
        </p:nvSpPr>
        <p:spPr>
          <a:xfrm>
            <a:off x="249300" y="3311550"/>
            <a:ext cx="39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01" name="Google Shape;101;h19034d514f5d6f97_0_18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Cover">
  <p:cSld name="TITLE_1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19034d514f5d6f97_0_1878"/>
          <p:cNvSpPr txBox="1">
            <a:spLocks noGrp="1"/>
          </p:cNvSpPr>
          <p:nvPr>
            <p:ph type="ctrTitle"/>
          </p:nvPr>
        </p:nvSpPr>
        <p:spPr>
          <a:xfrm>
            <a:off x="249300" y="1621850"/>
            <a:ext cx="39333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04" name="Google Shape;104;h19034d514f5d6f97_0_1878"/>
          <p:cNvSpPr txBox="1">
            <a:spLocks noGrp="1"/>
          </p:cNvSpPr>
          <p:nvPr>
            <p:ph type="subTitle" idx="1"/>
          </p:nvPr>
        </p:nvSpPr>
        <p:spPr>
          <a:xfrm>
            <a:off x="249300" y="3311550"/>
            <a:ext cx="39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05" name="Google Shape;105;h19034d514f5d6f97_0_18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Cover">
  <p:cSld name="TITLE_1_2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19034d514f5d6f97_0_1882"/>
          <p:cNvSpPr txBox="1">
            <a:spLocks noGrp="1"/>
          </p:cNvSpPr>
          <p:nvPr>
            <p:ph type="ctrTitle"/>
          </p:nvPr>
        </p:nvSpPr>
        <p:spPr>
          <a:xfrm>
            <a:off x="249300" y="1621850"/>
            <a:ext cx="39333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08" name="Google Shape;108;h19034d514f5d6f97_0_1882"/>
          <p:cNvSpPr txBox="1">
            <a:spLocks noGrp="1"/>
          </p:cNvSpPr>
          <p:nvPr>
            <p:ph type="subTitle" idx="1"/>
          </p:nvPr>
        </p:nvSpPr>
        <p:spPr>
          <a:xfrm>
            <a:off x="249300" y="3311550"/>
            <a:ext cx="39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09" name="Google Shape;109;h19034d514f5d6f97_0_18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l Cover">
  <p:cSld name="TITLE_1_2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19034d514f5d6f97_0_1886"/>
          <p:cNvSpPr txBox="1">
            <a:spLocks noGrp="1"/>
          </p:cNvSpPr>
          <p:nvPr>
            <p:ph type="ctrTitle"/>
          </p:nvPr>
        </p:nvSpPr>
        <p:spPr>
          <a:xfrm>
            <a:off x="249300" y="1621850"/>
            <a:ext cx="39333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12" name="Google Shape;112;h19034d514f5d6f97_0_1886"/>
          <p:cNvSpPr txBox="1">
            <a:spLocks noGrp="1"/>
          </p:cNvSpPr>
          <p:nvPr>
            <p:ph type="subTitle" idx="1"/>
          </p:nvPr>
        </p:nvSpPr>
        <p:spPr>
          <a:xfrm>
            <a:off x="249300" y="3311550"/>
            <a:ext cx="39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13" name="Google Shape;113;h19034d514f5d6f97_0_18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Cover">
  <p:cSld name="TITLE_1_2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19034d514f5d6f97_0_1890"/>
          <p:cNvSpPr txBox="1">
            <a:spLocks noGrp="1"/>
          </p:cNvSpPr>
          <p:nvPr>
            <p:ph type="ctrTitle"/>
          </p:nvPr>
        </p:nvSpPr>
        <p:spPr>
          <a:xfrm>
            <a:off x="249300" y="1621850"/>
            <a:ext cx="39333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16" name="Google Shape;116;h19034d514f5d6f97_0_1890"/>
          <p:cNvSpPr txBox="1">
            <a:spLocks noGrp="1"/>
          </p:cNvSpPr>
          <p:nvPr>
            <p:ph type="subTitle" idx="1"/>
          </p:nvPr>
        </p:nvSpPr>
        <p:spPr>
          <a:xfrm>
            <a:off x="249300" y="3311550"/>
            <a:ext cx="39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17" name="Google Shape;117;h19034d514f5d6f97_0_18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le Cover">
  <p:cSld name="TITLE_1_2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19034d514f5d6f97_0_1894"/>
          <p:cNvSpPr txBox="1">
            <a:spLocks noGrp="1"/>
          </p:cNvSpPr>
          <p:nvPr>
            <p:ph type="ctrTitle"/>
          </p:nvPr>
        </p:nvSpPr>
        <p:spPr>
          <a:xfrm>
            <a:off x="249300" y="1621850"/>
            <a:ext cx="39333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Inter Tight"/>
              <a:buNone/>
              <a:defRPr sz="3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20" name="Google Shape;120;h19034d514f5d6f97_0_1894"/>
          <p:cNvSpPr txBox="1">
            <a:spLocks noGrp="1"/>
          </p:cNvSpPr>
          <p:nvPr>
            <p:ph type="subTitle" idx="1"/>
          </p:nvPr>
        </p:nvSpPr>
        <p:spPr>
          <a:xfrm>
            <a:off x="249300" y="3311550"/>
            <a:ext cx="39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8C"/>
              </a:buClr>
              <a:buSzPts val="2000"/>
              <a:buFont typeface="Momo Trust Sans"/>
              <a:buNone/>
              <a:defRPr sz="2000">
                <a:solidFill>
                  <a:srgbClr val="FF438C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21" name="Google Shape;121;h19034d514f5d6f97_0_18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nk Page with Pattern Background (Dark Pink)">
  <p:cSld name="CUSTOM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57">
          <p15:clr>
            <a:srgbClr val="E46962"/>
          </p15:clr>
        </p15:guide>
        <p15:guide id="2" orient="horz" pos="157">
          <p15:clr>
            <a:srgbClr val="E46962"/>
          </p15:clr>
        </p15:guide>
        <p15:guide id="3" orient="horz" pos="3083">
          <p15:clr>
            <a:srgbClr val="E46962"/>
          </p15:clr>
        </p15:guide>
        <p15:guide id="4" pos="5603">
          <p15:clr>
            <a:srgbClr val="E46962"/>
          </p15:clr>
        </p15:guide>
        <p15:guide id="5" pos="2880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nk 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9034d514f5d6f97_0_1899"/>
          <p:cNvSpPr txBox="1">
            <a:spLocks noGrp="1"/>
          </p:cNvSpPr>
          <p:nvPr>
            <p:ph type="ctrTitle"/>
          </p:nvPr>
        </p:nvSpPr>
        <p:spPr>
          <a:xfrm>
            <a:off x="791300" y="1330600"/>
            <a:ext cx="7297800" cy="21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25" name="Google Shape;125;h19034d514f5d6f97_0_1899"/>
          <p:cNvSpPr txBox="1">
            <a:spLocks noGrp="1"/>
          </p:cNvSpPr>
          <p:nvPr>
            <p:ph type="subTitle" idx="1"/>
          </p:nvPr>
        </p:nvSpPr>
        <p:spPr>
          <a:xfrm>
            <a:off x="688725" y="3020300"/>
            <a:ext cx="7503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mo Trust Sans"/>
              <a:buNone/>
              <a:defRPr sz="2000"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26" name="Google Shape;126;h19034d514f5d6f97_0_18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h19034d514f5d6f97_0_1899"/>
          <p:cNvSpPr/>
          <p:nvPr/>
        </p:nvSpPr>
        <p:spPr>
          <a:xfrm>
            <a:off x="0" y="0"/>
            <a:ext cx="249300" cy="2493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Quote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19034d514f5d6f97_0_1904"/>
          <p:cNvSpPr txBox="1">
            <a:spLocks noGrp="1"/>
          </p:cNvSpPr>
          <p:nvPr>
            <p:ph type="ctrTitle"/>
          </p:nvPr>
        </p:nvSpPr>
        <p:spPr>
          <a:xfrm>
            <a:off x="791300" y="1330600"/>
            <a:ext cx="7297800" cy="21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30" name="Google Shape;130;h19034d514f5d6f97_0_1904"/>
          <p:cNvSpPr txBox="1">
            <a:spLocks noGrp="1"/>
          </p:cNvSpPr>
          <p:nvPr>
            <p:ph type="subTitle" idx="1"/>
          </p:nvPr>
        </p:nvSpPr>
        <p:spPr>
          <a:xfrm>
            <a:off x="688725" y="3020300"/>
            <a:ext cx="7503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mo Trust Sans"/>
              <a:buNone/>
              <a:defRPr sz="2000"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31" name="Google Shape;131;h19034d514f5d6f97_0_19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h19034d514f5d6f97_0_1904"/>
          <p:cNvSpPr/>
          <p:nvPr/>
        </p:nvSpPr>
        <p:spPr>
          <a:xfrm>
            <a:off x="0" y="0"/>
            <a:ext cx="249300" cy="2493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Quote">
  <p:cSld name="TITLE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19034d514f5d6f97_0_1909"/>
          <p:cNvSpPr txBox="1">
            <a:spLocks noGrp="1"/>
          </p:cNvSpPr>
          <p:nvPr>
            <p:ph type="ctrTitle"/>
          </p:nvPr>
        </p:nvSpPr>
        <p:spPr>
          <a:xfrm>
            <a:off x="791300" y="1330600"/>
            <a:ext cx="7297800" cy="21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35" name="Google Shape;135;h19034d514f5d6f97_0_1909"/>
          <p:cNvSpPr txBox="1">
            <a:spLocks noGrp="1"/>
          </p:cNvSpPr>
          <p:nvPr>
            <p:ph type="subTitle" idx="1"/>
          </p:nvPr>
        </p:nvSpPr>
        <p:spPr>
          <a:xfrm>
            <a:off x="688725" y="3020300"/>
            <a:ext cx="7503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mo Trust Sans"/>
              <a:buNone/>
              <a:defRPr sz="2000"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136" name="Google Shape;136;h19034d514f5d6f97_0_190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h19034d514f5d6f97_0_1909"/>
          <p:cNvSpPr/>
          <p:nvPr/>
        </p:nvSpPr>
        <p:spPr>
          <a:xfrm>
            <a:off x="0" y="0"/>
            <a:ext cx="249300" cy="2493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Quote">
  <p:cSld name="TITLE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19034d514f5d6f97_0_1914"/>
          <p:cNvSpPr txBox="1">
            <a:spLocks noGrp="1"/>
          </p:cNvSpPr>
          <p:nvPr>
            <p:ph type="ctrTitle"/>
          </p:nvPr>
        </p:nvSpPr>
        <p:spPr>
          <a:xfrm>
            <a:off x="791300" y="1330600"/>
            <a:ext cx="7297800" cy="21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40" name="Google Shape;140;h19034d514f5d6f97_0_1914"/>
          <p:cNvSpPr txBox="1">
            <a:spLocks noGrp="1"/>
          </p:cNvSpPr>
          <p:nvPr>
            <p:ph type="subTitle" idx="1"/>
          </p:nvPr>
        </p:nvSpPr>
        <p:spPr>
          <a:xfrm>
            <a:off x="688725" y="3020300"/>
            <a:ext cx="7503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mo Trust Sans"/>
              <a:buNone/>
              <a:defRPr sz="2000"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41" name="Google Shape;141;h19034d514f5d6f97_0_19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h19034d514f5d6f97_0_1914"/>
          <p:cNvSpPr/>
          <p:nvPr/>
        </p:nvSpPr>
        <p:spPr>
          <a:xfrm>
            <a:off x="0" y="0"/>
            <a:ext cx="249300" cy="2493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Quote">
  <p:cSld name="TITLE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19034d514f5d6f97_0_1919"/>
          <p:cNvSpPr txBox="1">
            <a:spLocks noGrp="1"/>
          </p:cNvSpPr>
          <p:nvPr>
            <p:ph type="ctrTitle"/>
          </p:nvPr>
        </p:nvSpPr>
        <p:spPr>
          <a:xfrm>
            <a:off x="791300" y="1330600"/>
            <a:ext cx="7297800" cy="21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45" name="Google Shape;145;h19034d514f5d6f97_0_1919"/>
          <p:cNvSpPr txBox="1">
            <a:spLocks noGrp="1"/>
          </p:cNvSpPr>
          <p:nvPr>
            <p:ph type="subTitle" idx="1"/>
          </p:nvPr>
        </p:nvSpPr>
        <p:spPr>
          <a:xfrm>
            <a:off x="688725" y="3020300"/>
            <a:ext cx="7503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mo Trust Sans"/>
              <a:buNone/>
              <a:defRPr sz="2000"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146" name="Google Shape;146;h19034d514f5d6f97_0_19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h19034d514f5d6f97_0_1919"/>
          <p:cNvSpPr/>
          <p:nvPr/>
        </p:nvSpPr>
        <p:spPr>
          <a:xfrm>
            <a:off x="0" y="0"/>
            <a:ext cx="249300" cy="2493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l Quote">
  <p:cSld name="TITLE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19034d514f5d6f97_0_1924"/>
          <p:cNvSpPr txBox="1">
            <a:spLocks noGrp="1"/>
          </p:cNvSpPr>
          <p:nvPr>
            <p:ph type="ctrTitle"/>
          </p:nvPr>
        </p:nvSpPr>
        <p:spPr>
          <a:xfrm>
            <a:off x="791300" y="1330600"/>
            <a:ext cx="7297800" cy="21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50" name="Google Shape;150;h19034d514f5d6f97_0_1924"/>
          <p:cNvSpPr txBox="1">
            <a:spLocks noGrp="1"/>
          </p:cNvSpPr>
          <p:nvPr>
            <p:ph type="subTitle" idx="1"/>
          </p:nvPr>
        </p:nvSpPr>
        <p:spPr>
          <a:xfrm>
            <a:off x="688725" y="3020300"/>
            <a:ext cx="7503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mo Trust Sans"/>
              <a:buNone/>
              <a:defRPr sz="2000"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Inter Tight"/>
              <a:buNone/>
              <a:defRPr sz="23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51" name="Google Shape;151;h19034d514f5d6f97_0_19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h19034d514f5d6f97_0_1924"/>
          <p:cNvSpPr/>
          <p:nvPr/>
        </p:nvSpPr>
        <p:spPr>
          <a:xfrm>
            <a:off x="0" y="0"/>
            <a:ext cx="249300" cy="2493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Quote">
  <p:cSld name="TITLE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19034d514f5d6f97_0_1929"/>
          <p:cNvSpPr txBox="1">
            <a:spLocks noGrp="1"/>
          </p:cNvSpPr>
          <p:nvPr>
            <p:ph type="ctrTitle"/>
          </p:nvPr>
        </p:nvSpPr>
        <p:spPr>
          <a:xfrm>
            <a:off x="791300" y="1330600"/>
            <a:ext cx="7297800" cy="21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55" name="Google Shape;155;h19034d514f5d6f97_0_1929"/>
          <p:cNvSpPr txBox="1">
            <a:spLocks noGrp="1"/>
          </p:cNvSpPr>
          <p:nvPr>
            <p:ph type="subTitle" idx="1"/>
          </p:nvPr>
        </p:nvSpPr>
        <p:spPr>
          <a:xfrm>
            <a:off x="688725" y="3020300"/>
            <a:ext cx="7503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mo Trust Sans"/>
              <a:buNone/>
              <a:defRPr sz="2000"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156" name="Google Shape;156;h19034d514f5d6f97_0_19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h19034d514f5d6f97_0_1929"/>
          <p:cNvSpPr/>
          <p:nvPr/>
        </p:nvSpPr>
        <p:spPr>
          <a:xfrm>
            <a:off x="0" y="0"/>
            <a:ext cx="249300" cy="2493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le Quote">
  <p:cSld name="TITLE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9034d514f5d6f97_0_1934"/>
          <p:cNvSpPr txBox="1">
            <a:spLocks noGrp="1"/>
          </p:cNvSpPr>
          <p:nvPr>
            <p:ph type="ctrTitle"/>
          </p:nvPr>
        </p:nvSpPr>
        <p:spPr>
          <a:xfrm>
            <a:off x="791300" y="1330600"/>
            <a:ext cx="7297800" cy="21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Inter Tight"/>
              <a:buNone/>
              <a:defRPr sz="45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160" name="Google Shape;160;h19034d514f5d6f97_0_1934"/>
          <p:cNvSpPr txBox="1">
            <a:spLocks noGrp="1"/>
          </p:cNvSpPr>
          <p:nvPr>
            <p:ph type="subTitle" idx="1"/>
          </p:nvPr>
        </p:nvSpPr>
        <p:spPr>
          <a:xfrm>
            <a:off x="688725" y="3020300"/>
            <a:ext cx="7503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mo Trust Sans"/>
              <a:buNone/>
              <a:defRPr sz="2000">
                <a:latin typeface="Momo Trust Sans"/>
                <a:ea typeface="Momo Trust Sans"/>
                <a:cs typeface="Momo Trust Sans"/>
                <a:sym typeface="Momo Trus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161" name="Google Shape;161;h19034d514f5d6f97_0_19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h19034d514f5d6f97_0_1934"/>
          <p:cNvSpPr/>
          <p:nvPr/>
        </p:nvSpPr>
        <p:spPr>
          <a:xfrm>
            <a:off x="0" y="0"/>
            <a:ext cx="249300" cy="2493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157">
          <p15:clr>
            <a:srgbClr val="E46962"/>
          </p15:clr>
        </p15:guide>
        <p15:guide id="4" orient="horz" pos="3083">
          <p15:clr>
            <a:srgbClr val="E46962"/>
          </p15:clr>
        </p15:guide>
        <p15:guide id="5" pos="157">
          <p15:clr>
            <a:srgbClr val="E46962"/>
          </p15:clr>
        </p15:guide>
        <p15:guide id="6" pos="5603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41.xml"/><Relationship Id="rId39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3.xml"/><Relationship Id="rId41" Type="http://schemas.openxmlformats.org/officeDocument/2006/relationships/slideLayout" Target="../slideLayouts/slideLayout44.xml"/><Relationship Id="rId42" Type="http://schemas.openxmlformats.org/officeDocument/2006/relationships/slideLayout" Target="../slideLayouts/slideLayout45.xml"/><Relationship Id="rId43" Type="http://schemas.openxmlformats.org/officeDocument/2006/relationships/slideLayout" Target="../slideLayouts/slideLayout46.xml"/><Relationship Id="rId44" Type="http://schemas.openxmlformats.org/officeDocument/2006/relationships/slideLayout" Target="../slideLayouts/slideLayout47.xml"/><Relationship Id="rId4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19034d514f5d6f97_0_17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Display"/>
              <a:buNone/>
              <a:defRPr sz="2800">
                <a:solidFill>
                  <a:schemeClr val="dk1"/>
                </a:solidFill>
                <a:latin typeface="Momo Trust Display"/>
                <a:ea typeface="Momo Trust Display"/>
                <a:cs typeface="Momo Trust Display"/>
                <a:sym typeface="Momo Trus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Sans"/>
              <a:buNone/>
              <a:defRPr sz="28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Sans"/>
              <a:buNone/>
              <a:defRPr sz="28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Sans"/>
              <a:buNone/>
              <a:defRPr sz="28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Sans"/>
              <a:buNone/>
              <a:defRPr sz="28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Sans"/>
              <a:buNone/>
              <a:defRPr sz="28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Sans"/>
              <a:buNone/>
              <a:defRPr sz="28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Sans"/>
              <a:buNone/>
              <a:defRPr sz="28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mo Trust Sans"/>
              <a:buNone/>
              <a:defRPr sz="28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9pPr>
          </a:lstStyle>
          <a:p>
            <a:endParaRPr/>
          </a:p>
        </p:txBody>
      </p:sp>
      <p:sp>
        <p:nvSpPr>
          <p:cNvPr id="17" name="Google Shape;17;h19034d514f5d6f97_0_17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mo Trust Sans SemiBold"/>
              <a:buChar char="●"/>
              <a:defRPr sz="1700">
                <a:solidFill>
                  <a:schemeClr val="dk1"/>
                </a:solidFill>
                <a:latin typeface="Momo Trust Sans SemiBold"/>
                <a:ea typeface="Momo Trust Sans SemiBold"/>
                <a:cs typeface="Momo Trust Sans SemiBold"/>
                <a:sym typeface="Momo Trust Sans SemiBold"/>
              </a:defRPr>
            </a:lvl1pPr>
            <a:lvl2pPr marL="914400" lvl="1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mo Trust Sans"/>
              <a:buChar char="○"/>
              <a:defRPr sz="13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2pPr>
            <a:lvl3pPr marL="1371600" lvl="2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mo Trust Sans"/>
              <a:buChar char="■"/>
              <a:defRPr sz="13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3pPr>
            <a:lvl4pPr marL="1828800" lvl="3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mo Trust Sans"/>
              <a:buChar char="●"/>
              <a:defRPr sz="13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4pPr>
            <a:lvl5pPr marL="2286000" lvl="4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mo Trust Sans"/>
              <a:buChar char="○"/>
              <a:defRPr sz="13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5pPr>
            <a:lvl6pPr marL="2743200" lvl="5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mo Trust Sans"/>
              <a:buChar char="■"/>
              <a:defRPr sz="13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6pPr>
            <a:lvl7pPr marL="3200400" lvl="6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mo Trust Sans"/>
              <a:buChar char="●"/>
              <a:defRPr sz="13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7pPr>
            <a:lvl8pPr marL="3657600" lvl="7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mo Trust Sans"/>
              <a:buChar char="○"/>
              <a:defRPr sz="13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8pPr>
            <a:lvl9pPr marL="4114800" lvl="8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mo Trust Sans"/>
              <a:buChar char="■"/>
              <a:defRPr sz="1300">
                <a:solidFill>
                  <a:schemeClr val="dk1"/>
                </a:solidFill>
                <a:latin typeface="Momo Trust Sans"/>
                <a:ea typeface="Momo Trust Sans"/>
                <a:cs typeface="Momo Trust Sans"/>
                <a:sym typeface="Momo Trust Sans"/>
              </a:defRPr>
            </a:lvl9pPr>
          </a:lstStyle>
          <a:p>
            <a:endParaRPr/>
          </a:p>
        </p:txBody>
      </p:sp>
      <p:sp>
        <p:nvSpPr>
          <p:cNvPr id="18" name="Google Shape;18;h19034d514f5d6f97_0_17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F4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/>
          <p:nvPr/>
        </p:nvSpPr>
        <p:spPr>
          <a:xfrm>
            <a:off x="476475" y="611588"/>
            <a:ext cx="8046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2800" b="1">
                <a:solidFill>
                  <a:srgbClr val="1C171A"/>
                </a:solidFill>
              </a:defRPr>
            </a:pPr>
            <a:r>
              <a:t>Web Platform — Báo Cáo Tháng 10/2026</a:t>
            </a:r>
          </a:p>
        </p:txBody>
      </p:sp>
      <p:sp>
        <p:nvSpPr>
          <p:cNvPr id="305" name="Google Shape;305;p1"/>
          <p:cNvSpPr/>
          <p:nvPr/>
        </p:nvSpPr>
        <p:spPr>
          <a:xfrm>
            <a:off x="476465" y="1791225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300">
                <a:solidFill>
                  <a:srgbClr val="5C5060"/>
                </a:solidFill>
              </a:defRPr>
            </a:pPr>
            <a:r>
              <a:t>Report để cung cấp thông tin  •  Meeting để thảo luận và ra quyết định</a:t>
            </a:r>
          </a:p>
        </p:txBody>
      </p:sp>
      <p:sp>
        <p:nvSpPr>
          <p:cNvPr id="306" name="Google Shape;306;p1"/>
          <p:cNvSpPr/>
          <p:nvPr/>
        </p:nvSpPr>
        <p:spPr>
          <a:xfrm>
            <a:off x="476465" y="2522745"/>
            <a:ext cx="347400" cy="347400"/>
          </a:xfrm>
          <a:prstGeom prst="ellipse">
            <a:avLst/>
          </a:prstGeom>
          <a:solidFill>
            <a:srgbClr val="A50064"/>
          </a:solidFill>
          <a:ln w="1270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"/>
          <p:cNvSpPr/>
          <p:nvPr/>
        </p:nvSpPr>
        <p:spPr>
          <a:xfrm>
            <a:off x="476465" y="2522745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"/>
          <p:cNvSpPr/>
          <p:nvPr/>
        </p:nvSpPr>
        <p:spPr>
          <a:xfrm>
            <a:off x="979385" y="2522745"/>
            <a:ext cx="7315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Reporting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Pre-read, không trình bày lại trong họp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"/>
          <p:cNvSpPr/>
          <p:nvPr/>
        </p:nvSpPr>
        <p:spPr>
          <a:xfrm>
            <a:off x="476465" y="2979945"/>
            <a:ext cx="347400" cy="347400"/>
          </a:xfrm>
          <a:prstGeom prst="ellipse">
            <a:avLst/>
          </a:prstGeom>
          <a:solidFill>
            <a:srgbClr val="A50064"/>
          </a:solidFill>
          <a:ln w="1270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"/>
          <p:cNvSpPr/>
          <p:nvPr/>
        </p:nvSpPr>
        <p:spPr>
          <a:xfrm>
            <a:off x="476465" y="2979945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"/>
          <p:cNvSpPr/>
          <p:nvPr/>
        </p:nvSpPr>
        <p:spPr>
          <a:xfrm>
            <a:off x="979385" y="2979945"/>
            <a:ext cx="7315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Cần thảo luận / alignment / quyết định — nội dung chính của họp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"/>
          <p:cNvSpPr/>
          <p:nvPr/>
        </p:nvSpPr>
        <p:spPr>
          <a:xfrm>
            <a:off x="476465" y="3437145"/>
            <a:ext cx="347400" cy="347400"/>
          </a:xfrm>
          <a:prstGeom prst="ellipse">
            <a:avLst/>
          </a:prstGeom>
          <a:solidFill>
            <a:srgbClr val="A50064"/>
          </a:solidFill>
          <a:ln w="1270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"/>
          <p:cNvSpPr/>
          <p:nvPr/>
        </p:nvSpPr>
        <p:spPr>
          <a:xfrm>
            <a:off x="476465" y="3437145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"/>
          <p:cNvSpPr/>
          <p:nvPr/>
        </p:nvSpPr>
        <p:spPr>
          <a:xfrm>
            <a:off x="979385" y="3437145"/>
            <a:ext cx="7315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FYI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Thông tin tham khảo, không thảo luận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"/>
          <p:cNvSpPr txBox="1"/>
          <p:nvPr/>
        </p:nvSpPr>
        <p:spPr>
          <a:xfrm>
            <a:off x="476475" y="3978600"/>
            <a:ext cx="8379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000">
                <a:solidFill>
                  <a:srgbClr val="5C5060"/>
                </a:solidFill>
              </a:defRPr>
            </a:pPr>
            <a:r>
              <a:t>Note: Kỳ dữ liệu từ 01/10/2026 đến 30/10/2026 (MTD 30 ngày &amp; ước tính 31 ngày). Nguồn: GA4 (Property 270743103). Báo cáo tập trung vào tăng trưởng lượt xem (Pageviews) và mở rộng hệ sinh thái sản phẩm mới.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"/>
          <p:cNvSpPr/>
          <p:nvPr/>
        </p:nvSpPr>
        <p:spPr>
          <a:xfrm>
            <a:off x="320040" y="347472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800" b="1">
                <a:solidFill>
                  <a:srgbClr val="1C171A"/>
                </a:solidFill>
              </a:defRPr>
            </a:pPr>
            <a:r>
              <a:t>Discussion Topics — 1 Chủ Đề Trọng Tâm: 0 Discuss, 1 Approve</a:t>
            </a:r>
          </a:p>
        </p:txBody>
      </p:sp>
      <p:sp>
        <p:nvSpPr>
          <p:cNvPr id="344" name="Google Shape;344;p2"/>
          <p:cNvSpPr/>
          <p:nvPr/>
        </p:nvSpPr>
        <p:spPr>
          <a:xfrm>
            <a:off x="8394192" y="146304"/>
            <a:ext cx="384048" cy="384048"/>
          </a:xfrm>
          <a:prstGeom prst="ellipse">
            <a:avLst/>
          </a:prstGeom>
          <a:solidFill>
            <a:srgbClr val="F95396"/>
          </a:solidFill>
          <a:ln w="12700" cap="flat" cmpd="sng">
            <a:solidFill>
              <a:srgbClr val="F95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"/>
          <p:cNvSpPr/>
          <p:nvPr/>
        </p:nvSpPr>
        <p:spPr>
          <a:xfrm>
            <a:off x="8394192" y="146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"/>
          <p:cNvSpPr/>
          <p:nvPr/>
        </p:nvSpPr>
        <p:spPr>
          <a:xfrm>
            <a:off x="8119872" y="548640"/>
            <a:ext cx="9326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5396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F95396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"/>
          <p:cNvSpPr/>
          <p:nvPr/>
        </p:nvSpPr>
        <p:spPr>
          <a:xfrm>
            <a:off x="320040" y="487375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Nguồn: GA4 (Property 270743103)   |   Owner: Web Platform   |   Chốt số liệu: 30/10/2026</a:t>
            </a:r>
          </a:p>
        </p:txBody>
      </p:sp>
      <p:sp>
        <p:nvSpPr>
          <p:cNvPr id="348" name="Google Shape;348;p2"/>
          <p:cNvSpPr/>
          <p:nvPr/>
        </p:nvSpPr>
        <p:spPr>
          <a:xfrm>
            <a:off x="8321040" y="48737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2 / 7</a:t>
            </a:r>
          </a:p>
        </p:txBody>
      </p:sp>
      <p:graphicFrame>
        <p:nvGraphicFramePr>
          <p:cNvPr id="349" name="Google Shape;349;p2"/>
          <p:cNvGraphicFramePr/>
          <p:nvPr/>
        </p:nvGraphicFramePr>
        <p:xfrm>
          <a:off x="274315" y="1005840"/>
          <a:ext cx="8823960" cy="1261872"/>
        </p:xfrm>
        <a:graphic>
          <a:graphicData uri="http://schemas.openxmlformats.org/drawingml/2006/table">
            <a:tbl>
              <a:tblPr>
                <a:noFill/>
                <a:tableStyleId>{E4150D1B-22CA-4B41-9D43-DA15F05A9917}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Chủ đề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Loại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Cần CEO/BOM quyết định / hỗ trợ gì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Tác động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Hạn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Ưu tiên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Chi tiết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1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/>
                      </a:pPr>
                      <a:r>
                        <a:t>Kế Hoạch Ra Mắt Bộ Tiện Ích Thuế TNCN &amp; Tính Lương Cuối Năm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D82D8B"/>
                          </a:solidFill>
                        </a:defRPr>
                      </a:pPr>
                      <a:r>
                        <a:t>Approve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Phê duyệt kế hoạch phát hành và cơ chế phối hợp dữ liệu biểu mẫu thuế với Finhub; ưu tiên tài nguyên kỹ thuật go-live trong tháng 11/2026.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59669"/>
                          </a:solidFill>
                        </a:defRPr>
                      </a:pPr>
                      <a:r>
                        <a:t>Dự kiến thu hút 300K - 500K Pageviews tự nhiên; đón đỉnh tìm kiếm quyết toán thuế cuối năm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t>31/10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91C1C"/>
                          </a:solidFill>
                        </a:defRPr>
                      </a:pPr>
                      <a:r>
                        <a:t>CAO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D82D8B"/>
                          </a:solidFill>
                        </a:defRPr>
                      </a:pPr>
                      <a:r>
                        <a:t>Slide 3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0" name="Google Shape;350;p2"/>
          <p:cNvSpPr/>
          <p:nvPr/>
        </p:nvSpPr>
        <p:spPr>
          <a:xfrm>
            <a:off x="274378" y="3291840"/>
            <a:ext cx="8503800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"/>
          <p:cNvSpPr/>
          <p:nvPr/>
        </p:nvSpPr>
        <p:spPr>
          <a:xfrm>
            <a:off x="411538" y="3474720"/>
            <a:ext cx="1051500" cy="196200"/>
          </a:xfrm>
          <a:prstGeom prst="roundRect">
            <a:avLst>
              <a:gd name="adj" fmla="val 27942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"/>
          <p:cNvSpPr/>
          <p:nvPr/>
        </p:nvSpPr>
        <p:spPr>
          <a:xfrm>
            <a:off x="411538" y="3474720"/>
            <a:ext cx="10515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Nội dung chính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"/>
          <p:cNvSpPr/>
          <p:nvPr/>
        </p:nvSpPr>
        <p:spPr>
          <a:xfrm>
            <a:off x="1645978" y="3337560"/>
            <a:ext cx="6995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01. Bộ Tiện Ích Thuế &amp; Lương: Phê duyệt kế hoạch go-live bộ công cụ Tính Thuế TNCN &amp; Lương Gross-Net đón đỉnh tìm kiếm quyết toán cuối năm (300K - 500K PVs).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02. Phối hợp dữ liệu Finhub/Bank: Thống nhất cơ chế đối soát biểu mẫu và chuẩn hóa công thức tính thuế lũy tiến theo quy định hiện hành.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03. Kỷ luật phê duyệt: Hoàn tất phê duyệt trước 31/10 để kịp kiểm thử chất lượng và go-live đúng kỳ tính lương tháng 11/2026.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"/>
          <p:cNvSpPr/>
          <p:nvPr/>
        </p:nvSpPr>
        <p:spPr>
          <a:xfrm>
            <a:off x="320050" y="347475"/>
            <a:ext cx="8281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800" b="1">
                <a:solidFill>
                  <a:srgbClr val="1C171A"/>
                </a:solidFill>
              </a:defRPr>
            </a:pPr>
            <a:r>
              <a:t>Đề Xuất 1: Phát Hành Bộ Tiện Ích Thuế Thu Nhập Cá Nhân &amp; Tính Lương Gross-Net</a:t>
            </a:r>
          </a:p>
        </p:txBody>
      </p:sp>
      <p:sp>
        <p:nvSpPr>
          <p:cNvPr id="380" name="Google Shape;380;p3"/>
          <p:cNvSpPr/>
          <p:nvPr/>
        </p:nvSpPr>
        <p:spPr>
          <a:xfrm>
            <a:off x="8394192" y="146304"/>
            <a:ext cx="384048" cy="384048"/>
          </a:xfrm>
          <a:prstGeom prst="ellipse">
            <a:avLst/>
          </a:prstGeom>
          <a:solidFill>
            <a:srgbClr val="F95396"/>
          </a:solidFill>
          <a:ln w="12700" cap="flat" cmpd="sng">
            <a:solidFill>
              <a:srgbClr val="F95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"/>
          <p:cNvSpPr/>
          <p:nvPr/>
        </p:nvSpPr>
        <p:spPr>
          <a:xfrm>
            <a:off x="8394192" y="14630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"/>
          <p:cNvSpPr/>
          <p:nvPr/>
        </p:nvSpPr>
        <p:spPr>
          <a:xfrm>
            <a:off x="8119872" y="548640"/>
            <a:ext cx="9326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5396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F95396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"/>
          <p:cNvSpPr/>
          <p:nvPr/>
        </p:nvSpPr>
        <p:spPr>
          <a:xfrm>
            <a:off x="320040" y="487375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Nguồn: Google Search Trends &amp; Web Platform   |   Owner: Web Platform   |   Chốt số liệu: 30/10/2026</a:t>
            </a:r>
          </a:p>
        </p:txBody>
      </p:sp>
      <p:sp>
        <p:nvSpPr>
          <p:cNvPr id="384" name="Google Shape;384;p3"/>
          <p:cNvSpPr/>
          <p:nvPr/>
        </p:nvSpPr>
        <p:spPr>
          <a:xfrm>
            <a:off x="8321040" y="48737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3 / 7</a:t>
            </a:r>
          </a:p>
        </p:txBody>
      </p:sp>
      <p:sp>
        <p:nvSpPr>
          <p:cNvPr id="385" name="Google Shape;385;p3"/>
          <p:cNvSpPr/>
          <p:nvPr/>
        </p:nvSpPr>
        <p:spPr>
          <a:xfrm>
            <a:off x="274340" y="985856"/>
            <a:ext cx="5303400" cy="604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"/>
          <p:cNvSpPr/>
          <p:nvPr/>
        </p:nvSpPr>
        <p:spPr>
          <a:xfrm>
            <a:off x="411500" y="1189756"/>
            <a:ext cx="1097400" cy="196200"/>
          </a:xfrm>
          <a:prstGeom prst="roundRect">
            <a:avLst>
              <a:gd name="adj" fmla="val 27942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"/>
          <p:cNvSpPr/>
          <p:nvPr/>
        </p:nvSpPr>
        <p:spPr>
          <a:xfrm>
            <a:off x="411500" y="1189756"/>
            <a:ext cx="10974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"/>
          <p:cNvSpPr/>
          <p:nvPr/>
        </p:nvSpPr>
        <p:spPr>
          <a:xfrm>
            <a:off x="1645940" y="1023615"/>
            <a:ext cx="3840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Nhu cầu tìm kiếm về quyết toán thuế TNCN và tính lương thưởng Tết tăng mạnh từ tháng 11 đến tháng 1 hàng năm (tổng volume toàn thị trường &gt;1.2M lượt tìm kiếm/tháng). Nền tảng Web cần bộ công cụ tính toán tự động chuẩn xác để giữ chân người dùng và tạo lưu lượng tự nhiên chất lượng cao.</a:t>
            </a:r>
          </a:p>
        </p:txBody>
      </p:sp>
      <p:sp>
        <p:nvSpPr>
          <p:cNvPr id="389" name="Google Shape;389;p3"/>
          <p:cNvSpPr/>
          <p:nvPr/>
        </p:nvSpPr>
        <p:spPr>
          <a:xfrm>
            <a:off x="274340" y="1650420"/>
            <a:ext cx="5303400" cy="604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"/>
          <p:cNvSpPr/>
          <p:nvPr/>
        </p:nvSpPr>
        <p:spPr>
          <a:xfrm>
            <a:off x="411500" y="1854321"/>
            <a:ext cx="1097400" cy="196200"/>
          </a:xfrm>
          <a:prstGeom prst="roundRect">
            <a:avLst>
              <a:gd name="adj" fmla="val 27942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"/>
          <p:cNvSpPr/>
          <p:nvPr/>
        </p:nvSpPr>
        <p:spPr>
          <a:xfrm>
            <a:off x="411500" y="1854321"/>
            <a:ext cx="10974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Bối cảnh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"/>
          <p:cNvSpPr/>
          <p:nvPr/>
        </p:nvSpPr>
        <p:spPr>
          <a:xfrm>
            <a:off x="1645940" y="1688180"/>
            <a:ext cx="3840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Đội ngũ kỹ thuật đã hoàn thành bản thử nghiệm (Staging) cho công cụ Tính Thuế TNCN và Tính Lương Gross-Net theo biểu thuế lũy tiến từng phần và quy định giảm trừ gia cảnh mới nhất. Tiện ích dự kiến thu hút 300K - 500K Pageviews tự nhiên mỗi tháng, nâng thời gian lưu trang trung bình lên trên 2.5 phút.</a:t>
            </a:r>
          </a:p>
        </p:txBody>
      </p:sp>
      <p:sp>
        <p:nvSpPr>
          <p:cNvPr id="393" name="Google Shape;393;p3"/>
          <p:cNvSpPr/>
          <p:nvPr/>
        </p:nvSpPr>
        <p:spPr>
          <a:xfrm>
            <a:off x="274340" y="2314985"/>
            <a:ext cx="5303400" cy="604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"/>
          <p:cNvSpPr/>
          <p:nvPr/>
        </p:nvSpPr>
        <p:spPr>
          <a:xfrm>
            <a:off x="411500" y="2518885"/>
            <a:ext cx="1097400" cy="196200"/>
          </a:xfrm>
          <a:prstGeom prst="roundRect">
            <a:avLst>
              <a:gd name="adj" fmla="val 27942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"/>
          <p:cNvSpPr/>
          <p:nvPr/>
        </p:nvSpPr>
        <p:spPr>
          <a:xfrm>
            <a:off x="411500" y="2518885"/>
            <a:ext cx="10974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Tác động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"/>
          <p:cNvSpPr/>
          <p:nvPr/>
        </p:nvSpPr>
        <p:spPr>
          <a:xfrm>
            <a:off x="1645940" y="2352744"/>
            <a:ext cx="3840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Thu hút 300K - 500K Pageviews tự nhiên bền vững không tốn chi phí quảng cáo; mở rộng điểm chạm sản phẩm tài chính cá nhân; tăng thời gian tương tác onsite lên gấp 3 lần so với bài viết tĩnh.</a:t>
            </a:r>
          </a:p>
        </p:txBody>
      </p:sp>
      <p:sp>
        <p:nvSpPr>
          <p:cNvPr id="397" name="Google Shape;397;p3"/>
          <p:cNvSpPr/>
          <p:nvPr/>
        </p:nvSpPr>
        <p:spPr>
          <a:xfrm>
            <a:off x="274340" y="3009757"/>
            <a:ext cx="530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PHƯƠNG ÁN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8" name="Google Shape;398;p3"/>
          <p:cNvGraphicFramePr/>
          <p:nvPr/>
        </p:nvGraphicFramePr>
        <p:xfrm>
          <a:off x="274340" y="3191002"/>
          <a:ext cx="5303500" cy="800500"/>
        </p:xfrm>
        <a:graphic>
          <a:graphicData uri="http://schemas.openxmlformats.org/drawingml/2006/table">
            <a:tbl>
              <a:tblPr>
                <a:noFill/>
                <a:tableStyleId>{E4150D1B-22CA-4B41-9D43-DA15F05A9917}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3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Phương Án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Nội Dung Triển Khai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Tác Động Lượng Hóa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Đánh Giá Rủi Ro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07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Phương Án A</a:t>
                      </a:r>
                      <a:br/>
                      <a:r>
                        <a:t>(Khuyến nghị)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Phát hành bộ tiện ích chuẩn UX MoMo, tích hợp biểu mẫu thuế mới nhất, tự động tính giảm trừ gia cảnh và xuất bảng chi tiết.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59669"/>
                          </a:solidFill>
                        </a:defRPr>
                      </a:pPr>
                      <a:r>
                        <a:t>Đạt 300K - 500K Pageviews tự nhiên; tối ưu thời gian lưu trang &gt;2.5 phút.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Rủi ro thấp: Hạ tầng kỹ thuật đã hoàn thành trên môi trường Staging.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075"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Phương Án B</a:t>
                      </a:r>
                      <a:br/>
                      <a:r>
                        <a:t>(Hiện trạng)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Giữ các bài viết nội dung tĩnh thông thường không kèm công cụ tính toán tương tác.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91C1C"/>
                          </a:solidFill>
                        </a:defRPr>
                      </a:pPr>
                      <a:r>
                        <a:t>Tỷ lệ thoát trang cao (&gt;75%), bỏ lỡ nhu cầu tìm kiếm tiện ích công cụ của người dùng.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Rủi ro cao: Mất vị thế cạnh tranh trên Google Search vào tay các nền tảng tính lương ngoài.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9" name="Google Shape;399;p3"/>
          <p:cNvSpPr/>
          <p:nvPr/>
        </p:nvSpPr>
        <p:spPr>
          <a:xfrm>
            <a:off x="5669300" y="985856"/>
            <a:ext cx="3108900" cy="3171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"/>
          <p:cNvSpPr/>
          <p:nvPr/>
        </p:nvSpPr>
        <p:spPr>
          <a:xfrm>
            <a:off x="5806460" y="1046271"/>
            <a:ext cx="28347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Key Highlights &amp; Commentary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"/>
          <p:cNvSpPr/>
          <p:nvPr/>
        </p:nvSpPr>
        <p:spPr>
          <a:xfrm>
            <a:off x="5806460" y="1363449"/>
            <a:ext cx="1577400" cy="181200"/>
          </a:xfrm>
          <a:prstGeom prst="roundRect">
            <a:avLst>
              <a:gd name="adj" fmla="val 30271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"/>
          <p:cNvSpPr/>
          <p:nvPr/>
        </p:nvSpPr>
        <p:spPr>
          <a:xfrm>
            <a:off x="5806460" y="1363449"/>
            <a:ext cx="15774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Đề nghị với CEO/BOM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"/>
          <p:cNvSpPr/>
          <p:nvPr/>
        </p:nvSpPr>
        <p:spPr>
          <a:xfrm>
            <a:off x="5806460" y="1590005"/>
            <a:ext cx="28347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1000">
                <a:solidFill>
                  <a:srgbClr val="1C171A"/>
                </a:solidFill>
              </a:defRPr>
            </a:pPr>
            <a:r>
              <a:t>Nội dung xin phê duyệt (Approve): Phê duyệt kế hoạch go-live bộ công cụ Thuế TNCN &amp; Lương Gross-Net trong tháng 11/2026; phối hợp Finhub chuẩn hóa công thức tính thuế.</a:t>
            </a:r>
          </a:p>
          <a:p>
            <a:pPr>
              <a:defRPr sz="1000">
                <a:solidFill>
                  <a:srgbClr val="1C171A"/>
                </a:solidFill>
              </a:defRPr>
            </a:pPr>
            <a:r>
              <a:t>Khuyến nghị của BU: Thông qua Phương án A để đón trọn làn sóng tìm kiếm thuế và lương thưởng cuối năm, mở rộng danh mục sản phẩm tiện ích Web.</a:t>
            </a:r>
          </a:p>
        </p:txBody>
      </p:sp>
      <p:sp>
        <p:nvSpPr>
          <p:cNvPr id="404" name="Google Shape;404;p3"/>
          <p:cNvSpPr/>
          <p:nvPr/>
        </p:nvSpPr>
        <p:spPr>
          <a:xfrm>
            <a:off x="5806460" y="2798304"/>
            <a:ext cx="1645800" cy="181200"/>
          </a:xfrm>
          <a:prstGeom prst="roundRect">
            <a:avLst>
              <a:gd name="adj" fmla="val 30271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"/>
          <p:cNvSpPr/>
          <p:nvPr/>
        </p:nvSpPr>
        <p:spPr>
          <a:xfrm>
            <a:off x="5806460" y="2798304"/>
            <a:ext cx="16458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Rủi ro khi chậm quyết định</a:t>
            </a:r>
          </a:p>
        </p:txBody>
      </p:sp>
      <p:sp>
        <p:nvSpPr>
          <p:cNvPr id="406" name="Google Shape;406;p3"/>
          <p:cNvSpPr/>
          <p:nvPr/>
        </p:nvSpPr>
        <p:spPr>
          <a:xfrm>
            <a:off x="5806460" y="3024860"/>
            <a:ext cx="28347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Rủi ro khi chậm phê duyệt (sau 31/10): Không kịp kiểm thử công thức và triển khai trước kỳ lương tháng 11, bỏ lỡ điểm rơi nhu cầu cao điểm vào tay các website công cụ đối thủ.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"/>
          <p:cNvSpPr/>
          <p:nvPr/>
        </p:nvSpPr>
        <p:spPr>
          <a:xfrm>
            <a:off x="320040" y="347472"/>
            <a:ext cx="76809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700" b="1">
                <a:solidFill>
                  <a:srgbClr val="1C171A"/>
                </a:solidFill>
              </a:defRPr>
            </a:pPr>
            <a:r>
              <a:t>Kênh Tự Nhiên Vượt Mốc 3.04M Lượt Xem (+14.0% MoM), Tự Bù Đắp 725K Ads Cắt Giảm Và Đạt 98.6% Dự Báo</a:t>
            </a:r>
          </a:p>
        </p:txBody>
      </p:sp>
      <p:sp>
        <p:nvSpPr>
          <p:cNvPr id="420" name="Google Shape;420;p6"/>
          <p:cNvSpPr/>
          <p:nvPr/>
        </p:nvSpPr>
        <p:spPr>
          <a:xfrm>
            <a:off x="8394192" y="146304"/>
            <a:ext cx="384048" cy="384048"/>
          </a:xfrm>
          <a:prstGeom prst="ellipse">
            <a:avLst/>
          </a:prstGeom>
          <a:solidFill>
            <a:srgbClr val="A50064"/>
          </a:solidFill>
          <a:ln w="1270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6"/>
          <p:cNvSpPr/>
          <p:nvPr/>
        </p:nvSpPr>
        <p:spPr>
          <a:xfrm>
            <a:off x="8394192" y="146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6"/>
          <p:cNvSpPr/>
          <p:nvPr/>
        </p:nvSpPr>
        <p:spPr>
          <a:xfrm>
            <a:off x="8119872" y="548640"/>
            <a:ext cx="9326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"/>
          <p:cNvSpPr/>
          <p:nvPr/>
        </p:nvSpPr>
        <p:spPr>
          <a:xfrm>
            <a:off x="320065" y="4343340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Nguồn: GA4 (Property 270743103)   |   Owner: Web Platform   |   Chốt số liệu: 30/10/2026</a:t>
            </a:r>
          </a:p>
        </p:txBody>
      </p:sp>
      <p:sp>
        <p:nvSpPr>
          <p:cNvPr id="424" name="Google Shape;424;p6"/>
          <p:cNvSpPr/>
          <p:nvPr/>
        </p:nvSpPr>
        <p:spPr>
          <a:xfrm>
            <a:off x="8321040" y="48737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4 / 7</a:t>
            </a:r>
          </a:p>
        </p:txBody>
      </p:sp>
      <p:graphicFrame>
        <p:nvGraphicFramePr>
          <p:cNvPr id="425" name="Google Shape;425;p6"/>
          <p:cNvGraphicFramePr/>
          <p:nvPr/>
        </p:nvGraphicFramePr>
        <p:xfrm>
          <a:off x="320065" y="1060643"/>
          <a:ext cx="5303520" cy="2545080"/>
        </p:xfrm>
        <a:graphic>
          <a:graphicData uri="http://schemas.openxmlformats.org/drawingml/2006/table">
            <a:tbl>
              <a:tblPr>
                <a:noFill/>
                <a:tableStyleId>{E4150D1B-22CA-4B41-9D43-DA15F05A9917}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3475">
                <a:tc rowSpan="2"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Chỉ tiêu hiệu suất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T9 Thực tế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T10 MTD (30d)</a:t>
                      </a:r>
                    </a:p>
                  </a:txBody>
                  <a:tcPr marL="18288" marR="18288" marT="18288" marB="18288"/>
                </a:tc>
                <a:tc hMerge="1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 (%)</a:t>
                      </a:r>
                    </a:p>
                  </a:txBody>
                  <a:tcPr marL="18288" marR="18288" marT="18288" marB="18288"/>
                </a:tc>
                <a:tc gridSpan="3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Kế hoạch T10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% Kế hoạch</a:t>
                      </a:r>
                    </a:p>
                  </a:txBody>
                  <a:tcPr marL="18288" marR="18288" marT="18288" marB="18288"/>
                </a:tc>
                <a:tc hMerge="1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Đánh giá</a:t>
                      </a:r>
                    </a:p>
                  </a:txBody>
                  <a:tcPr marL="18288" marR="18288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475">
                <a:tc vMerge="1">
                  <a:txBody>
                    <a:bodyPr/>
                    <a:lstStyle/>
                    <a:p>
                      <a:pPr algn="l">
                        <a:defRPr sz="850" b="1"/>
                      </a:pPr>
                      <a:r>
                        <a:t>Tổng lượt xem (PVs)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3.952.859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53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3.496.864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53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-8.6%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53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3.665.607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53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95.4%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53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Đạt 98.6% FC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5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475">
                <a:tc>
                  <a:txBody>
                    <a:bodyPr/>
                    <a:lstStyle/>
                    <a:p>
                      <a:pPr algn="l">
                        <a:defRPr sz="850" b="1"/>
                      </a:pPr>
                      <a:r>
                        <a:t>• Kênh tự nhiên (Non-Paid)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2.755.766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3.040.526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+14.0%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2.900.000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104.8%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/>
                      </a:pPr>
                      <a:r>
                        <a:t>Vượt mốc 3M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475"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• Quảng cáo trả phí (Paid)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1.197.093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456.338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-60.6%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765.000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59.6%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Chủ động giảm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475"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• Lượt truy cập trực tiếp (Direct)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755.896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907.813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+20.1%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850.000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106.8%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Tăng trưởng mạnh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475"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• Lưu lượng AI Search (GEO)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33.661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40.827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+25.6%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38.000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107.4%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Trích dẫn AI cao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7" name="Google Shape;427;p6"/>
          <p:cNvSpPr/>
          <p:nvPr/>
        </p:nvSpPr>
        <p:spPr>
          <a:xfrm>
            <a:off x="5715025" y="1060643"/>
            <a:ext cx="3108900" cy="3171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6"/>
          <p:cNvSpPr/>
          <p:nvPr/>
        </p:nvSpPr>
        <p:spPr>
          <a:xfrm>
            <a:off x="5852185" y="1121059"/>
            <a:ext cx="28347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Key Highlights &amp; Commentary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"/>
          <p:cNvSpPr/>
          <p:nvPr/>
        </p:nvSpPr>
        <p:spPr>
          <a:xfrm>
            <a:off x="5852185" y="1438237"/>
            <a:ext cx="1028700" cy="181200"/>
          </a:xfrm>
          <a:prstGeom prst="roundRect">
            <a:avLst>
              <a:gd name="adj" fmla="val 30271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6"/>
          <p:cNvSpPr/>
          <p:nvPr/>
        </p:nvSpPr>
        <p:spPr>
          <a:xfrm>
            <a:off x="5852185" y="1438237"/>
            <a:ext cx="10287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6"/>
          <p:cNvSpPr/>
          <p:nvPr/>
        </p:nvSpPr>
        <p:spPr>
          <a:xfrm>
            <a:off x="5852185" y="1664793"/>
            <a:ext cx="2834700" cy="15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Kênh tự nhiên (Non-Paid) chính thức vượt mốc 3 triệu PVs (+14.0% MoM, đạt 3.04M views), chiếm 87.0% toàn Web (tháng 9: 69.7%).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Việc chủ động giảm 60.6% Paid Ads (-725K views) giúp tiết kiệm dòng tiền mà tổng lượt xem đạt 95.4% kế hoạch MTD (3.50M MTD, forecast 3.61M - 98.6% Target).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Lượt truy cập trực tiếp (Direct) đạt 907.813 PVs (+20.1% MoM), phản ánh sức mạnh thương hiệu và thói quen quay lại tự nhiên của người dùng.</a:t>
            </a:r>
          </a:p>
        </p:txBody>
      </p:sp>
      <p:sp>
        <p:nvSpPr>
          <p:cNvPr id="432" name="Google Shape;432;p6"/>
          <p:cNvSpPr/>
          <p:nvPr/>
        </p:nvSpPr>
        <p:spPr>
          <a:xfrm>
            <a:off x="5852185" y="3250685"/>
            <a:ext cx="1508700" cy="181200"/>
          </a:xfrm>
          <a:prstGeom prst="roundRect">
            <a:avLst>
              <a:gd name="adj" fmla="val 30271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6"/>
          <p:cNvSpPr/>
          <p:nvPr/>
        </p:nvSpPr>
        <p:spPr>
          <a:xfrm>
            <a:off x="5852185" y="3250685"/>
            <a:ext cx="15087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Lowlights / Rủi ro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6"/>
          <p:cNvSpPr/>
          <p:nvPr/>
        </p:nvSpPr>
        <p:spPr>
          <a:xfrm>
            <a:off x="5852185" y="3477242"/>
            <a:ext cx="28347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Rủi ro: Lưu lượng phụ thuộc vào thuật toán cập nhật của công cụ tìm kiếm và tính mùa vụ thị trường.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Hướng xử lý: Đa dạng hóa nguồn lưu lượng qua hệ sinh thái tiện ích tương tác, tối ưu SEO thực thể (Entity) và trích dẫn AI Overviews (GEO).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"/>
          <p:cNvSpPr/>
          <p:nvPr/>
        </p:nvSpPr>
        <p:spPr>
          <a:xfrm>
            <a:off x="320040" y="347472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700" b="1">
                <a:solidFill>
                  <a:srgbClr val="1C171A"/>
                </a:solidFill>
              </a:defRPr>
            </a:pPr>
            <a:r>
              <a:t>Cinema Hub Dẫn Đầu Tăng Trưởng (+142.2% Cụm Rạp); Financial Hub Tăng Trưởng Cụm Tỷ Giá (+444.9% MoM)</a:t>
            </a:r>
          </a:p>
        </p:txBody>
      </p:sp>
      <p:sp>
        <p:nvSpPr>
          <p:cNvPr id="442" name="Google Shape;442;p7"/>
          <p:cNvSpPr/>
          <p:nvPr/>
        </p:nvSpPr>
        <p:spPr>
          <a:xfrm>
            <a:off x="8394192" y="146304"/>
            <a:ext cx="384048" cy="384048"/>
          </a:xfrm>
          <a:prstGeom prst="ellipse">
            <a:avLst/>
          </a:prstGeom>
          <a:solidFill>
            <a:srgbClr val="A50064"/>
          </a:solidFill>
          <a:ln w="1270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7"/>
          <p:cNvSpPr/>
          <p:nvPr/>
        </p:nvSpPr>
        <p:spPr>
          <a:xfrm>
            <a:off x="8394192" y="146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8119872" y="548640"/>
            <a:ext cx="9326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320040" y="487375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Nguồn: GA4 &amp; BigQuery   |   Owner: Web Platform   |   Chốt số liệu: 30/10/2026</a:t>
            </a:r>
          </a:p>
        </p:txBody>
      </p:sp>
      <p:sp>
        <p:nvSpPr>
          <p:cNvPr id="446" name="Google Shape;446;p7"/>
          <p:cNvSpPr/>
          <p:nvPr/>
        </p:nvSpPr>
        <p:spPr>
          <a:xfrm>
            <a:off x="8321040" y="48737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5 / 7</a:t>
            </a:r>
          </a:p>
        </p:txBody>
      </p:sp>
      <p:sp>
        <p:nvSpPr>
          <p:cNvPr id="447" name="Google Shape;447;p7"/>
          <p:cNvSpPr/>
          <p:nvPr/>
        </p:nvSpPr>
        <p:spPr>
          <a:xfrm>
            <a:off x="320040" y="896112"/>
            <a:ext cx="8503920" cy="621792"/>
          </a:xfrm>
          <a:prstGeom prst="rect">
            <a:avLst/>
          </a:prstGeom>
          <a:solidFill>
            <a:srgbClr val="FFEFF4"/>
          </a:solidFill>
          <a:ln w="12700" cap="flat" cmpd="sng">
            <a:solidFill>
              <a:srgbClr val="FFEF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"/>
          <p:cNvSpPr/>
          <p:nvPr/>
        </p:nvSpPr>
        <p:spPr>
          <a:xfrm>
            <a:off x="457200" y="896112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Ý chính 1: Cinema Hub đạt 1.07M views (cụm rạp 795K views +142.2%), ra mắt cụm trang Diễn Viên và Minigame Bò Sữa Bay (85K lượt chơi).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Ý chính 2: Financial Hub đạt 299K views (+25.6%), riêng cụm Tỷ giá tăng +444.9% (34K views), bù đắp phần giảm của Vay Nhanh do cắt Ads.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Ý chính 3: Mở rộng cụm tiện ích tài chính (Thuế TNCN, Lương Gross-Net) chuẩn bị phục vụ cao điểm tra cứu cuối năm.</a:t>
            </a:r>
          </a:p>
        </p:txBody>
      </p:sp>
      <p:sp>
        <p:nvSpPr>
          <p:cNvPr id="449" name="Google Shape;449;p7"/>
          <p:cNvSpPr/>
          <p:nvPr/>
        </p:nvSpPr>
        <p:spPr>
          <a:xfrm>
            <a:off x="320040" y="1575952"/>
            <a:ext cx="5303520" cy="18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FINANCIAL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7"/>
          <p:cNvCxnSpPr/>
          <p:nvPr/>
        </p:nvCxnSpPr>
        <p:spPr>
          <a:xfrm>
            <a:off x="320040" y="1772301"/>
            <a:ext cx="5303520" cy="0"/>
          </a:xfrm>
          <a:prstGeom prst="straightConnector1">
            <a:avLst/>
          </a:prstGeom>
          <a:noFill/>
          <a:ln w="1270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1" name="Google Shape;451;p7"/>
          <p:cNvSpPr/>
          <p:nvPr/>
        </p:nvSpPr>
        <p:spPr>
          <a:xfrm>
            <a:off x="320040" y="1855371"/>
            <a:ext cx="2606040" cy="9062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7"/>
          <p:cNvSpPr/>
          <p:nvPr/>
        </p:nvSpPr>
        <p:spPr>
          <a:xfrm>
            <a:off x="320040" y="1885579"/>
            <a:ext cx="2606040" cy="16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MAU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320040" y="2036616"/>
            <a:ext cx="2606040" cy="3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2000" b="1">
                <a:solidFill>
                  <a:srgbClr val="1C171A"/>
                </a:solidFill>
              </a:defRPr>
            </a:pPr>
            <a:r>
              <a:t>1.07M</a:t>
            </a:r>
          </a:p>
        </p:txBody>
      </p:sp>
      <p:sp>
        <p:nvSpPr>
          <p:cNvPr id="454" name="Google Shape;454;p7"/>
          <p:cNvSpPr/>
          <p:nvPr/>
        </p:nvSpPr>
        <p:spPr>
          <a:xfrm>
            <a:off x="320040" y="2338691"/>
            <a:ext cx="2606040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▲ +142.2% MoM</a:t>
            </a:r>
          </a:p>
        </p:txBody>
      </p:sp>
      <p:sp>
        <p:nvSpPr>
          <p:cNvPr id="455" name="Google Shape;455;p7"/>
          <p:cNvSpPr/>
          <p:nvPr/>
        </p:nvSpPr>
        <p:spPr>
          <a:xfrm>
            <a:off x="457200" y="2519936"/>
            <a:ext cx="2331720" cy="166141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7"/>
          <p:cNvSpPr/>
          <p:nvPr/>
        </p:nvSpPr>
        <p:spPr>
          <a:xfrm>
            <a:off x="457200" y="2519936"/>
            <a:ext cx="2331720" cy="16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102% vs Kế hoạch</a:t>
            </a:r>
          </a:p>
        </p:txBody>
      </p:sp>
      <p:sp>
        <p:nvSpPr>
          <p:cNvPr id="457" name="Google Shape;457;p7"/>
          <p:cNvSpPr/>
          <p:nvPr/>
        </p:nvSpPr>
        <p:spPr>
          <a:xfrm>
            <a:off x="3017520" y="1855371"/>
            <a:ext cx="2606040" cy="9062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7"/>
          <p:cNvSpPr/>
          <p:nvPr/>
        </p:nvSpPr>
        <p:spPr>
          <a:xfrm>
            <a:off x="3017520" y="1885579"/>
            <a:ext cx="2606040" cy="16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7"/>
          <p:cNvSpPr/>
          <p:nvPr/>
        </p:nvSpPr>
        <p:spPr>
          <a:xfrm>
            <a:off x="3017520" y="2036616"/>
            <a:ext cx="2606040" cy="3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2000" b="1">
                <a:solidFill>
                  <a:srgbClr val="1C171A"/>
                </a:solidFill>
              </a:defRPr>
            </a:pPr>
            <a:r>
              <a:t>299.5K</a:t>
            </a:r>
          </a:p>
        </p:txBody>
      </p:sp>
      <p:sp>
        <p:nvSpPr>
          <p:cNvPr id="460" name="Google Shape;460;p7"/>
          <p:cNvSpPr/>
          <p:nvPr/>
        </p:nvSpPr>
        <p:spPr>
          <a:xfrm>
            <a:off x="3017520" y="2338691"/>
            <a:ext cx="2606040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▲ +142.2% MoM</a:t>
            </a:r>
          </a:p>
        </p:txBody>
      </p:sp>
      <p:sp>
        <p:nvSpPr>
          <p:cNvPr id="461" name="Google Shape;461;p7"/>
          <p:cNvSpPr/>
          <p:nvPr/>
        </p:nvSpPr>
        <p:spPr>
          <a:xfrm>
            <a:off x="3154680" y="2519936"/>
            <a:ext cx="2331720" cy="166141"/>
          </a:xfrm>
          <a:prstGeom prst="rect">
            <a:avLst/>
          </a:prstGeom>
          <a:solidFill>
            <a:srgbClr val="F57F17"/>
          </a:solidFill>
          <a:ln w="12700" cap="flat" cmpd="sng">
            <a:solidFill>
              <a:srgbClr val="F57F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7"/>
          <p:cNvSpPr/>
          <p:nvPr/>
        </p:nvSpPr>
        <p:spPr>
          <a:xfrm>
            <a:off x="3154680" y="2519936"/>
            <a:ext cx="2331720" cy="16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102% vs Kế hoạch</a:t>
            </a:r>
          </a:p>
        </p:txBody>
      </p:sp>
      <p:sp>
        <p:nvSpPr>
          <p:cNvPr id="463" name="Google Shape;463;p7"/>
          <p:cNvSpPr/>
          <p:nvPr/>
        </p:nvSpPr>
        <p:spPr>
          <a:xfrm>
            <a:off x="320040" y="2837114"/>
            <a:ext cx="2606040" cy="9062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7"/>
          <p:cNvSpPr/>
          <p:nvPr/>
        </p:nvSpPr>
        <p:spPr>
          <a:xfrm>
            <a:off x="320040" y="2867322"/>
            <a:ext cx="2606040" cy="16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SnM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320040" y="3018359"/>
            <a:ext cx="2606040" cy="3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x.xB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7"/>
          <p:cNvSpPr/>
          <p:nvPr/>
        </p:nvSpPr>
        <p:spPr>
          <a:xfrm>
            <a:off x="320040" y="3320434"/>
            <a:ext cx="2606040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▲ +142.2% MoM</a:t>
            </a:r>
          </a:p>
        </p:txBody>
      </p:sp>
      <p:sp>
        <p:nvSpPr>
          <p:cNvPr id="467" name="Google Shape;467;p7"/>
          <p:cNvSpPr/>
          <p:nvPr/>
        </p:nvSpPr>
        <p:spPr>
          <a:xfrm>
            <a:off x="457200" y="3501679"/>
            <a:ext cx="2331720" cy="166141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7"/>
          <p:cNvSpPr/>
          <p:nvPr/>
        </p:nvSpPr>
        <p:spPr>
          <a:xfrm>
            <a:off x="457200" y="3501679"/>
            <a:ext cx="2331720" cy="16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YTD xx%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3017520" y="2837114"/>
            <a:ext cx="2606040" cy="90622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7"/>
          <p:cNvSpPr/>
          <p:nvPr/>
        </p:nvSpPr>
        <p:spPr>
          <a:xfrm>
            <a:off x="3017520" y="2867322"/>
            <a:ext cx="2606040" cy="16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EBITDA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7"/>
          <p:cNvSpPr/>
          <p:nvPr/>
        </p:nvSpPr>
        <p:spPr>
          <a:xfrm>
            <a:off x="3017520" y="3018359"/>
            <a:ext cx="2606040" cy="3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2000" b="1">
                <a:solidFill>
                  <a:srgbClr val="1C171A"/>
                </a:solidFill>
              </a:defRPr>
            </a:pPr>
            <a:r>
              <a:t>299.5K</a:t>
            </a:r>
          </a:p>
        </p:txBody>
      </p:sp>
      <p:sp>
        <p:nvSpPr>
          <p:cNvPr id="472" name="Google Shape;472;p7"/>
          <p:cNvSpPr/>
          <p:nvPr/>
        </p:nvSpPr>
        <p:spPr>
          <a:xfrm>
            <a:off x="3017520" y="3320434"/>
            <a:ext cx="2606040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▲ +142.2% MoM</a:t>
            </a:r>
          </a:p>
        </p:txBody>
      </p:sp>
      <p:sp>
        <p:nvSpPr>
          <p:cNvPr id="473" name="Google Shape;473;p7"/>
          <p:cNvSpPr/>
          <p:nvPr/>
        </p:nvSpPr>
        <p:spPr>
          <a:xfrm>
            <a:off x="3154680" y="3501679"/>
            <a:ext cx="2331720" cy="166141"/>
          </a:xfrm>
          <a:prstGeom prst="rect">
            <a:avLst/>
          </a:prstGeom>
          <a:solidFill>
            <a:srgbClr val="1B5E20"/>
          </a:solidFill>
          <a:ln w="12700" cap="flat" cmpd="sng">
            <a:solidFill>
              <a:srgbClr val="1B5E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7"/>
          <p:cNvSpPr/>
          <p:nvPr/>
        </p:nvSpPr>
        <p:spPr>
          <a:xfrm>
            <a:off x="3154680" y="3501679"/>
            <a:ext cx="2331720" cy="16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%Budget: xx%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7"/>
          <p:cNvSpPr/>
          <p:nvPr/>
        </p:nvSpPr>
        <p:spPr>
          <a:xfrm>
            <a:off x="320040" y="3841513"/>
            <a:ext cx="5303520" cy="18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OTHER METRICS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7"/>
          <p:cNvCxnSpPr/>
          <p:nvPr/>
        </p:nvCxnSpPr>
        <p:spPr>
          <a:xfrm>
            <a:off x="320040" y="4037861"/>
            <a:ext cx="5303520" cy="0"/>
          </a:xfrm>
          <a:prstGeom prst="straightConnector1">
            <a:avLst/>
          </a:prstGeom>
          <a:noFill/>
          <a:ln w="1270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7" name="Google Shape;477;p7"/>
          <p:cNvSpPr/>
          <p:nvPr/>
        </p:nvSpPr>
        <p:spPr>
          <a:xfrm>
            <a:off x="320040" y="4098276"/>
            <a:ext cx="1700784" cy="6796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7"/>
          <p:cNvSpPr/>
          <p:nvPr/>
        </p:nvSpPr>
        <p:spPr>
          <a:xfrm>
            <a:off x="320040" y="4120932"/>
            <a:ext cx="1700784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[Metric 1]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"/>
          <p:cNvSpPr/>
          <p:nvPr/>
        </p:nvSpPr>
        <p:spPr>
          <a:xfrm>
            <a:off x="320040" y="4271969"/>
            <a:ext cx="1700784" cy="3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2000" b="1">
                <a:solidFill>
                  <a:srgbClr val="1C171A"/>
                </a:solidFill>
              </a:defRPr>
            </a:pPr>
            <a:r>
              <a:t>1.07M</a:t>
            </a:r>
          </a:p>
        </p:txBody>
      </p:sp>
      <p:sp>
        <p:nvSpPr>
          <p:cNvPr id="480" name="Google Shape;480;p7"/>
          <p:cNvSpPr/>
          <p:nvPr/>
        </p:nvSpPr>
        <p:spPr>
          <a:xfrm>
            <a:off x="320040" y="4574044"/>
            <a:ext cx="1700784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▲ +142.2% MoM</a:t>
            </a:r>
          </a:p>
        </p:txBody>
      </p:sp>
      <p:sp>
        <p:nvSpPr>
          <p:cNvPr id="481" name="Google Shape;481;p7"/>
          <p:cNvSpPr/>
          <p:nvPr/>
        </p:nvSpPr>
        <p:spPr>
          <a:xfrm>
            <a:off x="2121408" y="4098276"/>
            <a:ext cx="1700784" cy="6796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7"/>
          <p:cNvSpPr/>
          <p:nvPr/>
        </p:nvSpPr>
        <p:spPr>
          <a:xfrm>
            <a:off x="2121408" y="4120932"/>
            <a:ext cx="1700784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[Metric 2]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7"/>
          <p:cNvSpPr/>
          <p:nvPr/>
        </p:nvSpPr>
        <p:spPr>
          <a:xfrm>
            <a:off x="2121408" y="4271969"/>
            <a:ext cx="1700784" cy="3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xx%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7"/>
          <p:cNvSpPr/>
          <p:nvPr/>
        </p:nvSpPr>
        <p:spPr>
          <a:xfrm>
            <a:off x="2121408" y="4574044"/>
            <a:ext cx="1700784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 flat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7"/>
          <p:cNvSpPr/>
          <p:nvPr/>
        </p:nvSpPr>
        <p:spPr>
          <a:xfrm>
            <a:off x="3922776" y="4098276"/>
            <a:ext cx="1700784" cy="6796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7"/>
          <p:cNvSpPr/>
          <p:nvPr/>
        </p:nvSpPr>
        <p:spPr>
          <a:xfrm>
            <a:off x="3922776" y="4120932"/>
            <a:ext cx="1700784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[Metric 3]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7"/>
          <p:cNvSpPr/>
          <p:nvPr/>
        </p:nvSpPr>
        <p:spPr>
          <a:xfrm>
            <a:off x="3922776" y="4271969"/>
            <a:ext cx="1700784" cy="3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xx%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"/>
          <p:cNvSpPr/>
          <p:nvPr/>
        </p:nvSpPr>
        <p:spPr>
          <a:xfrm>
            <a:off x="3922776" y="4574044"/>
            <a:ext cx="1700784" cy="1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▼ -x pp MoM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7"/>
          <p:cNvSpPr/>
          <p:nvPr/>
        </p:nvSpPr>
        <p:spPr>
          <a:xfrm>
            <a:off x="5715000" y="1591056"/>
            <a:ext cx="3108960" cy="31717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7"/>
          <p:cNvSpPr/>
          <p:nvPr/>
        </p:nvSpPr>
        <p:spPr>
          <a:xfrm>
            <a:off x="5852160" y="1651471"/>
            <a:ext cx="2834640" cy="22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Key Highlights &amp; Commentary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"/>
          <p:cNvSpPr/>
          <p:nvPr/>
        </p:nvSpPr>
        <p:spPr>
          <a:xfrm>
            <a:off x="5852160" y="1968649"/>
            <a:ext cx="1028700" cy="181245"/>
          </a:xfrm>
          <a:prstGeom prst="roundRect">
            <a:avLst>
              <a:gd name="adj" fmla="val 30271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"/>
          <p:cNvSpPr/>
          <p:nvPr/>
        </p:nvSpPr>
        <p:spPr>
          <a:xfrm>
            <a:off x="5852160" y="1968649"/>
            <a:ext cx="1028700" cy="18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7"/>
          <p:cNvSpPr/>
          <p:nvPr/>
        </p:nvSpPr>
        <p:spPr>
          <a:xfrm>
            <a:off x="5852160" y="2195205"/>
            <a:ext cx="2834640" cy="151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95396"/>
              </a:buClr>
              <a:buSzPts val="1000"/>
              <a:buFont typeface="Calibri"/>
              <a:buChar char="•"/>
            </a:pPr>
            <a:r>
              <a:rPr lang="en-US" sz="1000" b="1" i="0" u="none" strike="noStrike" cap="none">
                <a:solidFill>
                  <a:srgbClr val="F95396"/>
                </a:solidFill>
                <a:latin typeface="Calibri"/>
                <a:ea typeface="Calibri"/>
                <a:cs typeface="Calibri"/>
                <a:sym typeface="Calibri"/>
              </a:rPr>
              <a:t>MAU</a:t>
            </a:r>
            <a:r>
              <a:rPr lang="en-US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đạt [x]M, [x]% Target — [lý do chính]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500"/>
              </a:spcBef>
              <a:spcAft>
                <a:spcPts val="0"/>
              </a:spcAft>
              <a:buClr>
                <a:srgbClr val="F95396"/>
              </a:buClr>
              <a:buSzPts val="1000"/>
              <a:buFont typeface="Calibri"/>
              <a:buChar char="•"/>
            </a:pPr>
            <a:r>
              <a:rPr lang="en-US" sz="1000" b="1" i="0" u="none" strike="noStrike" cap="none">
                <a:solidFill>
                  <a:srgbClr val="F95396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r>
              <a:rPr lang="en-US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[x]% MoM, YTD [x]% Target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500"/>
              </a:spcBef>
              <a:spcAft>
                <a:spcPts val="0"/>
              </a:spcAft>
              <a:buClr>
                <a:srgbClr val="F95396"/>
              </a:buClr>
              <a:buSzPts val="1000"/>
              <a:buFont typeface="Calibri"/>
              <a:buChar char="•"/>
            </a:pPr>
            <a:r>
              <a:rPr lang="en-US" sz="1000" b="1" i="0" u="none" strike="noStrike" cap="none">
                <a:solidFill>
                  <a:srgbClr val="F95396"/>
                </a:solidFill>
                <a:latin typeface="Calibri"/>
                <a:ea typeface="Calibri"/>
                <a:cs typeface="Calibri"/>
                <a:sym typeface="Calibri"/>
              </a:rPr>
              <a:t>SnM</a:t>
            </a:r>
            <a:r>
              <a:rPr lang="en-US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[x]% MoM; EBITDA [x]B, [x]% Budget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7"/>
          <p:cNvSpPr/>
          <p:nvPr/>
        </p:nvSpPr>
        <p:spPr>
          <a:xfrm>
            <a:off x="5852160" y="3781098"/>
            <a:ext cx="1165860" cy="181245"/>
          </a:xfrm>
          <a:prstGeom prst="roundRect">
            <a:avLst>
              <a:gd name="adj" fmla="val 30271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7"/>
          <p:cNvSpPr/>
          <p:nvPr/>
        </p:nvSpPr>
        <p:spPr>
          <a:xfrm>
            <a:off x="5852160" y="3781098"/>
            <a:ext cx="1165860" cy="18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Other Metrics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7"/>
          <p:cNvSpPr/>
          <p:nvPr/>
        </p:nvSpPr>
        <p:spPr>
          <a:xfrm>
            <a:off x="5852160" y="4007654"/>
            <a:ext cx="2834640" cy="75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Vay Nhanh giảm -31.2K views do cắt Paid Ads -&gt; Cần đẩy mạnh SEO On-Page và liên kết nội bộ từ các tiện ích tài chính.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"/>
          <p:cNvSpPr/>
          <p:nvPr/>
        </p:nvSpPr>
        <p:spPr>
          <a:xfrm>
            <a:off x="320040" y="347472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700" b="1">
                <a:solidFill>
                  <a:srgbClr val="1C171A"/>
                </a:solidFill>
              </a:defRPr>
            </a:pPr>
            <a:r>
              <a:t>Hệ Sinh Thái Sản Phẩm &amp; Tiện Ích Mới: 8 Công Cụ Đời Sống &amp; Tài Chính Thúc Đẩy Lưu Lượng Tự Nhiên</a:t>
            </a:r>
          </a:p>
        </p:txBody>
      </p:sp>
      <p:sp>
        <p:nvSpPr>
          <p:cNvPr id="580" name="Google Shape;580;p9"/>
          <p:cNvSpPr/>
          <p:nvPr/>
        </p:nvSpPr>
        <p:spPr>
          <a:xfrm>
            <a:off x="8394192" y="146304"/>
            <a:ext cx="384048" cy="384048"/>
          </a:xfrm>
          <a:prstGeom prst="ellipse">
            <a:avLst/>
          </a:prstGeom>
          <a:solidFill>
            <a:srgbClr val="A50064"/>
          </a:solidFill>
          <a:ln w="1270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9"/>
          <p:cNvSpPr/>
          <p:nvPr/>
        </p:nvSpPr>
        <p:spPr>
          <a:xfrm>
            <a:off x="8394192" y="146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9"/>
          <p:cNvSpPr/>
          <p:nvPr/>
        </p:nvSpPr>
        <p:spPr>
          <a:xfrm>
            <a:off x="8119872" y="548640"/>
            <a:ext cx="9326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9"/>
          <p:cNvSpPr/>
          <p:nvPr/>
        </p:nvSpPr>
        <p:spPr>
          <a:xfrm>
            <a:off x="320040" y="487375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Nguồn: GA4 &amp; Web Platform Utilities   |   Owner: Web Platform   |   Chốt số liệu: 30/10/2026</a:t>
            </a:r>
          </a:p>
        </p:txBody>
      </p:sp>
      <p:sp>
        <p:nvSpPr>
          <p:cNvPr id="584" name="Google Shape;584;p9"/>
          <p:cNvSpPr/>
          <p:nvPr/>
        </p:nvSpPr>
        <p:spPr>
          <a:xfrm>
            <a:off x="8321040" y="48737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6 / 7</a:t>
            </a:r>
          </a:p>
        </p:txBody>
      </p:sp>
      <p:sp>
        <p:nvSpPr>
          <p:cNvPr id="585" name="Google Shape;585;p9"/>
          <p:cNvSpPr/>
          <p:nvPr/>
        </p:nvSpPr>
        <p:spPr>
          <a:xfrm>
            <a:off x="320040" y="896112"/>
            <a:ext cx="8503920" cy="621792"/>
          </a:xfrm>
          <a:prstGeom prst="rect">
            <a:avLst/>
          </a:prstGeom>
          <a:solidFill>
            <a:srgbClr val="FFEFF4"/>
          </a:solidFill>
          <a:ln w="12700" cap="flat" cmpd="sng">
            <a:solidFill>
              <a:srgbClr val="FFEF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9"/>
          <p:cNvSpPr/>
          <p:nvPr/>
        </p:nvSpPr>
        <p:spPr>
          <a:xfrm>
            <a:off x="457200" y="896112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Ý chính 1: Đã và đang triển khai 8 tiện ích sản phẩm mới nhằm mở rộng điểm chạm tìm kiếm tự nhiên ngoài bài viết nội dung truyền thống.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Ý chính 2: Cụm tiện ích Tỷ giá (+445% MoM) và Diễn viên chứng minh mô hình công cụ tương tác giữ chân người dùng hiệu quả hơn 3.2 lần so với bài viết tĩnh.</a:t>
            </a:r>
          </a:p>
        </p:txBody>
      </p:sp>
      <p:graphicFrame>
        <p:nvGraphicFramePr>
          <p:cNvPr id="587" name="Google Shape;587;p9"/>
          <p:cNvGraphicFramePr/>
          <p:nvPr/>
        </p:nvGraphicFramePr>
        <p:xfrm>
          <a:off x="320040" y="1591056"/>
          <a:ext cx="5303500" cy="2614555"/>
        </p:xfrm>
        <a:graphic>
          <a:graphicData uri="http://schemas.openxmlformats.org/drawingml/2006/table">
            <a:tbl>
              <a:tblPr>
                <a:noFill/>
                <a:tableStyleId>{E4150D1B-22CA-4B41-9D43-DA15F05A9917}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55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Sản phẩm / Tiện ích mới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Trạng thái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Lưu lượng MTD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Điểm nổi bật &amp; Vai trò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Kế hoạch T11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425">
                <a:tc>
                  <a:txBody>
                    <a:bodyPr/>
                    <a:lstStyle/>
                    <a:p>
                      <a:pPr algn="l">
                        <a:defRPr sz="800" b="1"/>
                      </a:pPr>
                      <a:r>
                        <a:t>1. Cụm Trang Diễn Viên (/cinema/person)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Go-live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150K PVs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1.200+ hồ sơ nghệ sĩ, tối ưu SEO thực thể diễn viên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Mở rộng hồ sơ phim Tết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425">
                <a:tc>
                  <a:txBody>
                    <a:bodyPr/>
                    <a:lstStyle/>
                    <a:p>
                      <a:pPr algn="l">
                        <a:defRPr sz="800" b="1"/>
                      </a:pPr>
                      <a:r>
                        <a:t>2. Tiện Ích Tỷ Giá (/tai-chinh/ty-gia)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Hoạt động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34.0K (+445%)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Tự động cập nhật 20+ ngân hàng thương mại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Tích hợp biểu đồ tỷ giá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425">
                <a:tc>
                  <a:txBody>
                    <a:bodyPr/>
                    <a:lstStyle/>
                    <a:p>
                      <a:pPr algn="l">
                        <a:defRPr sz="800" b="1"/>
                      </a:pPr>
                      <a:r>
                        <a:t>3. Bộ Đôi Công Cụ Thuế &amp; Lương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Staging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Kỳ vọng 300K+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Tính thuế TNCN &amp; Lương Gross-Net chuẩn mới nhất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Go-live đón quyết toán</a:t>
                      </a:r>
                    </a:p>
                  </a:txBody>
                  <a:tcPr marL="18288" marR="18288" marT="18288" marB="18288" anchor="ctr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8" name="Google Shape;588;p9"/>
          <p:cNvSpPr/>
          <p:nvPr/>
        </p:nvSpPr>
        <p:spPr>
          <a:xfrm>
            <a:off x="5715000" y="1591056"/>
            <a:ext cx="3108960" cy="31717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9"/>
          <p:cNvSpPr/>
          <p:nvPr/>
        </p:nvSpPr>
        <p:spPr>
          <a:xfrm>
            <a:off x="5852160" y="1651471"/>
            <a:ext cx="2834640" cy="22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Key Highlights &amp; Commentary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9"/>
          <p:cNvSpPr/>
          <p:nvPr/>
        </p:nvSpPr>
        <p:spPr>
          <a:xfrm>
            <a:off x="5852160" y="1968649"/>
            <a:ext cx="1028700" cy="181245"/>
          </a:xfrm>
          <a:prstGeom prst="roundRect">
            <a:avLst>
              <a:gd name="adj" fmla="val 30271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9"/>
          <p:cNvSpPr/>
          <p:nvPr/>
        </p:nvSpPr>
        <p:spPr>
          <a:xfrm>
            <a:off x="5852160" y="1968649"/>
            <a:ext cx="1028700" cy="18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9"/>
          <p:cNvSpPr/>
          <p:nvPr/>
        </p:nvSpPr>
        <p:spPr>
          <a:xfrm>
            <a:off x="5852160" y="2195205"/>
            <a:ext cx="2834640" cy="120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Nhóm công cụ tra cứu (Tỷ giá, Giá vàng, Phạt nguội) ghi nhận thời gian tương tác trung bình &gt;2.0 phút, cao hơn đáng kể so với bài tin tức.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Cụm trang Diễn viên (/cinema/person) mở rộng thêm 1.200 hồ sơ nghệ sĩ, đón đầu xu hướng SEO thực thể (Entity SEO).</a:t>
            </a:r>
          </a:p>
        </p:txBody>
      </p:sp>
      <p:sp>
        <p:nvSpPr>
          <p:cNvPr id="593" name="Google Shape;593;p9"/>
          <p:cNvSpPr/>
          <p:nvPr/>
        </p:nvSpPr>
        <p:spPr>
          <a:xfrm>
            <a:off x="5852160" y="3479023"/>
            <a:ext cx="822960" cy="181245"/>
          </a:xfrm>
          <a:prstGeom prst="roundRect">
            <a:avLst>
              <a:gd name="adj" fmla="val 30271"/>
            </a:avLst>
          </a:prstGeom>
          <a:solidFill>
            <a:srgbClr val="FFE3ED"/>
          </a:solidFill>
          <a:ln w="12700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9"/>
          <p:cNvSpPr/>
          <p:nvPr/>
        </p:nvSpPr>
        <p:spPr>
          <a:xfrm>
            <a:off x="5852160" y="3479023"/>
            <a:ext cx="822960" cy="18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Lưu ý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9"/>
          <p:cNvSpPr/>
          <p:nvPr/>
        </p:nvSpPr>
        <p:spPr>
          <a:xfrm>
            <a:off x="5852160" y="3705579"/>
            <a:ext cx="2834640" cy="105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Tập trung nguồn lực đưa bộ đôi công cụ Thuế TNCN &amp; Tính Lương Gross-Net lên Production trong tháng 11/2026 để đón đỉnh tìm kiếm quyết toán cuối năm.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h19034d514f5d6f97_0_2164"/>
          <p:cNvSpPr/>
          <p:nvPr/>
        </p:nvSpPr>
        <p:spPr>
          <a:xfrm>
            <a:off x="342900" y="425196"/>
            <a:ext cx="84561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1700" b="1">
                <a:solidFill>
                  <a:srgbClr val="1C171A"/>
                </a:solidFill>
              </a:defRPr>
            </a:pPr>
            <a:r>
              <a:t>Lộ Trình Quý 4: Đưa 4 Tiện Ích Thuế &amp; Tính Lương Lên Production, Chuẩn Bị Toàn Diện Cho Cao Điểm Tết 2027</a:t>
            </a:r>
          </a:p>
        </p:txBody>
      </p:sp>
      <p:sp>
        <p:nvSpPr>
          <p:cNvPr id="603" name="Google Shape;603;h19034d514f5d6f97_0_2164"/>
          <p:cNvSpPr/>
          <p:nvPr/>
        </p:nvSpPr>
        <p:spPr>
          <a:xfrm>
            <a:off x="342900" y="1062990"/>
            <a:ext cx="8456100" cy="754500"/>
          </a:xfrm>
          <a:prstGeom prst="rect">
            <a:avLst/>
          </a:prstGeom>
          <a:solidFill>
            <a:srgbClr val="FFEFF4"/>
          </a:solidFill>
          <a:ln>
            <a:noFill/>
          </a:ln>
        </p:spPr>
        <p:txBody>
          <a:bodyPr spcFirstLastPara="1" wrap="square" lIns="95250" tIns="95250" rIns="95250" bIns="95250" anchor="ctr" anchorCtr="0">
            <a:noAutofit/>
          </a:bodyPr>
          <a:lstStyle/>
          <a:p>
            <a:pPr>
              <a:defRPr sz="950">
                <a:solidFill>
                  <a:srgbClr val="1C171A"/>
                </a:solidFill>
              </a:defRPr>
            </a:pPr>
            <a:r>
              <a:t>• Ý chính 1: Hoàn thành 100% mốc Dev cho 4 tiện ích tài chính (Thuế TNCN, Lương Gross-Net, BHXH, Tính SIP).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Ý chính 2: Mốc UAT dự kiến hoàn tất trước 12/11; go-live Production chính thức trước 20/11 để phục vụ nhu cầu quyết toán cuối năm.</a:t>
            </a:r>
          </a:p>
          <a:p>
            <a:pPr>
              <a:defRPr sz="950">
                <a:solidFill>
                  <a:srgbClr val="1C171A"/>
                </a:solidFill>
              </a:defRPr>
            </a:pPr>
            <a:r>
              <a:t>• Ý chính 3: Cần 3 nội dung hỗ trợ từ BOM, HR và Pháp chế để bảo đảm tiến độ triển khai.</a:t>
            </a:r>
          </a:p>
        </p:txBody>
      </p:sp>
      <p:sp>
        <p:nvSpPr>
          <p:cNvPr id="604" name="Google Shape;604;h19034d514f5d6f97_0_2164"/>
          <p:cNvSpPr/>
          <p:nvPr/>
        </p:nvSpPr>
        <p:spPr>
          <a:xfrm>
            <a:off x="342900" y="4766310"/>
            <a:ext cx="8456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>
                <a:solidFill>
                  <a:srgbClr val="5C5060"/>
                </a:solidFill>
              </a:defRPr>
            </a:pPr>
            <a:r>
              <a:t>Nguồn: Jira &amp; Web Platform Roadmap   |   Owner: Web Platform   |   Chốt số liệu: 30/10/2026</a:t>
            </a:r>
          </a:p>
        </p:txBody>
      </p:sp>
      <p:sp>
        <p:nvSpPr>
          <p:cNvPr id="605" name="Google Shape;605;h19034d514f5d6f97_0_2164"/>
          <p:cNvSpPr/>
          <p:nvPr/>
        </p:nvSpPr>
        <p:spPr>
          <a:xfrm>
            <a:off x="342900" y="1954530"/>
            <a:ext cx="534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Mốc dự án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h19034d514f5d6f97_0_2164"/>
          <p:cNvCxnSpPr/>
          <p:nvPr/>
        </p:nvCxnSpPr>
        <p:spPr>
          <a:xfrm>
            <a:off x="891540" y="2708910"/>
            <a:ext cx="4251900" cy="0"/>
          </a:xfrm>
          <a:prstGeom prst="straightConnector1">
            <a:avLst/>
          </a:prstGeom>
          <a:noFill/>
          <a:ln w="2857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7" name="Google Shape;607;h19034d514f5d6f97_0_2164"/>
          <p:cNvCxnSpPr/>
          <p:nvPr/>
        </p:nvCxnSpPr>
        <p:spPr>
          <a:xfrm>
            <a:off x="891540" y="2708910"/>
            <a:ext cx="2126100" cy="0"/>
          </a:xfrm>
          <a:prstGeom prst="straightConnector1">
            <a:avLst/>
          </a:prstGeom>
          <a:noFill/>
          <a:ln w="28575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8" name="Google Shape;608;h19034d514f5d6f97_0_2164"/>
          <p:cNvSpPr/>
          <p:nvPr/>
        </p:nvSpPr>
        <p:spPr>
          <a:xfrm>
            <a:off x="788670" y="2606040"/>
            <a:ext cx="205800" cy="205800"/>
          </a:xfrm>
          <a:prstGeom prst="ellipse">
            <a:avLst/>
          </a:prstGeom>
          <a:solidFill>
            <a:srgbClr val="A50064"/>
          </a:solidFill>
          <a:ln w="1905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h19034d514f5d6f97_0_2164"/>
          <p:cNvSpPr/>
          <p:nvPr/>
        </p:nvSpPr>
        <p:spPr>
          <a:xfrm>
            <a:off x="411480" y="2228850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Kickoff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h19034d514f5d6f97_0_2164"/>
          <p:cNvSpPr/>
          <p:nvPr/>
        </p:nvSpPr>
        <p:spPr>
          <a:xfrm>
            <a:off x="411480" y="2880360"/>
            <a:ext cx="960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01/09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h19034d514f5d6f97_0_2164"/>
          <p:cNvSpPr/>
          <p:nvPr/>
        </p:nvSpPr>
        <p:spPr>
          <a:xfrm>
            <a:off x="1851660" y="2606040"/>
            <a:ext cx="205800" cy="205800"/>
          </a:xfrm>
          <a:prstGeom prst="ellipse">
            <a:avLst/>
          </a:prstGeom>
          <a:solidFill>
            <a:srgbClr val="A50064"/>
          </a:solidFill>
          <a:ln w="19050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h19034d514f5d6f97_0_2164"/>
          <p:cNvSpPr/>
          <p:nvPr/>
        </p:nvSpPr>
        <p:spPr>
          <a:xfrm>
            <a:off x="1474470" y="2228850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Thiết kế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h19034d514f5d6f97_0_2164"/>
          <p:cNvSpPr/>
          <p:nvPr/>
        </p:nvSpPr>
        <p:spPr>
          <a:xfrm>
            <a:off x="1474470" y="2880360"/>
            <a:ext cx="960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30/09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h19034d514f5d6f97_0_2164"/>
          <p:cNvSpPr/>
          <p:nvPr/>
        </p:nvSpPr>
        <p:spPr>
          <a:xfrm>
            <a:off x="2914650" y="2606040"/>
            <a:ext cx="205800" cy="205800"/>
          </a:xfrm>
          <a:prstGeom prst="ellipse">
            <a:avLst/>
          </a:prstGeom>
          <a:solidFill>
            <a:srgbClr val="F95396"/>
          </a:solidFill>
          <a:ln w="19050" cap="flat" cmpd="sng">
            <a:solidFill>
              <a:srgbClr val="F95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h19034d514f5d6f97_0_2164"/>
          <p:cNvSpPr/>
          <p:nvPr/>
        </p:nvSpPr>
        <p:spPr>
          <a:xfrm>
            <a:off x="2537460" y="2228850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h19034d514f5d6f97_0_2164"/>
          <p:cNvSpPr/>
          <p:nvPr/>
        </p:nvSpPr>
        <p:spPr>
          <a:xfrm>
            <a:off x="2537460" y="2880360"/>
            <a:ext cx="960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31/10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h19034d514f5d6f97_0_2164"/>
          <p:cNvSpPr/>
          <p:nvPr/>
        </p:nvSpPr>
        <p:spPr>
          <a:xfrm>
            <a:off x="3977640" y="2606040"/>
            <a:ext cx="205800" cy="205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h19034d514f5d6f97_0_2164"/>
          <p:cNvSpPr/>
          <p:nvPr/>
        </p:nvSpPr>
        <p:spPr>
          <a:xfrm>
            <a:off x="3600450" y="2228850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h19034d514f5d6f97_0_2164"/>
          <p:cNvSpPr/>
          <p:nvPr/>
        </p:nvSpPr>
        <p:spPr>
          <a:xfrm>
            <a:off x="3600450" y="2880360"/>
            <a:ext cx="960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12/11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h19034d514f5d6f97_0_2164"/>
          <p:cNvSpPr/>
          <p:nvPr/>
        </p:nvSpPr>
        <p:spPr>
          <a:xfrm>
            <a:off x="5040630" y="2606040"/>
            <a:ext cx="205800" cy="205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h19034d514f5d6f97_0_2164"/>
          <p:cNvSpPr/>
          <p:nvPr/>
        </p:nvSpPr>
        <p:spPr>
          <a:xfrm>
            <a:off x="4663440" y="2228850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h19034d514f5d6f97_0_2164"/>
          <p:cNvSpPr/>
          <p:nvPr/>
        </p:nvSpPr>
        <p:spPr>
          <a:xfrm>
            <a:off x="4663440" y="2880360"/>
            <a:ext cx="960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29/11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h19034d514f5d6f97_0_2164"/>
          <p:cNvSpPr/>
          <p:nvPr/>
        </p:nvSpPr>
        <p:spPr>
          <a:xfrm>
            <a:off x="342900" y="3429000"/>
            <a:ext cx="534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Tiến độ so với kế hoạch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h19034d514f5d6f97_0_2164"/>
          <p:cNvSpPr/>
          <p:nvPr/>
        </p:nvSpPr>
        <p:spPr>
          <a:xfrm>
            <a:off x="342900" y="3737610"/>
            <a:ext cx="754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Kế hoạch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h19034d514f5d6f97_0_2164"/>
          <p:cNvSpPr/>
          <p:nvPr/>
        </p:nvSpPr>
        <p:spPr>
          <a:xfrm>
            <a:off x="1165860" y="3737610"/>
            <a:ext cx="3703200" cy="2400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h19034d514f5d6f97_0_2164"/>
          <p:cNvSpPr/>
          <p:nvPr/>
        </p:nvSpPr>
        <p:spPr>
          <a:xfrm>
            <a:off x="1165860" y="3737610"/>
            <a:ext cx="2777400" cy="240000"/>
          </a:xfrm>
          <a:prstGeom prst="rect">
            <a:avLst/>
          </a:prstGeom>
          <a:solidFill>
            <a:srgbClr val="FFE3ED"/>
          </a:solidFill>
          <a:ln w="9525" cap="flat" cmpd="sng">
            <a:solidFill>
              <a:srgbClr val="FFE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h19034d514f5d6f97_0_2164"/>
          <p:cNvSpPr/>
          <p:nvPr/>
        </p:nvSpPr>
        <p:spPr>
          <a:xfrm>
            <a:off x="4937760" y="37376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100" b="1">
                <a:solidFill>
                  <a:srgbClr val="1C171A"/>
                </a:solidFill>
              </a:defRPr>
            </a:pPr>
            <a:r>
              <a:t>80%</a:t>
            </a:r>
          </a:p>
        </p:txBody>
      </p:sp>
      <p:sp>
        <p:nvSpPr>
          <p:cNvPr id="628" name="Google Shape;628;h19034d514f5d6f97_0_2164"/>
          <p:cNvSpPr/>
          <p:nvPr/>
        </p:nvSpPr>
        <p:spPr>
          <a:xfrm>
            <a:off x="342900" y="4080510"/>
            <a:ext cx="754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Thực tế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h19034d514f5d6f97_0_2164"/>
          <p:cNvSpPr/>
          <p:nvPr/>
        </p:nvSpPr>
        <p:spPr>
          <a:xfrm>
            <a:off x="1165860" y="4080510"/>
            <a:ext cx="3703200" cy="2400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h19034d514f5d6f97_0_2164"/>
          <p:cNvSpPr/>
          <p:nvPr/>
        </p:nvSpPr>
        <p:spPr>
          <a:xfrm>
            <a:off x="1165860" y="4080510"/>
            <a:ext cx="2037000" cy="240000"/>
          </a:xfrm>
          <a:prstGeom prst="rect">
            <a:avLst/>
          </a:prstGeom>
          <a:solidFill>
            <a:srgbClr val="A50064"/>
          </a:solidFill>
          <a:ln w="9525" cap="flat" cmpd="sng">
            <a:solidFill>
              <a:srgbClr val="A50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h19034d514f5d6f97_0_2164"/>
          <p:cNvSpPr/>
          <p:nvPr/>
        </p:nvSpPr>
        <p:spPr>
          <a:xfrm>
            <a:off x="4937760" y="40805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85%</a:t>
            </a:r>
          </a:p>
        </p:txBody>
      </p:sp>
      <p:sp>
        <p:nvSpPr>
          <p:cNvPr id="632" name="Google Shape;632;h19034d514f5d6f97_0_2164"/>
          <p:cNvSpPr/>
          <p:nvPr/>
        </p:nvSpPr>
        <p:spPr>
          <a:xfrm>
            <a:off x="5966460" y="1954530"/>
            <a:ext cx="2832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006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50064"/>
                </a:solidFill>
                <a:latin typeface="Calibri"/>
                <a:ea typeface="Calibri"/>
                <a:cs typeface="Calibri"/>
                <a:sym typeface="Calibri"/>
              </a:rPr>
              <a:t>Việc cần hỗ trợ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3" name="Google Shape;633;h19034d514f5d6f97_0_2164"/>
          <p:cNvGraphicFramePr/>
          <p:nvPr/>
        </p:nvGraphicFramePr>
        <p:xfrm>
          <a:off x="5966460" y="2228850"/>
          <a:ext cx="2832325" cy="1920275"/>
        </p:xfrm>
        <a:graphic>
          <a:graphicData uri="http://schemas.openxmlformats.org/drawingml/2006/table">
            <a:tbl>
              <a:tblPr>
                <a:noFill/>
                <a:tableStyleId>{E4150D1B-22CA-4B41-9D43-DA15F05A9917}</a:tableStyleId>
              </a:tblPr>
              <a:tblGrid>
                <a:gridCol w="150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Việc cần hỗ trợ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Bên liên quan / Owner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Hạn hoàn thành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0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algn="l">
                        <a:defRPr sz="850" b="1"/>
                      </a:pPr>
                      <a:r>
                        <a:t>Phê duyệt kế hoạch ra mắt bộ tiện ích Thuế TNCN &amp; Tính Lương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BOM / Finhub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31/10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algn="l">
                        <a:defRPr sz="850" b="1"/>
                      </a:pPr>
                      <a:r>
                        <a:t>Hỗ trợ thủ tục hợp đồng đối tác báo chí phục vụ Cinema Hub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Pháp chế &amp; Mua hàng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08/11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algn="l">
                        <a:defRPr sz="850" b="1"/>
                      </a:pPr>
                      <a:r>
                        <a:t>Hoàn tất tuyển dụng 1 nhân sự Senior SEO Technical in-house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/>
                      </a:pPr>
                      <a:r>
                        <a:t>HR Talent Acquisition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/>
                      </a:pPr>
                      <a:r>
                        <a:t>15/11</a:t>
                      </a:r>
                    </a:p>
                  </a:txBody>
                  <a:tcPr marL="18288" marR="18288" marT="18288" marB="18288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4" name="Google Shape;634;h19034d514f5d6f97_0_2164"/>
          <p:cNvSpPr/>
          <p:nvPr/>
        </p:nvSpPr>
        <p:spPr>
          <a:xfrm>
            <a:off x="5966460" y="4251960"/>
            <a:ext cx="28323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5C5060"/>
                </a:solidFill>
              </a:defRPr>
            </a:pPr>
            <a:r>
              <a:t>Lưu ý: Việc phê duyệt kế hoạch ra mắt tiện ích thuế trước 31/10 quyết định khả năng kịp tiến độ kiểm thử và go-live đón mùa quyết toán cuối năm.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3968</Words>
  <Application>Microsoft Office PowerPoint</Application>
  <PresentationFormat>On-screen Show (16:9)</PresentationFormat>
  <Paragraphs>639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Momo Trust Display</vt:lpstr>
      <vt:lpstr>Inter Tight</vt:lpstr>
      <vt:lpstr>Inter</vt:lpstr>
      <vt:lpstr>Arial</vt:lpstr>
      <vt:lpstr>Inter SemiBold</vt:lpstr>
      <vt:lpstr>Momo Trust Sans</vt:lpstr>
      <vt:lpstr>Momo Trust Sans SemiBold</vt:lpstr>
      <vt:lpstr>Calibri</vt:lpstr>
      <vt:lpstr>Office Theme</vt:lpstr>
      <vt:lpstr>Simple Light</vt:lpstr>
      <vt:lpstr>Nguyên tắc thiết kế/xây dựng báo cáo </vt:lpstr>
      <vt:lpstr>PowerPoint Presentation</vt:lpstr>
      <vt:lpstr>PowerPoint Presentation</vt:lpstr>
      <vt:lpstr>PowerPoint Presentation</vt:lpstr>
      <vt:lpstr>PowerPoint Presentation</vt:lpstr>
      <vt:lpstr>Template slide tham khảo Anh/Chị có thể tùy chọn mẫu phù hợp với bài báo cáo của mình.  </vt:lpstr>
      <vt:lpstr>PowerPoint Presentation</vt:lpstr>
      <vt:lpstr>Table of Contents</vt:lpstr>
      <vt:lpstr>Execution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NGUYỄN THỊ KIM TUYỀN - GPD</cp:lastModifiedBy>
  <cp:revision>2</cp:revision>
  <dcterms:created xsi:type="dcterms:W3CDTF">2026-10-22T10:38:27Z</dcterms:created>
  <dcterms:modified xsi:type="dcterms:W3CDTF">2026-10-29T07:42:32Z</dcterms:modified>
</cp:coreProperties>
</file>