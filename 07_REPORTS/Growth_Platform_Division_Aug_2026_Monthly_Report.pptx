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charts/chart2.xml" ContentType="application/vnd.openxmlformats-officedocument.drawingml.chart+xml"/>
  <Override PartName="/ppt/charts/chart3.xml" ContentType="application/vnd.openxmlformats-officedocument.drawingml.chart+xml"/>
  <Override PartName="/ppt/charts/chart4.xml" ContentType="application/vnd.openxmlformats-officedocument.drawingml.chart+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Sheet2.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Sheet3.xlsx"/></Relationships>
</file>

<file path=ppt/charts/_rels/chart4.xml.rels><?xml version='1.0' encoding='UTF-8' standalone='yes'?>
<Relationships xmlns="http://schemas.openxmlformats.org/package/2006/relationships"><Relationship Id="rId1" Type="http://schemas.openxmlformats.org/officeDocument/2006/relationships/package" Target="../embeddings/Microsoft_Excel_Sheet4.xlsx"/></Relationships>
</file>

<file path=ppt/charts/chart1.xml><?xml version="1.0" encoding="utf-8"?>
<c:chartSpace xmlns:c="http://schemas.openxmlformats.org/drawingml/2006/chart" xmlns:a="http://schemas.openxmlformats.org/drawingml/2006/main" xmlns:r="http://schemas.openxmlformats.org/officeDocument/2006/relationships">
  <c:date1904 val="0"/>
  <c:chart>
    <c:autoTitleDeleted val="0"/>
    <c:plotArea>
      <c:barChart>
        <c:barDir val="col"/>
        <c:grouping val="clustered"/>
        <c:ser>
          <c:idx val="0"/>
          <c:order val="0"/>
          <c:tx>
            <c:strRef>
              <c:f>Sheet1!$B$1</c:f>
              <c:strCache>
                <c:ptCount val="1"/>
                <c:pt idx="0">
                  <c:v>T7 Full (PVs)</c:v>
                </c:pt>
              </c:strCache>
            </c:strRef>
          </c:tx>
          <c:spPr>
            <a:solidFill>
              <a:srgbClr val="CBD5E1"/>
            </a:solidFill>
          </c:spPr>
          <c:cat>
            <c:strRef>
              <c:f>Sheet1!$A$2:$A$10</c:f>
              <c:strCache>
                <c:ptCount val="9"/>
                <c:pt idx="0">
                  <c:v>Cinema</c:v>
                </c:pt>
                <c:pt idx="1">
                  <c:v>Finhub</c:v>
                </c:pt>
                <c:pt idx="2">
                  <c:v>Phạt Nguội</c:v>
                </c:pt>
                <c:pt idx="3">
                  <c:v>Home</c:v>
                </c:pt>
                <c:pt idx="4">
                  <c:v>Tiktok</c:v>
                </c:pt>
                <c:pt idx="5">
                  <c:v>Vé Xe</c:v>
                </c:pt>
                <c:pt idx="6">
                  <c:v>OA</c:v>
                </c:pt>
                <c:pt idx="7">
                  <c:v>Sim</c:v>
                </c:pt>
                <c:pt idx="8">
                  <c:v>OTA</c:v>
                </c:pt>
              </c:strCache>
            </c:strRef>
          </c:cat>
          <c:val>
            <c:numRef>
              <c:f>Sheet1!$B$2:$B$10</c:f>
              <c:numCache>
                <c:formatCode>General</c:formatCode>
                <c:ptCount val="9"/>
                <c:pt idx="0">
                  <c:v>810565</c:v>
                </c:pt>
                <c:pt idx="1">
                  <c:v>128217</c:v>
                </c:pt>
                <c:pt idx="2">
                  <c:v>154889</c:v>
                </c:pt>
                <c:pt idx="3">
                  <c:v>195988</c:v>
                </c:pt>
                <c:pt idx="4">
                  <c:v>227699</c:v>
                </c:pt>
                <c:pt idx="5">
                  <c:v>91094</c:v>
                </c:pt>
                <c:pt idx="6">
                  <c:v>54906</c:v>
                </c:pt>
                <c:pt idx="7">
                  <c:v>38684</c:v>
                </c:pt>
                <c:pt idx="8">
                  <c:v>61864</c:v>
                </c:pt>
              </c:numCache>
            </c:numRef>
          </c:val>
        </c:ser>
        <c:ser>
          <c:idx val="1"/>
          <c:order val="1"/>
          <c:tx>
            <c:strRef>
              <c:f>Sheet1!$C$1</c:f>
              <c:strCache>
                <c:ptCount val="1"/>
                <c:pt idx="0">
                  <c:v>T8 Full (PVs)</c:v>
                </c:pt>
              </c:strCache>
            </c:strRef>
          </c:tx>
          <c:spPr>
            <a:solidFill>
              <a:srgbClr val="B0006D"/>
            </a:solidFill>
          </c:spPr>
          <c:cat>
            <c:strRef>
              <c:f>Sheet1!$A$2:$A$10</c:f>
              <c:strCache>
                <c:ptCount val="9"/>
                <c:pt idx="0">
                  <c:v>Cinema</c:v>
                </c:pt>
                <c:pt idx="1">
                  <c:v>Finhub</c:v>
                </c:pt>
                <c:pt idx="2">
                  <c:v>Phạt Nguội</c:v>
                </c:pt>
                <c:pt idx="3">
                  <c:v>Home</c:v>
                </c:pt>
                <c:pt idx="4">
                  <c:v>Tiktok</c:v>
                </c:pt>
                <c:pt idx="5">
                  <c:v>Vé Xe</c:v>
                </c:pt>
                <c:pt idx="6">
                  <c:v>OA</c:v>
                </c:pt>
                <c:pt idx="7">
                  <c:v>Sim</c:v>
                </c:pt>
                <c:pt idx="8">
                  <c:v>OTA</c:v>
                </c:pt>
              </c:strCache>
            </c:strRef>
          </c:cat>
          <c:val>
            <c:numRef>
              <c:f>Sheet1!$C$2:$C$10</c:f>
              <c:numCache>
                <c:formatCode>General</c:formatCode>
                <c:ptCount val="9"/>
                <c:pt idx="0">
                  <c:v>822437</c:v>
                </c:pt>
                <c:pt idx="1">
                  <c:v>216378</c:v>
                </c:pt>
                <c:pt idx="2">
                  <c:v>213826</c:v>
                </c:pt>
                <c:pt idx="3">
                  <c:v>201425</c:v>
                </c:pt>
                <c:pt idx="4">
                  <c:v>172755</c:v>
                </c:pt>
                <c:pt idx="5">
                  <c:v>120566</c:v>
                </c:pt>
                <c:pt idx="6">
                  <c:v>57152</c:v>
                </c:pt>
                <c:pt idx="7">
                  <c:v>54769</c:v>
                </c:pt>
                <c:pt idx="8">
                  <c:v>53978</c:v>
                </c:pt>
              </c:numCache>
            </c:numRef>
          </c:val>
        </c:ser>
        <c:gapWidth val="140"/>
        <c:overlap val="-15"/>
        <c:axId val="-2068027336"/>
        <c:axId val="-2113994440"/>
      </c:barChart>
      <c:catAx>
        <c:axId val="-2068027336"/>
        <c:scaling>
          <c:orientation val="minMax"/>
        </c:scaling>
        <c:delete val="0"/>
        <c:axPos val="b"/>
        <c:majorTickMark val="out"/>
        <c:minorTickMark val="none"/>
        <c:tickLblPos val="nextTo"/>
        <c:spPr>
          <a:ln>
            <a:noFill/>
          </a:ln>
        </c:spPr>
        <c:txPr>
          <a:bodyPr/>
          <a:lstStyle/>
          <a:p>
            <a:pPr>
              <a:defRPr sz="700">
                <a:solidFill>
                  <a:srgbClr val="0F172A"/>
                </a:solidFill>
              </a:defRPr>
            </a:pPr>
          </a:p>
        </c:txPr>
        <c:crossAx val="-2113994440"/>
        <c:crosses val="autoZero"/>
        <c:auto val="1"/>
        <c:lblAlgn val="ctr"/>
        <c:noMultiLvlLbl val="0"/>
      </c:catAx>
      <c:valAx>
        <c:axId val="-2113994440"/>
        <c:scaling/>
        <c:delete val="0"/>
        <c:axPos val="l"/>
        <c:majorGridlines>
          <c:spPr>
            <a:ln>
              <a:solidFill>
                <a:srgbClr val="F1F5F9"/>
              </a:solidFill>
            </a:ln>
          </c:spPr>
        </c:majorGridlines>
        <c:majorTickMark val="out"/>
        <c:minorTickMark val="none"/>
        <c:tickLblPos val="nextTo"/>
        <c:spPr>
          <a:ln>
            <a:noFill/>
          </a:ln>
        </c:spPr>
        <c:txPr>
          <a:bodyPr/>
          <a:lstStyle/>
          <a:p>
            <a:pPr>
              <a:defRPr sz="700">
                <a:solidFill>
                  <a:srgbClr val="64748B"/>
                </a:solidFill>
              </a:defRPr>
            </a:pPr>
          </a:p>
        </c:txPr>
        <c:crossAx val="-2068027336"/>
        <c:crosses val="autoZero"/>
      </c:valAx>
    </c:plotArea>
    <c:legend>
      <c:legendPos val="t"/>
      <c:overlay val="0"/>
      <c:txPr>
        <a:bodyPr/>
        <a:lstStyle/>
        <a:p>
          <a:pPr>
            <a:defRPr sz="750">
              <a:solidFill>
                <a:srgbClr val="334155"/>
              </a:solidFill>
            </a:defRPr>
          </a:pPr>
        </a:p>
      </c:txPr>
    </c:legend>
    <c:dispBlanksAs val="gap"/>
  </c:chart>
  <c:txPr>
    <a:bodyPr/>
    <a:lstStyle/>
    <a:p>
      <a:pPr>
        <a:defRPr sz="1800"/>
      </a:pPr>
      <a:endParaRPr lang="en-US"/>
    </a:p>
  </c:tx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chart>
    <c:autoTitleDeleted val="0"/>
    <c:plotArea>
      <c:barChart>
        <c:barDir val="col"/>
        <c:grouping val="clustered"/>
        <c:ser>
          <c:idx val="0"/>
          <c:order val="0"/>
          <c:tx>
            <c:strRef>
              <c:f>Sheet1!$B$1</c:f>
              <c:strCache>
                <c:ptCount val="1"/>
                <c:pt idx="0">
                  <c:v>T7 Full (PVs)</c:v>
                </c:pt>
              </c:strCache>
            </c:strRef>
          </c:tx>
          <c:spPr>
            <a:solidFill>
              <a:srgbClr val="CBD5E1"/>
            </a:solidFill>
          </c:spPr>
          <c:cat>
            <c:strRef>
              <c:f>Sheet1!$A$2:$A$6</c:f>
              <c:strCache>
                <c:ptCount val="5"/>
                <c:pt idx="0">
                  <c:v>Organic</c:v>
                </c:pt>
                <c:pt idx="1">
                  <c:v>Direct</c:v>
                </c:pt>
                <c:pt idx="2">
                  <c:v>Paid</c:v>
                </c:pt>
                <c:pt idx="3">
                  <c:v>Referral</c:v>
                </c:pt>
                <c:pt idx="4">
                  <c:v>Others</c:v>
                </c:pt>
              </c:strCache>
            </c:strRef>
          </c:cat>
          <c:val>
            <c:numRef>
              <c:f>Sheet1!$B$2:$B$6</c:f>
              <c:numCache>
                <c:formatCode>General</c:formatCode>
                <c:ptCount val="5"/>
                <c:pt idx="0">
                  <c:v>1875191</c:v>
                </c:pt>
                <c:pt idx="1">
                  <c:v>440855</c:v>
                </c:pt>
                <c:pt idx="2">
                  <c:v>497958</c:v>
                </c:pt>
                <c:pt idx="3">
                  <c:v>329659</c:v>
                </c:pt>
                <c:pt idx="4">
                  <c:v>24158</c:v>
                </c:pt>
              </c:numCache>
            </c:numRef>
          </c:val>
        </c:ser>
        <c:ser>
          <c:idx val="1"/>
          <c:order val="1"/>
          <c:tx>
            <c:strRef>
              <c:f>Sheet1!$C$1</c:f>
              <c:strCache>
                <c:ptCount val="1"/>
                <c:pt idx="0">
                  <c:v>T8 Full (PVs)</c:v>
                </c:pt>
              </c:strCache>
            </c:strRef>
          </c:tx>
          <c:spPr>
            <a:solidFill>
              <a:srgbClr val="B0006D"/>
            </a:solidFill>
          </c:spPr>
          <c:cat>
            <c:strRef>
              <c:f>Sheet1!$A$2:$A$6</c:f>
              <c:strCache>
                <c:ptCount val="5"/>
                <c:pt idx="0">
                  <c:v>Organic</c:v>
                </c:pt>
                <c:pt idx="1">
                  <c:v>Direct</c:v>
                </c:pt>
                <c:pt idx="2">
                  <c:v>Paid</c:v>
                </c:pt>
                <c:pt idx="3">
                  <c:v>Referral</c:v>
                </c:pt>
                <c:pt idx="4">
                  <c:v>Others</c:v>
                </c:pt>
              </c:strCache>
            </c:strRef>
          </c:cat>
          <c:val>
            <c:numRef>
              <c:f>Sheet1!$C$2:$C$6</c:f>
              <c:numCache>
                <c:formatCode>General</c:formatCode>
                <c:ptCount val="5"/>
                <c:pt idx="0">
                  <c:v>1729694</c:v>
                </c:pt>
                <c:pt idx="1">
                  <c:v>656271</c:v>
                </c:pt>
                <c:pt idx="2">
                  <c:v>644539</c:v>
                </c:pt>
                <c:pt idx="3">
                  <c:v>410305</c:v>
                </c:pt>
                <c:pt idx="4">
                  <c:v>24554</c:v>
                </c:pt>
              </c:numCache>
            </c:numRef>
          </c:val>
        </c:ser>
        <c:gapWidth val="140"/>
        <c:overlap val="-15"/>
        <c:axId val="-2068027336"/>
        <c:axId val="-2113994440"/>
      </c:barChart>
      <c:catAx>
        <c:axId val="-2068027336"/>
        <c:scaling>
          <c:orientation val="minMax"/>
        </c:scaling>
        <c:delete val="0"/>
        <c:axPos val="b"/>
        <c:majorTickMark val="out"/>
        <c:minorTickMark val="none"/>
        <c:tickLblPos val="nextTo"/>
        <c:spPr>
          <a:ln>
            <a:noFill/>
          </a:ln>
        </c:spPr>
        <c:txPr>
          <a:bodyPr/>
          <a:lstStyle/>
          <a:p>
            <a:pPr>
              <a:defRPr sz="700">
                <a:solidFill>
                  <a:srgbClr val="0F172A"/>
                </a:solidFill>
              </a:defRPr>
            </a:pPr>
          </a:p>
        </c:txPr>
        <c:crossAx val="-2113994440"/>
        <c:crosses val="autoZero"/>
        <c:auto val="1"/>
        <c:lblAlgn val="ctr"/>
        <c:noMultiLvlLbl val="0"/>
      </c:catAx>
      <c:valAx>
        <c:axId val="-2113994440"/>
        <c:scaling/>
        <c:delete val="0"/>
        <c:axPos val="l"/>
        <c:majorGridlines>
          <c:spPr>
            <a:ln>
              <a:solidFill>
                <a:srgbClr val="F1F5F9"/>
              </a:solidFill>
            </a:ln>
          </c:spPr>
        </c:majorGridlines>
        <c:majorTickMark val="out"/>
        <c:minorTickMark val="none"/>
        <c:tickLblPos val="nextTo"/>
        <c:spPr>
          <a:ln>
            <a:noFill/>
          </a:ln>
        </c:spPr>
        <c:txPr>
          <a:bodyPr/>
          <a:lstStyle/>
          <a:p>
            <a:pPr>
              <a:defRPr sz="700">
                <a:solidFill>
                  <a:srgbClr val="64748B"/>
                </a:solidFill>
              </a:defRPr>
            </a:pPr>
          </a:p>
        </c:txPr>
        <c:crossAx val="-2068027336"/>
        <c:crosses val="autoZero"/>
      </c:valAx>
    </c:plotArea>
    <c:legend>
      <c:legendPos val="t"/>
      <c:overlay val="0"/>
      <c:txPr>
        <a:bodyPr/>
        <a:lstStyle/>
        <a:p>
          <a:pPr>
            <a:defRPr sz="750">
              <a:solidFill>
                <a:srgbClr val="334155"/>
              </a:solidFill>
            </a:defRPr>
          </a:pPr>
        </a:p>
      </c:txPr>
    </c:legend>
    <c:dispBlanksAs val="gap"/>
  </c:chart>
  <c:txPr>
    <a:bodyPr/>
    <a:lstStyle/>
    <a:p>
      <a:pPr>
        <a:defRPr sz="1800"/>
      </a:pPr>
      <a:endParaRPr lang="en-US"/>
    </a:p>
  </c:tx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chart>
    <c:autoTitleDeleted val="0"/>
    <c:plotArea>
      <c:barChart>
        <c:barDir val="col"/>
        <c:grouping val="clustered"/>
        <c:ser>
          <c:idx val="0"/>
          <c:order val="0"/>
          <c:tx>
            <c:strRef>
              <c:f>Sheet1!$B$1</c:f>
              <c:strCache>
                <c:ptCount val="1"/>
                <c:pt idx="0">
                  <c:v>T7 Full (PVs)</c:v>
                </c:pt>
              </c:strCache>
            </c:strRef>
          </c:tx>
          <c:spPr>
            <a:solidFill>
              <a:srgbClr val="CBD5E1"/>
            </a:solidFill>
          </c:spPr>
          <c:cat>
            <c:strRef>
              <c:f>Sheet1!$A$2:$A$5</c:f>
              <c:strCache>
                <c:ptCount val="4"/>
                <c:pt idx="0">
                  <c:v>Vay Nhanh</c:v>
                </c:pt>
                <c:pt idx="1">
                  <c:v>Điểm CIC</c:v>
                </c:pt>
                <c:pt idx="2">
                  <c:v>Ví Trả Sau</c:v>
                </c:pt>
                <c:pt idx="3">
                  <c:v>Cổng &amp; Khác</c:v>
                </c:pt>
              </c:strCache>
            </c:strRef>
          </c:cat>
          <c:val>
            <c:numRef>
              <c:f>Sheet1!$B$2:$B$5</c:f>
              <c:numCache>
                <c:formatCode>General</c:formatCode>
                <c:ptCount val="4"/>
                <c:pt idx="0">
                  <c:v>65899</c:v>
                </c:pt>
                <c:pt idx="1">
                  <c:v>29705</c:v>
                </c:pt>
                <c:pt idx="2">
                  <c:v>23582</c:v>
                </c:pt>
                <c:pt idx="3">
                  <c:v>9031</c:v>
                </c:pt>
              </c:numCache>
            </c:numRef>
          </c:val>
        </c:ser>
        <c:ser>
          <c:idx val="1"/>
          <c:order val="1"/>
          <c:tx>
            <c:strRef>
              <c:f>Sheet1!$C$1</c:f>
              <c:strCache>
                <c:ptCount val="1"/>
                <c:pt idx="0">
                  <c:v>T8 Full (PVs)</c:v>
                </c:pt>
              </c:strCache>
            </c:strRef>
          </c:tx>
          <c:spPr>
            <a:solidFill>
              <a:srgbClr val="B0006D"/>
            </a:solidFill>
          </c:spPr>
          <c:cat>
            <c:strRef>
              <c:f>Sheet1!$A$2:$A$5</c:f>
              <c:strCache>
                <c:ptCount val="4"/>
                <c:pt idx="0">
                  <c:v>Vay Nhanh</c:v>
                </c:pt>
                <c:pt idx="1">
                  <c:v>Điểm CIC</c:v>
                </c:pt>
                <c:pt idx="2">
                  <c:v>Ví Trả Sau</c:v>
                </c:pt>
                <c:pt idx="3">
                  <c:v>Cổng &amp; Khác</c:v>
                </c:pt>
              </c:strCache>
            </c:strRef>
          </c:cat>
          <c:val>
            <c:numRef>
              <c:f>Sheet1!$C$2:$C$5</c:f>
              <c:numCache>
                <c:formatCode>General</c:formatCode>
                <c:ptCount val="4"/>
                <c:pt idx="0">
                  <c:v>112353</c:v>
                </c:pt>
                <c:pt idx="1">
                  <c:v>73931</c:v>
                </c:pt>
                <c:pt idx="2">
                  <c:v>20633</c:v>
                </c:pt>
                <c:pt idx="3">
                  <c:v>9461</c:v>
                </c:pt>
              </c:numCache>
            </c:numRef>
          </c:val>
        </c:ser>
        <c:gapWidth val="140"/>
        <c:overlap val="-15"/>
        <c:axId val="-2068027336"/>
        <c:axId val="-2113994440"/>
      </c:barChart>
      <c:catAx>
        <c:axId val="-2068027336"/>
        <c:scaling>
          <c:orientation val="minMax"/>
        </c:scaling>
        <c:delete val="0"/>
        <c:axPos val="b"/>
        <c:majorTickMark val="out"/>
        <c:minorTickMark val="none"/>
        <c:tickLblPos val="nextTo"/>
        <c:spPr>
          <a:ln>
            <a:noFill/>
          </a:ln>
        </c:spPr>
        <c:txPr>
          <a:bodyPr/>
          <a:lstStyle/>
          <a:p>
            <a:pPr>
              <a:defRPr sz="700">
                <a:solidFill>
                  <a:srgbClr val="0F172A"/>
                </a:solidFill>
              </a:defRPr>
            </a:pPr>
          </a:p>
        </c:txPr>
        <c:crossAx val="-2113994440"/>
        <c:crosses val="autoZero"/>
        <c:auto val="1"/>
        <c:lblAlgn val="ctr"/>
        <c:noMultiLvlLbl val="0"/>
      </c:catAx>
      <c:valAx>
        <c:axId val="-2113994440"/>
        <c:scaling/>
        <c:delete val="0"/>
        <c:axPos val="l"/>
        <c:majorGridlines>
          <c:spPr>
            <a:ln>
              <a:solidFill>
                <a:srgbClr val="F1F5F9"/>
              </a:solidFill>
            </a:ln>
          </c:spPr>
        </c:majorGridlines>
        <c:majorTickMark val="out"/>
        <c:minorTickMark val="none"/>
        <c:tickLblPos val="nextTo"/>
        <c:spPr>
          <a:ln>
            <a:noFill/>
          </a:ln>
        </c:spPr>
        <c:txPr>
          <a:bodyPr/>
          <a:lstStyle/>
          <a:p>
            <a:pPr>
              <a:defRPr sz="700">
                <a:solidFill>
                  <a:srgbClr val="64748B"/>
                </a:solidFill>
              </a:defRPr>
            </a:pPr>
          </a:p>
        </c:txPr>
        <c:crossAx val="-2068027336"/>
        <c:crosses val="autoZero"/>
      </c:valAx>
    </c:plotArea>
    <c:legend>
      <c:legendPos val="t"/>
      <c:overlay val="0"/>
      <c:txPr>
        <a:bodyPr/>
        <a:lstStyle/>
        <a:p>
          <a:pPr>
            <a:defRPr sz="750">
              <a:solidFill>
                <a:srgbClr val="334155"/>
              </a:solidFill>
            </a:defRPr>
          </a:pPr>
        </a:p>
      </c:txPr>
    </c:legend>
    <c:dispBlanksAs val="gap"/>
  </c:chart>
  <c:txPr>
    <a:bodyPr/>
    <a:lstStyle/>
    <a:p>
      <a:pPr>
        <a:defRPr sz="1800"/>
      </a:pPr>
      <a:endParaRPr lang="en-US"/>
    </a:p>
  </c:tx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c:date1904 val="0"/>
  <c:chart>
    <c:autoTitleDeleted val="0"/>
    <c:plotArea>
      <c:barChart>
        <c:barDir val="col"/>
        <c:grouping val="clustered"/>
        <c:ser>
          <c:idx val="0"/>
          <c:order val="0"/>
          <c:tx>
            <c:strRef>
              <c:f>Sheet1!$B$1</c:f>
              <c:strCache>
                <c:ptCount val="1"/>
                <c:pt idx="0">
                  <c:v>T7 Full (PVs)</c:v>
                </c:pt>
              </c:strCache>
            </c:strRef>
          </c:tx>
          <c:spPr>
            <a:solidFill>
              <a:srgbClr val="CBD5E1"/>
            </a:solidFill>
          </c:spPr>
          <c:cat>
            <c:strRef>
              <c:f>Sheet1!$A$2:$A$5</c:f>
              <c:strCache>
                <c:ptCount val="4"/>
                <c:pt idx="0">
                  <c:v>OA MoMo</c:v>
                </c:pt>
                <c:pt idx="1">
                  <c:v>QR Đa Năng</c:v>
                </c:pt>
                <c:pt idx="2">
                  <c:v>Cẩm Nang MSME</c:v>
                </c:pt>
                <c:pt idx="3">
                  <c:v>Loa Soundbox</c:v>
                </c:pt>
              </c:strCache>
            </c:strRef>
          </c:cat>
          <c:val>
            <c:numRef>
              <c:f>Sheet1!$B$2:$B$5</c:f>
              <c:numCache>
                <c:formatCode>General</c:formatCode>
                <c:ptCount val="4"/>
                <c:pt idx="0">
                  <c:v>54906</c:v>
                </c:pt>
                <c:pt idx="1">
                  <c:v>18200</c:v>
                </c:pt>
                <c:pt idx="2">
                  <c:v>10500</c:v>
                </c:pt>
                <c:pt idx="3">
                  <c:v>8912</c:v>
                </c:pt>
              </c:numCache>
            </c:numRef>
          </c:val>
        </c:ser>
        <c:ser>
          <c:idx val="1"/>
          <c:order val="1"/>
          <c:tx>
            <c:strRef>
              <c:f>Sheet1!$C$1</c:f>
              <c:strCache>
                <c:ptCount val="1"/>
                <c:pt idx="0">
                  <c:v>T8 Full (PVs)</c:v>
                </c:pt>
              </c:strCache>
            </c:strRef>
          </c:tx>
          <c:spPr>
            <a:solidFill>
              <a:srgbClr val="B0006D"/>
            </a:solidFill>
          </c:spPr>
          <c:cat>
            <c:strRef>
              <c:f>Sheet1!$A$2:$A$5</c:f>
              <c:strCache>
                <c:ptCount val="4"/>
                <c:pt idx="0">
                  <c:v>OA MoMo</c:v>
                </c:pt>
                <c:pt idx="1">
                  <c:v>QR Đa Năng</c:v>
                </c:pt>
                <c:pt idx="2">
                  <c:v>Cẩm Nang MSME</c:v>
                </c:pt>
                <c:pt idx="3">
                  <c:v>Loa Soundbox</c:v>
                </c:pt>
              </c:strCache>
            </c:strRef>
          </c:cat>
          <c:val>
            <c:numRef>
              <c:f>Sheet1!$C$2:$C$5</c:f>
              <c:numCache>
                <c:formatCode>General</c:formatCode>
                <c:ptCount val="4"/>
                <c:pt idx="0">
                  <c:v>57152</c:v>
                </c:pt>
                <c:pt idx="1">
                  <c:v>21000</c:v>
                </c:pt>
                <c:pt idx="2">
                  <c:v>11500</c:v>
                </c:pt>
                <c:pt idx="3">
                  <c:v>9377</c:v>
                </c:pt>
              </c:numCache>
            </c:numRef>
          </c:val>
        </c:ser>
        <c:gapWidth val="140"/>
        <c:overlap val="-15"/>
        <c:axId val="-2068027336"/>
        <c:axId val="-2113994440"/>
      </c:barChart>
      <c:catAx>
        <c:axId val="-2068027336"/>
        <c:scaling>
          <c:orientation val="minMax"/>
        </c:scaling>
        <c:delete val="0"/>
        <c:axPos val="b"/>
        <c:majorTickMark val="out"/>
        <c:minorTickMark val="none"/>
        <c:tickLblPos val="nextTo"/>
        <c:spPr>
          <a:ln>
            <a:noFill/>
          </a:ln>
        </c:spPr>
        <c:txPr>
          <a:bodyPr/>
          <a:lstStyle/>
          <a:p>
            <a:pPr>
              <a:defRPr sz="700">
                <a:solidFill>
                  <a:srgbClr val="0F172A"/>
                </a:solidFill>
              </a:defRPr>
            </a:pPr>
          </a:p>
        </c:txPr>
        <c:crossAx val="-2113994440"/>
        <c:crosses val="autoZero"/>
        <c:auto val="1"/>
        <c:lblAlgn val="ctr"/>
        <c:noMultiLvlLbl val="0"/>
      </c:catAx>
      <c:valAx>
        <c:axId val="-2113994440"/>
        <c:scaling/>
        <c:delete val="0"/>
        <c:axPos val="l"/>
        <c:majorGridlines>
          <c:spPr>
            <a:ln>
              <a:solidFill>
                <a:srgbClr val="F1F5F9"/>
              </a:solidFill>
            </a:ln>
          </c:spPr>
        </c:majorGridlines>
        <c:majorTickMark val="out"/>
        <c:minorTickMark val="none"/>
        <c:tickLblPos val="nextTo"/>
        <c:spPr>
          <a:ln>
            <a:noFill/>
          </a:ln>
        </c:spPr>
        <c:txPr>
          <a:bodyPr/>
          <a:lstStyle/>
          <a:p>
            <a:pPr>
              <a:defRPr sz="700">
                <a:solidFill>
                  <a:srgbClr val="64748B"/>
                </a:solidFill>
              </a:defRPr>
            </a:pPr>
          </a:p>
        </c:txPr>
        <c:crossAx val="-2068027336"/>
        <c:crosses val="autoZero"/>
      </c:valAx>
    </c:plotArea>
    <c:legend>
      <c:legendPos val="t"/>
      <c:overlay val="0"/>
      <c:txPr>
        <a:bodyPr/>
        <a:lstStyle/>
        <a:p>
          <a:pPr>
            <a:defRPr sz="750">
              <a:solidFill>
                <a:srgbClr val="334155"/>
              </a:solidFill>
            </a:defRPr>
          </a:pPr>
        </a:p>
      </c:txPr>
    </c:legend>
    <c:dispBlanksAs val="gap"/>
  </c:chart>
  <c:txPr>
    <a:bodyPr/>
    <a:lstStyle/>
    <a:p>
      <a:pPr>
        <a:defRPr sz="1800"/>
      </a:pPr>
      <a:endParaRPr lang="en-US"/>
    </a:p>
  </c:txPr>
  <c:externalData r:id="rId1">
    <c:autoUpdate val="0"/>
  </c:externalData>
</c:chartSpace>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3.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4.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DF2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914400" y="1005840"/>
            <a:ext cx="10362895" cy="4846320"/>
          </a:xfrm>
          <a:prstGeom prst="roundRect">
            <a:avLst/>
          </a:prstGeom>
          <a:solidFill>
            <a:srgbClr val="FFFFFF"/>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1371600" y="1463040"/>
            <a:ext cx="3840480" cy="365760"/>
          </a:xfrm>
          <a:prstGeom prst="roundRect">
            <a:avLst/>
          </a:prstGeom>
          <a:solidFill>
            <a:srgbClr val="B0006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000" b="1">
                <a:solidFill>
                  <a:srgbClr val="FFFFFF"/>
                </a:solidFill>
              </a:defRPr>
            </a:pPr>
            <a:r>
              <a:t>GROWTH PLATFORM DIVISION — WEB PLATFORM</a:t>
            </a:r>
          </a:p>
        </p:txBody>
      </p:sp>
      <p:sp>
        <p:nvSpPr>
          <p:cNvPr id="5" name="TextBox 4"/>
          <p:cNvSpPr txBox="1"/>
          <p:nvPr/>
        </p:nvSpPr>
        <p:spPr>
          <a:xfrm>
            <a:off x="1371600" y="2011680"/>
            <a:ext cx="9144000" cy="1097280"/>
          </a:xfrm>
          <a:prstGeom prst="rect">
            <a:avLst/>
          </a:prstGeom>
          <a:noFill/>
        </p:spPr>
        <p:txBody>
          <a:bodyPr wrap="square">
            <a:spAutoFit/>
          </a:bodyPr>
          <a:lstStyle/>
          <a:p>
            <a:pPr>
              <a:defRPr sz="3600" b="1">
                <a:solidFill>
                  <a:srgbClr val="B0006D"/>
                </a:solidFill>
              </a:defRPr>
            </a:pPr>
            <a:r>
              <a:t>Monthly Performance Review</a:t>
            </a:r>
          </a:p>
          <a:p>
            <a:pPr>
              <a:defRPr sz="1700" b="1">
                <a:solidFill>
                  <a:srgbClr val="0F172A"/>
                </a:solidFill>
              </a:defRPr>
            </a:pPr>
            <a:r>
              <a:t>August 2026 (Full Month: 3.47M PVs - Đạt 103.2% Target) — Target Tháng 12/2026: 4M PVs</a:t>
            </a:r>
          </a:p>
        </p:txBody>
      </p:sp>
      <p:sp>
        <p:nvSpPr>
          <p:cNvPr id="6" name="Rounded Rectangle 5"/>
          <p:cNvSpPr/>
          <p:nvPr/>
        </p:nvSpPr>
        <p:spPr>
          <a:xfrm>
            <a:off x="1371600" y="3383280"/>
            <a:ext cx="9418320" cy="1554480"/>
          </a:xfrm>
          <a:prstGeom prst="roundRect">
            <a:avLst/>
          </a:prstGeom>
          <a:solidFill>
            <a:srgbClr val="F8FAFC"/>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100" b="1">
                <a:solidFill>
                  <a:srgbClr val="B0006D"/>
                </a:solidFill>
              </a:defRPr>
            </a:pPr>
            <a:r>
              <a:t>EXECUTIVE AGENDA (HỆ THỐNG CẶP ĐÔI [R] REPORTING &amp; [D] DISCUSSION)</a:t>
            </a:r>
          </a:p>
          <a:p>
            <a:pPr>
              <a:defRPr sz="1000">
                <a:solidFill>
                  <a:srgbClr val="0F172A"/>
                </a:solidFill>
              </a:defRPr>
            </a:pPr>
            <a:r>
              <a:t>• 1. Cấu trúc chuẩn hóa: Mỗi dự án gồm Slide Báo Cáo [R] (Bảng &amp; UI Chart từ cao xuống thấp + Narrative) đi kèm ngay Slide Thảo Luận [D].</a:t>
            </a:r>
          </a:p>
          <a:p>
            <a:pPr>
              <a:defRPr sz="1000">
                <a:solidFill>
                  <a:srgbClr val="0F172A"/>
                </a:solidFill>
              </a:defRPr>
            </a:pPr>
            <a:r>
              <a:t>• 2. New User Hub chuyên sâu (2 Slides [R]): Full End-to-End Funnel (vượt 10K Installs) + Xu Hướng Install (T6 - T8) &amp; Phễu Quảng Cáo Ads.</a:t>
            </a:r>
          </a:p>
          <a:p>
            <a:pPr>
              <a:defRPr sz="1000">
                <a:solidFill>
                  <a:srgbClr val="0F172A"/>
                </a:solidFill>
              </a:defRPr>
            </a:pPr>
            <a:r>
              <a:t>• 3. Focus Tháng 09/2026: Dồn lực xây dựng Financial Authority và đánh chiếm danh mục Low-Hanging Fruits đạt mục tiêu 4M PVs.</a:t>
            </a:r>
          </a:p>
        </p:txBody>
      </p:sp>
      <p:sp>
        <p:nvSpPr>
          <p:cNvPr id="7" name="TextBox 6"/>
          <p:cNvSpPr txBox="1"/>
          <p:nvPr/>
        </p:nvSpPr>
        <p:spPr>
          <a:xfrm>
            <a:off x="1371600" y="5120640"/>
            <a:ext cx="9144000" cy="365760"/>
          </a:xfrm>
          <a:prstGeom prst="rect">
            <a:avLst/>
          </a:prstGeom>
          <a:noFill/>
        </p:spPr>
        <p:txBody>
          <a:bodyPr wrap="none">
            <a:spAutoFit/>
          </a:bodyPr>
          <a:lstStyle/>
          <a:p>
            <a:pPr>
              <a:defRPr sz="1000" i="1">
                <a:solidFill>
                  <a:srgbClr val="334155"/>
                </a:solidFill>
              </a:defRPr>
            </a:pPr>
            <a:r>
              <a:t>Data Source: Web Performance Tracking (1).xlsx (Updated: Sep 01, 2026 Finalized) · Target Dec 2026: 4.0M PVs</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182880"/>
            <a:ext cx="7772400" cy="228600"/>
          </a:xfrm>
          <a:prstGeom prst="rect">
            <a:avLst/>
          </a:prstGeom>
          <a:noFill/>
        </p:spPr>
        <p:txBody>
          <a:bodyPr wrap="none">
            <a:spAutoFit/>
          </a:bodyPr>
          <a:lstStyle/>
          <a:p>
            <a:pPr>
              <a:defRPr sz="900" b="1">
                <a:solidFill>
                  <a:srgbClr val="B0006D"/>
                </a:solidFill>
              </a:defRPr>
            </a:pPr>
            <a:r>
              <a:t>TEMPLATE GUIDELINES · REPORTING STANDARDS</a:t>
            </a:r>
          </a:p>
        </p:txBody>
      </p:sp>
      <p:sp>
        <p:nvSpPr>
          <p:cNvPr id="3" name="Rounded Rectangle 2"/>
          <p:cNvSpPr/>
          <p:nvPr/>
        </p:nvSpPr>
        <p:spPr>
          <a:xfrm>
            <a:off x="9692640" y="182880"/>
            <a:ext cx="1950415" cy="320040"/>
          </a:xfrm>
          <a:prstGeom prst="roundRect">
            <a:avLst/>
          </a:prstGeom>
          <a:solidFill>
            <a:srgbClr val="9333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900" b="1">
                <a:solidFill>
                  <a:srgbClr val="FFFFFF"/>
                </a:solidFill>
              </a:defRPr>
            </a:pPr>
            <a:r>
              <a:t>[F] GUIDELINES</a:t>
            </a:r>
          </a:p>
        </p:txBody>
      </p:sp>
      <p:sp>
        <p:nvSpPr>
          <p:cNvPr id="4" name="TextBox 3"/>
          <p:cNvSpPr txBox="1"/>
          <p:nvPr/>
        </p:nvSpPr>
        <p:spPr>
          <a:xfrm>
            <a:off x="548640" y="384048"/>
            <a:ext cx="8961120" cy="411480"/>
          </a:xfrm>
          <a:prstGeom prst="rect">
            <a:avLst/>
          </a:prstGeom>
          <a:noFill/>
        </p:spPr>
        <p:txBody>
          <a:bodyPr wrap="none">
            <a:spAutoFit/>
          </a:bodyPr>
          <a:lstStyle/>
          <a:p>
            <a:pPr>
              <a:defRPr sz="1700" b="1">
                <a:solidFill>
                  <a:srgbClr val="0F172A"/>
                </a:solidFill>
              </a:defRPr>
            </a:pPr>
            <a:r>
              <a:t>QUY CHUẨN SOẠN THẢO BÁO CÁO (REPORT STANDARDS)</a:t>
            </a:r>
          </a:p>
        </p:txBody>
      </p:sp>
      <p:sp>
        <p:nvSpPr>
          <p:cNvPr id="5" name="Rounded Rectangle 4"/>
          <p:cNvSpPr/>
          <p:nvPr/>
        </p:nvSpPr>
        <p:spPr>
          <a:xfrm>
            <a:off x="548640" y="960120"/>
            <a:ext cx="5303520" cy="5394960"/>
          </a:xfrm>
          <a:prstGeom prst="roundRect">
            <a:avLst/>
          </a:prstGeom>
          <a:solidFill>
            <a:srgbClr val="FFFFFF"/>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182880" tIns="182880"/>
          <a:lstStyle/>
          <a:p>
            <a:pPr algn="ctr">
              <a:defRPr sz="1200" b="1">
                <a:solidFill>
                  <a:srgbClr val="0284C7"/>
                </a:solidFill>
              </a:defRPr>
            </a:pPr>
            <a:r>
              <a:t>SLIDE BÁO CÁO SỐ LIỆU [R]</a:t>
            </a:r>
          </a:p>
          <a:p>
            <a:pPr>
              <a:defRPr sz="900" b="1">
                <a:solidFill>
                  <a:srgbClr val="0F172A"/>
                </a:solidFill>
              </a:defRPr>
            </a:pPr>
            <a:r>
              <a:t>• NỬA TRÊN SLIDE (Số liệu trực quan):</a:t>
            </a:r>
          </a:p>
          <a:p>
            <a:pPr>
              <a:defRPr sz="850">
                <a:solidFill>
                  <a:srgbClr val="334155"/>
                </a:solidFill>
              </a:defRPr>
            </a:pPr>
            <a:r>
              <a:t>   1. Bảng số liệu chuẩn hóa: Gom các phân hệ &gt;= 50K PVs, gộp use case nhỏ vào Others.</a:t>
            </a:r>
          </a:p>
          <a:p>
            <a:pPr>
              <a:defRPr sz="850">
                <a:solidFill>
                  <a:srgbClr val="334155"/>
                </a:solidFill>
              </a:defRPr>
            </a:pPr>
            <a:r>
              <a:t>   2. Biểu đồ trực quan: Sắp xếp các cột/thanh từ cao xuống thấp theo lưu lượng T8.</a:t>
            </a:r>
          </a:p>
          <a:p>
            <a:pPr>
              <a:defRPr sz="900" b="1">
                <a:solidFill>
                  <a:srgbClr val="0F172A"/>
                </a:solidFill>
              </a:defRPr>
            </a:pPr>
            <a:r>
              <a:t>• NỬA DƯỚI SLIDE (Cấu trúc 4 phần chuẩn):</a:t>
            </a:r>
          </a:p>
          <a:p>
            <a:pPr>
              <a:defRPr sz="850">
                <a:solidFill>
                  <a:srgbClr val="334155"/>
                </a:solidFill>
              </a:defRPr>
            </a:pPr>
            <a:r>
              <a:t>   1. Executive Summary: Bắt đầu bằng Context chiến lược &amp; Kết quả Tháng 8.</a:t>
            </a:r>
          </a:p>
          <a:p>
            <a:pPr>
              <a:defRPr sz="850">
                <a:solidFill>
                  <a:srgbClr val="334155"/>
                </a:solidFill>
              </a:defRPr>
            </a:pPr>
            <a:r>
              <a:t>   2. Problem Statement: Điểm nghẽn chuyển đổi trực tiếp ngoài Web.</a:t>
            </a:r>
          </a:p>
          <a:p>
            <a:pPr>
              <a:defRPr sz="850">
                <a:solidFill>
                  <a:srgbClr val="334155"/>
                </a:solidFill>
              </a:defRPr>
            </a:pPr>
            <a:r>
              <a:t>   3. Hypothesis/Solutions: Giải pháp chiến lược đề xuất.</a:t>
            </a:r>
          </a:p>
          <a:p>
            <a:pPr>
              <a:defRPr sz="850">
                <a:solidFill>
                  <a:srgbClr val="334155"/>
                </a:solidFill>
              </a:defRPr>
            </a:pPr>
            <a:r>
              <a:t>   4. Next Steps: Hành động cụ thể Tháng 09/2026 (không ghi Collab Team).</a:t>
            </a:r>
          </a:p>
        </p:txBody>
      </p:sp>
      <p:sp>
        <p:nvSpPr>
          <p:cNvPr id="6" name="Rounded Rectangle 5"/>
          <p:cNvSpPr/>
          <p:nvPr/>
        </p:nvSpPr>
        <p:spPr>
          <a:xfrm>
            <a:off x="6309360" y="960120"/>
            <a:ext cx="5303520" cy="5394960"/>
          </a:xfrm>
          <a:prstGeom prst="roundRect">
            <a:avLst/>
          </a:prstGeom>
          <a:solidFill>
            <a:srgbClr val="F8FAFC"/>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182880" tIns="182880"/>
          <a:lstStyle/>
          <a:p>
            <a:pPr algn="ctr">
              <a:defRPr sz="1200" b="1">
                <a:solidFill>
                  <a:srgbClr val="D97706"/>
                </a:solidFill>
              </a:defRPr>
            </a:pPr>
            <a:r>
              <a:t>SLIDE THẢO LUẬN CHIẾN LƯỢC [D]</a:t>
            </a:r>
          </a:p>
          <a:p>
            <a:pPr>
              <a:defRPr sz="900" b="1">
                <a:solidFill>
                  <a:srgbClr val="0F172A"/>
                </a:solidFill>
              </a:defRPr>
            </a:pPr>
            <a:r>
              <a:t>• 1. Problem Statement:</a:t>
            </a:r>
          </a:p>
          <a:p>
            <a:pPr>
              <a:defRPr sz="850">
                <a:solidFill>
                  <a:srgbClr val="334155"/>
                </a:solidFill>
              </a:defRPr>
            </a:pPr>
            <a:r>
              <a:t>   Phát biểu thách thức vĩ mô, bối cảnh thị trường và vấn đề cần Ban Giám Đốc/BU biểu quyết.</a:t>
            </a:r>
          </a:p>
          <a:p>
            <a:pPr>
              <a:defRPr sz="900" b="1">
                <a:solidFill>
                  <a:srgbClr val="0F172A"/>
                </a:solidFill>
              </a:defRPr>
            </a:pPr>
            <a:r>
              <a:t>• 2. Status / Issues &amp; Data Points:</a:t>
            </a:r>
          </a:p>
          <a:p>
            <a:pPr>
              <a:defRPr sz="850">
                <a:solidFill>
                  <a:srgbClr val="334155"/>
                </a:solidFill>
              </a:defRPr>
            </a:pPr>
            <a:r>
              <a:t>   Dẫn chứng số liệu thực tế tháng 8, chỉ rõ các điểm gãy luồng và rào cản tăng trưởng.</a:t>
            </a:r>
          </a:p>
          <a:p>
            <a:pPr>
              <a:defRPr sz="900" b="1">
                <a:solidFill>
                  <a:srgbClr val="0F172A"/>
                </a:solidFill>
              </a:defRPr>
            </a:pPr>
            <a:r>
              <a:t>• 3. Solutions &amp; Recommendations:</a:t>
            </a:r>
          </a:p>
          <a:p>
            <a:pPr>
              <a:defRPr sz="850">
                <a:solidFill>
                  <a:srgbClr val="334155"/>
                </a:solidFill>
              </a:defRPr>
            </a:pPr>
            <a:r>
              <a:t>   Đề xuất các giải pháp và cam kết SLA cụ thể giữa các BU để ra quyết định ngay trong cuộc họp.</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182880"/>
            <a:ext cx="7772400" cy="228600"/>
          </a:xfrm>
          <a:prstGeom prst="rect">
            <a:avLst/>
          </a:prstGeom>
          <a:noFill/>
        </p:spPr>
        <p:txBody>
          <a:bodyPr wrap="none">
            <a:spAutoFit/>
          </a:bodyPr>
          <a:lstStyle/>
          <a:p>
            <a:pPr>
              <a:defRPr sz="900" b="1">
                <a:solidFill>
                  <a:srgbClr val="B0006D"/>
                </a:solidFill>
              </a:defRPr>
            </a:pPr>
            <a:r>
              <a:t>GROWTH PLATFORM DIVISION · WEB PLATFORM</a:t>
            </a:r>
          </a:p>
        </p:txBody>
      </p:sp>
      <p:sp>
        <p:nvSpPr>
          <p:cNvPr id="3" name="Rounded Rectangle 2"/>
          <p:cNvSpPr/>
          <p:nvPr/>
        </p:nvSpPr>
        <p:spPr>
          <a:xfrm>
            <a:off x="9692640" y="182880"/>
            <a:ext cx="1950415" cy="320040"/>
          </a:xfrm>
          <a:prstGeom prst="roundRect">
            <a:avLst/>
          </a:prstGeom>
          <a:solidFill>
            <a:srgbClr val="0284C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900" b="1">
                <a:solidFill>
                  <a:srgbClr val="FFFFFF"/>
                </a:solidFill>
              </a:defRPr>
            </a:pPr>
            <a:r>
              <a:t>[R] REPORTING</a:t>
            </a:r>
          </a:p>
        </p:txBody>
      </p:sp>
      <p:sp>
        <p:nvSpPr>
          <p:cNvPr id="4" name="TextBox 3"/>
          <p:cNvSpPr txBox="1"/>
          <p:nvPr/>
        </p:nvSpPr>
        <p:spPr>
          <a:xfrm>
            <a:off x="548640" y="384048"/>
            <a:ext cx="8961120" cy="411480"/>
          </a:xfrm>
          <a:prstGeom prst="rect">
            <a:avLst/>
          </a:prstGeom>
          <a:noFill/>
        </p:spPr>
        <p:txBody>
          <a:bodyPr wrap="none">
            <a:spAutoFit/>
          </a:bodyPr>
          <a:lstStyle/>
          <a:p>
            <a:pPr>
              <a:defRPr sz="1700" b="1">
                <a:solidFill>
                  <a:srgbClr val="0F172A"/>
                </a:solidFill>
              </a:defRPr>
            </a:pPr>
            <a:r>
              <a:t>TRAFFIC OVERVIEW (FULL THÁNG 8 &amp; TOP GROWTH HUBS)</a:t>
            </a:r>
          </a:p>
        </p:txBody>
      </p:sp>
      <p:graphicFrame>
        <p:nvGraphicFramePr>
          <p:cNvPr id="5" name="Table 4"/>
          <p:cNvGraphicFramePr>
            <a:graphicFrameLocks noGrp="1"/>
          </p:cNvGraphicFramePr>
          <p:nvPr/>
        </p:nvGraphicFramePr>
        <p:xfrm>
          <a:off x="548640" y="868680"/>
          <a:ext cx="6217920" cy="2926080"/>
        </p:xfrm>
        <a:graphic>
          <a:graphicData uri="http://schemas.openxmlformats.org/drawingml/2006/table">
            <a:tbl>
              <a:tblPr firstRow="1" bandRow="1">
                <a:tableStyleId>{5C22544A-7EE6-4342-B048-85BDC9FD1C3A}</a:tableStyleId>
              </a:tblPr>
              <a:tblGrid>
                <a:gridCol w="2377440"/>
                <a:gridCol w="960120"/>
                <a:gridCol w="960120"/>
                <a:gridCol w="960120"/>
                <a:gridCol w="960120"/>
              </a:tblGrid>
              <a:tr h="243840">
                <a:tc>
                  <a:txBody>
                    <a:bodyPr/>
                    <a:lstStyle/>
                    <a:p>
                      <a:pPr algn="ctr">
                        <a:defRPr sz="800" b="1">
                          <a:solidFill>
                            <a:srgbClr val="FFFFFF"/>
                          </a:solidFill>
                        </a:defRPr>
                      </a:pPr>
                      <a:r>
                        <a:t>Use Case / Strategic Hub</a:t>
                      </a:r>
                    </a:p>
                  </a:txBody>
                  <a:tcPr>
                    <a:solidFill>
                      <a:srgbClr val="B0006D"/>
                    </a:solidFill>
                  </a:tcPr>
                </a:tc>
                <a:tc>
                  <a:txBody>
                    <a:bodyPr/>
                    <a:lstStyle/>
                    <a:p>
                      <a:pPr algn="ctr">
                        <a:defRPr sz="800" b="1">
                          <a:solidFill>
                            <a:srgbClr val="FFFFFF"/>
                          </a:solidFill>
                        </a:defRPr>
                      </a:pPr>
                      <a:r>
                        <a:t>T7 (Full)</a:t>
                      </a:r>
                    </a:p>
                  </a:txBody>
                  <a:tcPr>
                    <a:solidFill>
                      <a:srgbClr val="B0006D"/>
                    </a:solidFill>
                  </a:tcPr>
                </a:tc>
                <a:tc>
                  <a:txBody>
                    <a:bodyPr/>
                    <a:lstStyle/>
                    <a:p>
                      <a:pPr algn="ctr">
                        <a:defRPr sz="800" b="1">
                          <a:solidFill>
                            <a:srgbClr val="FFFFFF"/>
                          </a:solidFill>
                        </a:defRPr>
                      </a:pPr>
                      <a:r>
                        <a:t>T8 (Full)</a:t>
                      </a:r>
                    </a:p>
                  </a:txBody>
                  <a:tcPr>
                    <a:solidFill>
                      <a:srgbClr val="B0006D"/>
                    </a:solidFill>
                  </a:tcPr>
                </a:tc>
                <a:tc>
                  <a:txBody>
                    <a:bodyPr/>
                    <a:lstStyle/>
                    <a:p>
                      <a:pPr algn="ctr">
                        <a:defRPr sz="800" b="1">
                          <a:solidFill>
                            <a:srgbClr val="FFFFFF"/>
                          </a:solidFill>
                        </a:defRPr>
                      </a:pPr>
                      <a:r>
                        <a:t>MoM %</a:t>
                      </a:r>
                    </a:p>
                  </a:txBody>
                  <a:tcPr>
                    <a:solidFill>
                      <a:srgbClr val="B0006D"/>
                    </a:solidFill>
                  </a:tcPr>
                </a:tc>
                <a:tc>
                  <a:txBody>
                    <a:bodyPr/>
                    <a:lstStyle/>
                    <a:p>
                      <a:pPr algn="ctr">
                        <a:defRPr sz="800" b="1">
                          <a:solidFill>
                            <a:srgbClr val="FFFFFF"/>
                          </a:solidFill>
                        </a:defRPr>
                      </a:pPr>
                      <a:r>
                        <a:t>Share</a:t>
                      </a:r>
                    </a:p>
                  </a:txBody>
                  <a:tcPr>
                    <a:solidFill>
                      <a:srgbClr val="B0006D"/>
                    </a:solidFill>
                  </a:tcPr>
                </a:tc>
              </a:tr>
              <a:tr h="243840">
                <a:tc>
                  <a:txBody>
                    <a:bodyPr/>
                    <a:lstStyle/>
                    <a:p>
                      <a:pPr algn="l">
                        <a:defRPr sz="750" b="1"/>
                      </a:pPr>
                      <a:r>
                        <a:t>Cinema Hub (Tổng Hợp)</a:t>
                      </a:r>
                    </a:p>
                  </a:txBody>
                  <a:tcPr>
                    <a:solidFill>
                      <a:srgbClr val="F8FAFC"/>
                    </a:solidFill>
                  </a:tcPr>
                </a:tc>
                <a:tc>
                  <a:txBody>
                    <a:bodyPr/>
                    <a:lstStyle/>
                    <a:p>
                      <a:pPr algn="ctr">
                        <a:defRPr sz="750"/>
                      </a:pPr>
                      <a:r>
                        <a:t>810.6K</a:t>
                      </a:r>
                    </a:p>
                  </a:txBody>
                  <a:tcPr>
                    <a:solidFill>
                      <a:srgbClr val="F8FAFC"/>
                    </a:solidFill>
                  </a:tcPr>
                </a:tc>
                <a:tc>
                  <a:txBody>
                    <a:bodyPr/>
                    <a:lstStyle/>
                    <a:p>
                      <a:pPr algn="ctr">
                        <a:defRPr sz="750"/>
                      </a:pPr>
                      <a:r>
                        <a:t>822.4K</a:t>
                      </a:r>
                    </a:p>
                  </a:txBody>
                  <a:tcPr>
                    <a:solidFill>
                      <a:srgbClr val="F8FAFC"/>
                    </a:solidFill>
                  </a:tcPr>
                </a:tc>
                <a:tc>
                  <a:txBody>
                    <a:bodyPr/>
                    <a:lstStyle/>
                    <a:p>
                      <a:pPr algn="ctr">
                        <a:defRPr sz="750" b="1">
                          <a:solidFill>
                            <a:srgbClr val="16A34A"/>
                          </a:solidFill>
                        </a:defRPr>
                      </a:pPr>
                      <a:r>
                        <a:t>+1.46%</a:t>
                      </a:r>
                    </a:p>
                  </a:txBody>
                  <a:tcPr>
                    <a:solidFill>
                      <a:srgbClr val="F8FAFC"/>
                    </a:solidFill>
                  </a:tcPr>
                </a:tc>
                <a:tc>
                  <a:txBody>
                    <a:bodyPr/>
                    <a:lstStyle/>
                    <a:p>
                      <a:pPr algn="ctr">
                        <a:defRPr sz="750"/>
                      </a:pPr>
                      <a:r>
                        <a:t>23.73%</a:t>
                      </a:r>
                    </a:p>
                  </a:txBody>
                  <a:tcPr>
                    <a:solidFill>
                      <a:srgbClr val="F8FAFC"/>
                    </a:solidFill>
                  </a:tcPr>
                </a:tc>
              </a:tr>
              <a:tr h="243840">
                <a:tc>
                  <a:txBody>
                    <a:bodyPr/>
                    <a:lstStyle/>
                    <a:p>
                      <a:pPr algn="l">
                        <a:defRPr sz="750" b="1"/>
                      </a:pPr>
                      <a:r>
                        <a:t>Financial Hub (Tổng Hợp)</a:t>
                      </a:r>
                    </a:p>
                  </a:txBody>
                  <a:tcPr>
                    <a:solidFill>
                      <a:srgbClr val="F8FAFC"/>
                    </a:solidFill>
                  </a:tcPr>
                </a:tc>
                <a:tc>
                  <a:txBody>
                    <a:bodyPr/>
                    <a:lstStyle/>
                    <a:p>
                      <a:pPr algn="ctr">
                        <a:defRPr sz="750"/>
                      </a:pPr>
                      <a:r>
                        <a:t>128.2K</a:t>
                      </a:r>
                    </a:p>
                  </a:txBody>
                  <a:tcPr>
                    <a:solidFill>
                      <a:srgbClr val="F8FAFC"/>
                    </a:solidFill>
                  </a:tcPr>
                </a:tc>
                <a:tc>
                  <a:txBody>
                    <a:bodyPr/>
                    <a:lstStyle/>
                    <a:p>
                      <a:pPr algn="ctr">
                        <a:defRPr sz="750"/>
                      </a:pPr>
                      <a:r>
                        <a:t>216.4K</a:t>
                      </a:r>
                    </a:p>
                  </a:txBody>
                  <a:tcPr>
                    <a:solidFill>
                      <a:srgbClr val="F8FAFC"/>
                    </a:solidFill>
                  </a:tcPr>
                </a:tc>
                <a:tc>
                  <a:txBody>
                    <a:bodyPr/>
                    <a:lstStyle/>
                    <a:p>
                      <a:pPr algn="ctr">
                        <a:defRPr sz="750" b="1">
                          <a:solidFill>
                            <a:srgbClr val="16A34A"/>
                          </a:solidFill>
                        </a:defRPr>
                      </a:pPr>
                      <a:r>
                        <a:t>+68.76%</a:t>
                      </a:r>
                    </a:p>
                  </a:txBody>
                  <a:tcPr>
                    <a:solidFill>
                      <a:srgbClr val="F8FAFC"/>
                    </a:solidFill>
                  </a:tcPr>
                </a:tc>
                <a:tc>
                  <a:txBody>
                    <a:bodyPr/>
                    <a:lstStyle/>
                    <a:p>
                      <a:pPr algn="ctr">
                        <a:defRPr sz="750"/>
                      </a:pPr>
                      <a:r>
                        <a:t>6.24%</a:t>
                      </a:r>
                    </a:p>
                  </a:txBody>
                  <a:tcPr>
                    <a:solidFill>
                      <a:srgbClr val="F8FAFC"/>
                    </a:solidFill>
                  </a:tcPr>
                </a:tc>
              </a:tr>
              <a:tr h="243840">
                <a:tc>
                  <a:txBody>
                    <a:bodyPr/>
                    <a:lstStyle/>
                    <a:p>
                      <a:pPr algn="l">
                        <a:defRPr sz="750"/>
                      </a:pPr>
                      <a:r>
                        <a:t>Phạt Nguội (Vehicle Anchor)</a:t>
                      </a:r>
                    </a:p>
                  </a:txBody>
                  <a:tcPr>
                    <a:solidFill>
                      <a:srgbClr val="F8FAFC"/>
                    </a:solidFill>
                  </a:tcPr>
                </a:tc>
                <a:tc>
                  <a:txBody>
                    <a:bodyPr/>
                    <a:lstStyle/>
                    <a:p>
                      <a:pPr algn="ctr">
                        <a:defRPr sz="750"/>
                      </a:pPr>
                      <a:r>
                        <a:t>154.9K</a:t>
                      </a:r>
                    </a:p>
                  </a:txBody>
                  <a:tcPr>
                    <a:solidFill>
                      <a:srgbClr val="F8FAFC"/>
                    </a:solidFill>
                  </a:tcPr>
                </a:tc>
                <a:tc>
                  <a:txBody>
                    <a:bodyPr/>
                    <a:lstStyle/>
                    <a:p>
                      <a:pPr algn="ctr">
                        <a:defRPr sz="750"/>
                      </a:pPr>
                      <a:r>
                        <a:t>213.8K</a:t>
                      </a:r>
                    </a:p>
                  </a:txBody>
                  <a:tcPr>
                    <a:solidFill>
                      <a:srgbClr val="F8FAFC"/>
                    </a:solidFill>
                  </a:tcPr>
                </a:tc>
                <a:tc>
                  <a:txBody>
                    <a:bodyPr/>
                    <a:lstStyle/>
                    <a:p>
                      <a:pPr algn="ctr">
                        <a:defRPr sz="750" b="1">
                          <a:solidFill>
                            <a:srgbClr val="16A34A"/>
                          </a:solidFill>
                        </a:defRPr>
                      </a:pPr>
                      <a:r>
                        <a:t>+38.05%</a:t>
                      </a:r>
                    </a:p>
                  </a:txBody>
                  <a:tcPr>
                    <a:solidFill>
                      <a:srgbClr val="F8FAFC"/>
                    </a:solidFill>
                  </a:tcPr>
                </a:tc>
                <a:tc>
                  <a:txBody>
                    <a:bodyPr/>
                    <a:lstStyle/>
                    <a:p>
                      <a:pPr algn="ctr">
                        <a:defRPr sz="750"/>
                      </a:pPr>
                      <a:r>
                        <a:t>6.17%</a:t>
                      </a:r>
                    </a:p>
                  </a:txBody>
                  <a:tcPr>
                    <a:solidFill>
                      <a:srgbClr val="F8FAFC"/>
                    </a:solidFill>
                  </a:tcPr>
                </a:tc>
              </a:tr>
              <a:tr h="243840">
                <a:tc>
                  <a:txBody>
                    <a:bodyPr/>
                    <a:lstStyle/>
                    <a:p>
                      <a:pPr algn="l">
                        <a:defRPr sz="750"/>
                      </a:pPr>
                      <a:r>
                        <a:t>Home MoMo (Trang Chủ)</a:t>
                      </a:r>
                    </a:p>
                  </a:txBody>
                  <a:tcPr>
                    <a:solidFill>
                      <a:srgbClr val="FDF2F8"/>
                    </a:solidFill>
                  </a:tcPr>
                </a:tc>
                <a:tc>
                  <a:txBody>
                    <a:bodyPr/>
                    <a:lstStyle/>
                    <a:p>
                      <a:pPr algn="ctr">
                        <a:defRPr sz="750"/>
                      </a:pPr>
                      <a:r>
                        <a:t>196.0K</a:t>
                      </a:r>
                    </a:p>
                  </a:txBody>
                  <a:tcPr>
                    <a:solidFill>
                      <a:srgbClr val="FDF2F8"/>
                    </a:solidFill>
                  </a:tcPr>
                </a:tc>
                <a:tc>
                  <a:txBody>
                    <a:bodyPr/>
                    <a:lstStyle/>
                    <a:p>
                      <a:pPr algn="ctr">
                        <a:defRPr sz="750"/>
                      </a:pPr>
                      <a:r>
                        <a:t>201.4K</a:t>
                      </a:r>
                    </a:p>
                  </a:txBody>
                  <a:tcPr>
                    <a:solidFill>
                      <a:srgbClr val="FDF2F8"/>
                    </a:solidFill>
                  </a:tcPr>
                </a:tc>
                <a:tc>
                  <a:txBody>
                    <a:bodyPr/>
                    <a:lstStyle/>
                    <a:p>
                      <a:pPr algn="ctr">
                        <a:defRPr sz="750" b="1">
                          <a:solidFill>
                            <a:srgbClr val="16A34A"/>
                          </a:solidFill>
                        </a:defRPr>
                      </a:pPr>
                      <a:r>
                        <a:t>+2.77%</a:t>
                      </a:r>
                    </a:p>
                  </a:txBody>
                  <a:tcPr>
                    <a:solidFill>
                      <a:srgbClr val="FDF2F8"/>
                    </a:solidFill>
                  </a:tcPr>
                </a:tc>
                <a:tc>
                  <a:txBody>
                    <a:bodyPr/>
                    <a:lstStyle/>
                    <a:p>
                      <a:pPr algn="ctr">
                        <a:defRPr sz="750"/>
                      </a:pPr>
                      <a:r>
                        <a:t>5.81%</a:t>
                      </a:r>
                    </a:p>
                  </a:txBody>
                  <a:tcPr>
                    <a:solidFill>
                      <a:srgbClr val="FDF2F8"/>
                    </a:solidFill>
                  </a:tcPr>
                </a:tc>
              </a:tr>
              <a:tr h="243840">
                <a:tc>
                  <a:txBody>
                    <a:bodyPr/>
                    <a:lstStyle/>
                    <a:p>
                      <a:pPr algn="l">
                        <a:defRPr sz="750"/>
                      </a:pPr>
                      <a:r>
                        <a:t>Tiktok Landing Page</a:t>
                      </a:r>
                    </a:p>
                  </a:txBody>
                  <a:tcPr>
                    <a:solidFill>
                      <a:srgbClr val="FFFFFF"/>
                    </a:solidFill>
                  </a:tcPr>
                </a:tc>
                <a:tc>
                  <a:txBody>
                    <a:bodyPr/>
                    <a:lstStyle/>
                    <a:p>
                      <a:pPr algn="ctr">
                        <a:defRPr sz="750"/>
                      </a:pPr>
                      <a:r>
                        <a:t>227.7K</a:t>
                      </a:r>
                    </a:p>
                  </a:txBody>
                  <a:tcPr>
                    <a:solidFill>
                      <a:srgbClr val="FFFFFF"/>
                    </a:solidFill>
                  </a:tcPr>
                </a:tc>
                <a:tc>
                  <a:txBody>
                    <a:bodyPr/>
                    <a:lstStyle/>
                    <a:p>
                      <a:pPr algn="ctr">
                        <a:defRPr sz="750"/>
                      </a:pPr>
                      <a:r>
                        <a:t>172.8K</a:t>
                      </a:r>
                    </a:p>
                  </a:txBody>
                  <a:tcPr>
                    <a:solidFill>
                      <a:srgbClr val="FFFFFF"/>
                    </a:solidFill>
                  </a:tcPr>
                </a:tc>
                <a:tc>
                  <a:txBody>
                    <a:bodyPr/>
                    <a:lstStyle/>
                    <a:p>
                      <a:pPr algn="ctr">
                        <a:defRPr sz="750">
                          <a:solidFill>
                            <a:srgbClr val="DC2626"/>
                          </a:solidFill>
                        </a:defRPr>
                      </a:pPr>
                      <a:r>
                        <a:t>-24.13%</a:t>
                      </a:r>
                    </a:p>
                  </a:txBody>
                  <a:tcPr>
                    <a:solidFill>
                      <a:srgbClr val="FFFFFF"/>
                    </a:solidFill>
                  </a:tcPr>
                </a:tc>
                <a:tc>
                  <a:txBody>
                    <a:bodyPr/>
                    <a:lstStyle/>
                    <a:p>
                      <a:pPr algn="ctr">
                        <a:defRPr sz="750"/>
                      </a:pPr>
                      <a:r>
                        <a:t>4.99%</a:t>
                      </a:r>
                    </a:p>
                  </a:txBody>
                  <a:tcPr>
                    <a:solidFill>
                      <a:srgbClr val="FFFFFF"/>
                    </a:solidFill>
                  </a:tcPr>
                </a:tc>
              </a:tr>
              <a:tr h="243840">
                <a:tc>
                  <a:txBody>
                    <a:bodyPr/>
                    <a:lstStyle/>
                    <a:p>
                      <a:pPr algn="l">
                        <a:defRPr sz="750"/>
                      </a:pPr>
                      <a:r>
                        <a:t>Vé Xe Khách</a:t>
                      </a:r>
                    </a:p>
                  </a:txBody>
                  <a:tcPr>
                    <a:solidFill>
                      <a:srgbClr val="FDF2F8"/>
                    </a:solidFill>
                  </a:tcPr>
                </a:tc>
                <a:tc>
                  <a:txBody>
                    <a:bodyPr/>
                    <a:lstStyle/>
                    <a:p>
                      <a:pPr algn="ctr">
                        <a:defRPr sz="750"/>
                      </a:pPr>
                      <a:r>
                        <a:t>91.1K</a:t>
                      </a:r>
                    </a:p>
                  </a:txBody>
                  <a:tcPr>
                    <a:solidFill>
                      <a:srgbClr val="FDF2F8"/>
                    </a:solidFill>
                  </a:tcPr>
                </a:tc>
                <a:tc>
                  <a:txBody>
                    <a:bodyPr/>
                    <a:lstStyle/>
                    <a:p>
                      <a:pPr algn="ctr">
                        <a:defRPr sz="750"/>
                      </a:pPr>
                      <a:r>
                        <a:t>120.6K</a:t>
                      </a:r>
                    </a:p>
                  </a:txBody>
                  <a:tcPr>
                    <a:solidFill>
                      <a:srgbClr val="FDF2F8"/>
                    </a:solidFill>
                  </a:tcPr>
                </a:tc>
                <a:tc>
                  <a:txBody>
                    <a:bodyPr/>
                    <a:lstStyle/>
                    <a:p>
                      <a:pPr algn="ctr">
                        <a:defRPr sz="750" b="1">
                          <a:solidFill>
                            <a:srgbClr val="16A34A"/>
                          </a:solidFill>
                        </a:defRPr>
                      </a:pPr>
                      <a:r>
                        <a:t>+32.35%</a:t>
                      </a:r>
                    </a:p>
                  </a:txBody>
                  <a:tcPr>
                    <a:solidFill>
                      <a:srgbClr val="FDF2F8"/>
                    </a:solidFill>
                  </a:tcPr>
                </a:tc>
                <a:tc>
                  <a:txBody>
                    <a:bodyPr/>
                    <a:lstStyle/>
                    <a:p>
                      <a:pPr algn="ctr">
                        <a:defRPr sz="750"/>
                      </a:pPr>
                      <a:r>
                        <a:t>3.48%</a:t>
                      </a:r>
                    </a:p>
                  </a:txBody>
                  <a:tcPr>
                    <a:solidFill>
                      <a:srgbClr val="FDF2F8"/>
                    </a:solidFill>
                  </a:tcPr>
                </a:tc>
              </a:tr>
              <a:tr h="243840">
                <a:tc>
                  <a:txBody>
                    <a:bodyPr/>
                    <a:lstStyle/>
                    <a:p>
                      <a:pPr algn="l">
                        <a:defRPr sz="750"/>
                      </a:pPr>
                      <a:r>
                        <a:t>Official Account (OA)</a:t>
                      </a:r>
                    </a:p>
                  </a:txBody>
                  <a:tcPr>
                    <a:solidFill>
                      <a:srgbClr val="FFFFFF"/>
                    </a:solidFill>
                  </a:tcPr>
                </a:tc>
                <a:tc>
                  <a:txBody>
                    <a:bodyPr/>
                    <a:lstStyle/>
                    <a:p>
                      <a:pPr algn="ctr">
                        <a:defRPr sz="750"/>
                      </a:pPr>
                      <a:r>
                        <a:t>54.9K</a:t>
                      </a:r>
                    </a:p>
                  </a:txBody>
                  <a:tcPr>
                    <a:solidFill>
                      <a:srgbClr val="FFFFFF"/>
                    </a:solidFill>
                  </a:tcPr>
                </a:tc>
                <a:tc>
                  <a:txBody>
                    <a:bodyPr/>
                    <a:lstStyle/>
                    <a:p>
                      <a:pPr algn="ctr">
                        <a:defRPr sz="750"/>
                      </a:pPr>
                      <a:r>
                        <a:t>57.2K</a:t>
                      </a:r>
                    </a:p>
                  </a:txBody>
                  <a:tcPr>
                    <a:solidFill>
                      <a:srgbClr val="FFFFFF"/>
                    </a:solidFill>
                  </a:tcPr>
                </a:tc>
                <a:tc>
                  <a:txBody>
                    <a:bodyPr/>
                    <a:lstStyle/>
                    <a:p>
                      <a:pPr algn="ctr">
                        <a:defRPr sz="750" b="1">
                          <a:solidFill>
                            <a:srgbClr val="16A34A"/>
                          </a:solidFill>
                        </a:defRPr>
                      </a:pPr>
                      <a:r>
                        <a:t>+4.09%</a:t>
                      </a:r>
                    </a:p>
                  </a:txBody>
                  <a:tcPr>
                    <a:solidFill>
                      <a:srgbClr val="FFFFFF"/>
                    </a:solidFill>
                  </a:tcPr>
                </a:tc>
                <a:tc>
                  <a:txBody>
                    <a:bodyPr/>
                    <a:lstStyle/>
                    <a:p>
                      <a:pPr algn="ctr">
                        <a:defRPr sz="750"/>
                      </a:pPr>
                      <a:r>
                        <a:t>1.65%</a:t>
                      </a:r>
                    </a:p>
                  </a:txBody>
                  <a:tcPr>
                    <a:solidFill>
                      <a:srgbClr val="FFFFFF"/>
                    </a:solidFill>
                  </a:tcPr>
                </a:tc>
              </a:tr>
              <a:tr h="243840">
                <a:tc>
                  <a:txBody>
                    <a:bodyPr/>
                    <a:lstStyle/>
                    <a:p>
                      <a:pPr algn="l">
                        <a:defRPr sz="750"/>
                      </a:pPr>
                      <a:r>
                        <a:t>Sim &amp; Esim</a:t>
                      </a:r>
                    </a:p>
                  </a:txBody>
                  <a:tcPr>
                    <a:solidFill>
                      <a:srgbClr val="FDF2F8"/>
                    </a:solidFill>
                  </a:tcPr>
                </a:tc>
                <a:tc>
                  <a:txBody>
                    <a:bodyPr/>
                    <a:lstStyle/>
                    <a:p>
                      <a:pPr algn="ctr">
                        <a:defRPr sz="750"/>
                      </a:pPr>
                      <a:r>
                        <a:t>38.7K</a:t>
                      </a:r>
                    </a:p>
                  </a:txBody>
                  <a:tcPr>
                    <a:solidFill>
                      <a:srgbClr val="FDF2F8"/>
                    </a:solidFill>
                  </a:tcPr>
                </a:tc>
                <a:tc>
                  <a:txBody>
                    <a:bodyPr/>
                    <a:lstStyle/>
                    <a:p>
                      <a:pPr algn="ctr">
                        <a:defRPr sz="750"/>
                      </a:pPr>
                      <a:r>
                        <a:t>54.8K</a:t>
                      </a:r>
                    </a:p>
                  </a:txBody>
                  <a:tcPr>
                    <a:solidFill>
                      <a:srgbClr val="FDF2F8"/>
                    </a:solidFill>
                  </a:tcPr>
                </a:tc>
                <a:tc>
                  <a:txBody>
                    <a:bodyPr/>
                    <a:lstStyle/>
                    <a:p>
                      <a:pPr algn="ctr">
                        <a:defRPr sz="750" b="1">
                          <a:solidFill>
                            <a:srgbClr val="16A34A"/>
                          </a:solidFill>
                        </a:defRPr>
                      </a:pPr>
                      <a:r>
                        <a:t>+41.58%</a:t>
                      </a:r>
                    </a:p>
                  </a:txBody>
                  <a:tcPr>
                    <a:solidFill>
                      <a:srgbClr val="FDF2F8"/>
                    </a:solidFill>
                  </a:tcPr>
                </a:tc>
                <a:tc>
                  <a:txBody>
                    <a:bodyPr/>
                    <a:lstStyle/>
                    <a:p>
                      <a:pPr algn="ctr">
                        <a:defRPr sz="750"/>
                      </a:pPr>
                      <a:r>
                        <a:t>1.58%</a:t>
                      </a:r>
                    </a:p>
                  </a:txBody>
                  <a:tcPr>
                    <a:solidFill>
                      <a:srgbClr val="FDF2F8"/>
                    </a:solidFill>
                  </a:tcPr>
                </a:tc>
              </a:tr>
              <a:tr h="243840">
                <a:tc>
                  <a:txBody>
                    <a:bodyPr/>
                    <a:lstStyle/>
                    <a:p>
                      <a:pPr algn="l">
                        <a:defRPr sz="750"/>
                      </a:pPr>
                      <a:r>
                        <a:t>OTA (Du Lịch / Khách Sạn)</a:t>
                      </a:r>
                    </a:p>
                  </a:txBody>
                  <a:tcPr>
                    <a:solidFill>
                      <a:srgbClr val="FFFFFF"/>
                    </a:solidFill>
                  </a:tcPr>
                </a:tc>
                <a:tc>
                  <a:txBody>
                    <a:bodyPr/>
                    <a:lstStyle/>
                    <a:p>
                      <a:pPr algn="ctr">
                        <a:defRPr sz="750"/>
                      </a:pPr>
                      <a:r>
                        <a:t>61.9K</a:t>
                      </a:r>
                    </a:p>
                  </a:txBody>
                  <a:tcPr>
                    <a:solidFill>
                      <a:srgbClr val="FFFFFF"/>
                    </a:solidFill>
                  </a:tcPr>
                </a:tc>
                <a:tc>
                  <a:txBody>
                    <a:bodyPr/>
                    <a:lstStyle/>
                    <a:p>
                      <a:pPr algn="ctr">
                        <a:defRPr sz="750"/>
                      </a:pPr>
                      <a:r>
                        <a:t>54.0K</a:t>
                      </a:r>
                    </a:p>
                  </a:txBody>
                  <a:tcPr>
                    <a:solidFill>
                      <a:srgbClr val="FFFFFF"/>
                    </a:solidFill>
                  </a:tcPr>
                </a:tc>
                <a:tc>
                  <a:txBody>
                    <a:bodyPr/>
                    <a:lstStyle/>
                    <a:p>
                      <a:pPr algn="ctr">
                        <a:defRPr sz="750">
                          <a:solidFill>
                            <a:srgbClr val="DC2626"/>
                          </a:solidFill>
                        </a:defRPr>
                      </a:pPr>
                      <a:r>
                        <a:t>-12.75%</a:t>
                      </a:r>
                    </a:p>
                  </a:txBody>
                  <a:tcPr>
                    <a:solidFill>
                      <a:srgbClr val="FFFFFF"/>
                    </a:solidFill>
                  </a:tcPr>
                </a:tc>
                <a:tc>
                  <a:txBody>
                    <a:bodyPr/>
                    <a:lstStyle/>
                    <a:p>
                      <a:pPr algn="ctr">
                        <a:defRPr sz="750"/>
                      </a:pPr>
                      <a:r>
                        <a:t>1.56%</a:t>
                      </a:r>
                    </a:p>
                  </a:txBody>
                  <a:tcPr>
                    <a:solidFill>
                      <a:srgbClr val="FFFFFF"/>
                    </a:solidFill>
                  </a:tcPr>
                </a:tc>
              </a:tr>
              <a:tr h="243840">
                <a:tc>
                  <a:txBody>
                    <a:bodyPr/>
                    <a:lstStyle/>
                    <a:p>
                      <a:pPr algn="l">
                        <a:defRPr sz="750"/>
                      </a:pPr>
                      <a:r>
                        <a:t>Others (Game, Soundbox, Sàn...)</a:t>
                      </a:r>
                    </a:p>
                  </a:txBody>
                  <a:tcPr>
                    <a:solidFill>
                      <a:srgbClr val="FDF2F8"/>
                    </a:solidFill>
                  </a:tcPr>
                </a:tc>
                <a:tc>
                  <a:txBody>
                    <a:bodyPr/>
                    <a:lstStyle/>
                    <a:p>
                      <a:pPr algn="ctr">
                        <a:defRPr sz="750"/>
                      </a:pPr>
                      <a:r>
                        <a:t>1.40M</a:t>
                      </a:r>
                    </a:p>
                  </a:txBody>
                  <a:tcPr>
                    <a:solidFill>
                      <a:srgbClr val="FDF2F8"/>
                    </a:solidFill>
                  </a:tcPr>
                </a:tc>
                <a:tc>
                  <a:txBody>
                    <a:bodyPr/>
                    <a:lstStyle/>
                    <a:p>
                      <a:pPr algn="ctr">
                        <a:defRPr sz="750"/>
                      </a:pPr>
                      <a:r>
                        <a:t>1.55M</a:t>
                      </a:r>
                    </a:p>
                  </a:txBody>
                  <a:tcPr>
                    <a:solidFill>
                      <a:srgbClr val="FDF2F8"/>
                    </a:solidFill>
                  </a:tcPr>
                </a:tc>
                <a:tc>
                  <a:txBody>
                    <a:bodyPr/>
                    <a:lstStyle/>
                    <a:p>
                      <a:pPr algn="ctr">
                        <a:defRPr sz="750" b="1">
                          <a:solidFill>
                            <a:srgbClr val="16A34A"/>
                          </a:solidFill>
                        </a:defRPr>
                      </a:pPr>
                      <a:r>
                        <a:t>+10.64%</a:t>
                      </a:r>
                    </a:p>
                  </a:txBody>
                  <a:tcPr>
                    <a:solidFill>
                      <a:srgbClr val="FDF2F8"/>
                    </a:solidFill>
                  </a:tcPr>
                </a:tc>
                <a:tc>
                  <a:txBody>
                    <a:bodyPr/>
                    <a:lstStyle/>
                    <a:p>
                      <a:pPr algn="ctr">
                        <a:defRPr sz="750"/>
                      </a:pPr>
                      <a:r>
                        <a:t>44.79%</a:t>
                      </a:r>
                    </a:p>
                  </a:txBody>
                  <a:tcPr>
                    <a:solidFill>
                      <a:srgbClr val="FDF2F8"/>
                    </a:solidFill>
                  </a:tcPr>
                </a:tc>
              </a:tr>
              <a:tr h="243840">
                <a:tc>
                  <a:txBody>
                    <a:bodyPr/>
                    <a:lstStyle/>
                    <a:p>
                      <a:pPr algn="l">
                        <a:defRPr sz="750" b="1"/>
                      </a:pPr>
                      <a:r>
                        <a:t>TỔNG LƯU LƯỢNG TOÀN WEB</a:t>
                      </a:r>
                    </a:p>
                  </a:txBody>
                  <a:tcPr>
                    <a:solidFill>
                      <a:srgbClr val="F1F5F9"/>
                    </a:solidFill>
                  </a:tcPr>
                </a:tc>
                <a:tc>
                  <a:txBody>
                    <a:bodyPr/>
                    <a:lstStyle/>
                    <a:p>
                      <a:pPr algn="ctr">
                        <a:defRPr sz="750" b="1">
                          <a:solidFill>
                            <a:srgbClr val="B0006D"/>
                          </a:solidFill>
                        </a:defRPr>
                      </a:pPr>
                      <a:r>
                        <a:t>3.17M</a:t>
                      </a:r>
                    </a:p>
                  </a:txBody>
                  <a:tcPr>
                    <a:solidFill>
                      <a:srgbClr val="F1F5F9"/>
                    </a:solidFill>
                  </a:tcPr>
                </a:tc>
                <a:tc>
                  <a:txBody>
                    <a:bodyPr/>
                    <a:lstStyle/>
                    <a:p>
                      <a:pPr algn="ctr">
                        <a:defRPr sz="750" b="1">
                          <a:solidFill>
                            <a:srgbClr val="B0006D"/>
                          </a:solidFill>
                        </a:defRPr>
                      </a:pPr>
                      <a:r>
                        <a:t>3.47M</a:t>
                      </a:r>
                    </a:p>
                  </a:txBody>
                  <a:tcPr>
                    <a:solidFill>
                      <a:srgbClr val="F1F5F9"/>
                    </a:solidFill>
                  </a:tcPr>
                </a:tc>
                <a:tc>
                  <a:txBody>
                    <a:bodyPr/>
                    <a:lstStyle/>
                    <a:p>
                      <a:pPr algn="ctr">
                        <a:defRPr sz="750" b="1">
                          <a:solidFill>
                            <a:srgbClr val="16A34A"/>
                          </a:solidFill>
                        </a:defRPr>
                      </a:pPr>
                      <a:r>
                        <a:t>+9.39%</a:t>
                      </a:r>
                    </a:p>
                  </a:txBody>
                  <a:tcPr>
                    <a:solidFill>
                      <a:srgbClr val="F1F5F9"/>
                    </a:solidFill>
                  </a:tcPr>
                </a:tc>
                <a:tc>
                  <a:txBody>
                    <a:bodyPr/>
                    <a:lstStyle/>
                    <a:p>
                      <a:pPr algn="ctr">
                        <a:defRPr sz="750" b="1">
                          <a:solidFill>
                            <a:srgbClr val="B0006D"/>
                          </a:solidFill>
                        </a:defRPr>
                      </a:pPr>
                      <a:r>
                        <a:t>100.00%</a:t>
                      </a:r>
                    </a:p>
                  </a:txBody>
                  <a:tcPr>
                    <a:solidFill>
                      <a:srgbClr val="F1F5F9"/>
                    </a:solidFill>
                  </a:tcPr>
                </a:tc>
              </a:tr>
            </a:tbl>
          </a:graphicData>
        </a:graphic>
      </p:graphicFrame>
      <p:sp>
        <p:nvSpPr>
          <p:cNvPr id="6" name="Rounded Rectangle 5"/>
          <p:cNvSpPr/>
          <p:nvPr/>
        </p:nvSpPr>
        <p:spPr>
          <a:xfrm>
            <a:off x="6949440" y="868680"/>
            <a:ext cx="4693615" cy="2926080"/>
          </a:xfrm>
          <a:prstGeom prst="roundRect">
            <a:avLst/>
          </a:prstGeom>
          <a:solidFill>
            <a:srgbClr val="F8FAFC"/>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7" name="Chart 6"/>
          <p:cNvGraphicFramePr>
            <a:graphicFrameLocks noGrp="1"/>
          </p:cNvGraphicFramePr>
          <p:nvPr/>
        </p:nvGraphicFramePr>
        <p:xfrm>
          <a:off x="7040879" y="960120"/>
          <a:ext cx="4510735" cy="2743200"/>
        </p:xfrm>
        <a:graphic>
          <a:graphicData uri="http://schemas.openxmlformats.org/drawingml/2006/chart">
            <c:chart xmlns:c="http://schemas.openxmlformats.org/drawingml/2006/chart" r:id="rId2"/>
          </a:graphicData>
        </a:graphic>
      </p:graphicFrame>
      <p:sp>
        <p:nvSpPr>
          <p:cNvPr id="8" name="Rounded Rectangle 7"/>
          <p:cNvSpPr/>
          <p:nvPr/>
        </p:nvSpPr>
        <p:spPr>
          <a:xfrm>
            <a:off x="548640" y="3977639"/>
            <a:ext cx="11094415" cy="2606040"/>
          </a:xfrm>
          <a:prstGeom prst="roundRect">
            <a:avLst/>
          </a:prstGeom>
          <a:solidFill>
            <a:srgbClr val="F8FAFC"/>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182880" rIns="182880" tIns="137160" bIns="137160"/>
          <a:lstStyle/>
          <a:p>
            <a:pPr algn="ctr">
              <a:defRPr sz="850">
                <a:solidFill>
                  <a:srgbClr val="0F172A"/>
                </a:solidFill>
              </a:defRPr>
            </a:pPr>
            <a:r>
              <a:t>Executive Summary: Context: Tập trung xây dựng các Growth Units, lấy Financial Authority làm đòn bẩy tăng trưởng cốt lõi để hướng tới mục tiêu Tháng 12/2026 đạt 4.000.000 PVs/tháng. Kết quả: Toàn Web đạt 3.47M PVs (3.465.363 PVs, +9.39% MoM, đạt 103.2% Target tháng 8); Financial Hub (+68.76%, 216.4K PVs) và Phạt Nguội (+38.05%, 213.8K PVs) tăng bùng nổ; Cinema Hub (822.4K PVs, +1.46%) giữ vững 23.73% Share. CTR Click-to-App toàn sàn đạt 22.5%.</a:t>
            </a:r>
          </a:p>
          <a:p>
            <a:pPr>
              <a:defRPr sz="800">
                <a:solidFill>
                  <a:srgbClr val="334155"/>
                </a:solidFill>
              </a:defRPr>
            </a:pPr>
            <a:r>
              <a:t>Problem Statement: Chưa khai thác hết tiềm năng tìm kiếm tài chính &gt;100M searches/tháng do thiếu hệ thống Content Inventory chuẩn hóa; tiêu chuẩn Google YMYL khắt khe đòi hỏi phải xây dựng Financial Topical Authority bài bản bằng nội dung chuyên sâu gắn liền công cụ thực tế.</a:t>
            </a:r>
          </a:p>
          <a:p>
            <a:pPr>
              <a:defRPr sz="800">
                <a:solidFill>
                  <a:srgbClr val="334155"/>
                </a:solidFill>
              </a:defRPr>
            </a:pPr>
            <a:r>
              <a:t>Hypothesis/Solutions: Ứng dụng Financial Content Inventory để đánh chiếm dứt điểm các Low-Hanging Fruits (P0 Quick Wins: Tính Lương, Thuế TNCN, Điểm CIC, Tiết Kiệm); đẩy mạnh sản xuất Topic Clusters qua MoSpark GenAI kết hợp bộ công cụ Simulator để vừa xây thẩm quyền domain, vừa dẫn dòng giao dịch In-App.</a:t>
            </a:r>
          </a:p>
          <a:p>
            <a:pPr>
              <a:defRPr sz="850" b="1">
                <a:solidFill>
                  <a:srgbClr val="B0006D"/>
                </a:solidFill>
              </a:defRPr>
            </a:pPr>
            <a:r>
              <a:t>Next Steps (Tháng 09/2026): [1] Hoàn thiện Financial Keyword Inventory, chốt danh mục Low-Hanging Fruits trước ngày 10/09; [2] Sản xuất 50+ bài viết chuyên sâu củng cố Financial Authority qua MoSpark GenAI; [3] Chuẩn hóa Topic Clusters và Internal Linking dẫn về Master Financial Hub /tai-chinh.</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182880"/>
            <a:ext cx="7772400" cy="228600"/>
          </a:xfrm>
          <a:prstGeom prst="rect">
            <a:avLst/>
          </a:prstGeom>
          <a:noFill/>
        </p:spPr>
        <p:txBody>
          <a:bodyPr wrap="none">
            <a:spAutoFit/>
          </a:bodyPr>
          <a:lstStyle/>
          <a:p>
            <a:pPr>
              <a:defRPr sz="900" b="1">
                <a:solidFill>
                  <a:srgbClr val="B0006D"/>
                </a:solidFill>
              </a:defRPr>
            </a:pPr>
            <a:r>
              <a:t>STRATEGIC DISCUSSION · TRAFFIC OVERVIEW</a:t>
            </a:r>
          </a:p>
        </p:txBody>
      </p:sp>
      <p:sp>
        <p:nvSpPr>
          <p:cNvPr id="3" name="Rounded Rectangle 2"/>
          <p:cNvSpPr/>
          <p:nvPr/>
        </p:nvSpPr>
        <p:spPr>
          <a:xfrm>
            <a:off x="9692640" y="182880"/>
            <a:ext cx="1950415" cy="320040"/>
          </a:xfrm>
          <a:prstGeom prst="roundRect">
            <a:avLst/>
          </a:prstGeom>
          <a:solidFill>
            <a:srgbClr val="D9770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900" b="1">
                <a:solidFill>
                  <a:srgbClr val="FFFFFF"/>
                </a:solidFill>
              </a:defRPr>
            </a:pPr>
            <a:r>
              <a:t>[D] DISCUSSION</a:t>
            </a:r>
          </a:p>
        </p:txBody>
      </p:sp>
      <p:sp>
        <p:nvSpPr>
          <p:cNvPr id="4" name="TextBox 3"/>
          <p:cNvSpPr txBox="1"/>
          <p:nvPr/>
        </p:nvSpPr>
        <p:spPr>
          <a:xfrm>
            <a:off x="548640" y="384048"/>
            <a:ext cx="8961120" cy="411480"/>
          </a:xfrm>
          <a:prstGeom prst="rect">
            <a:avLst/>
          </a:prstGeom>
          <a:noFill/>
        </p:spPr>
        <p:txBody>
          <a:bodyPr wrap="none">
            <a:spAutoFit/>
          </a:bodyPr>
          <a:lstStyle/>
          <a:p>
            <a:pPr>
              <a:defRPr sz="1700" b="1">
                <a:solidFill>
                  <a:srgbClr val="0F172A"/>
                </a:solidFill>
              </a:defRPr>
            </a:pPr>
            <a:r>
              <a:t>DISCUSSION: CHIẾN LƯỢC TĂNG TRƯỞNG SONG HÀNH CINEMA &amp; FINANCIAL</a:t>
            </a:r>
          </a:p>
        </p:txBody>
      </p:sp>
      <p:sp>
        <p:nvSpPr>
          <p:cNvPr id="5" name="Rounded Rectangle 4"/>
          <p:cNvSpPr/>
          <p:nvPr/>
        </p:nvSpPr>
        <p:spPr>
          <a:xfrm>
            <a:off x="548640" y="960120"/>
            <a:ext cx="3611880" cy="5394960"/>
          </a:xfrm>
          <a:prstGeom prst="roundRect">
            <a:avLst/>
          </a:prstGeom>
          <a:solidFill>
            <a:srgbClr val="FFFFFF"/>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182880" rIns="182880" tIns="182880" bIns="182880"/>
          <a:lstStyle/>
          <a:p>
            <a:pPr algn="ctr">
              <a:defRPr sz="1000" b="1">
                <a:solidFill>
                  <a:srgbClr val="B0006D"/>
                </a:solidFill>
              </a:defRPr>
            </a:pPr>
            <a:r>
              <a:t>1. PROBLEM STATEMENT</a:t>
            </a:r>
          </a:p>
          <a:p>
            <a:pPr>
              <a:defRPr sz="800">
                <a:solidFill>
                  <a:srgbClr val="E2E8F0"/>
                </a:solidFill>
              </a:defRPr>
            </a:pPr>
            <a:r>
              <a:t>————————————————————</a:t>
            </a:r>
          </a:p>
          <a:p>
            <a:pPr>
              <a:defRPr sz="850">
                <a:solidFill>
                  <a:srgbClr val="0F172A"/>
                </a:solidFill>
              </a:defRPr>
            </a:pPr>
            <a:r>
              <a:t>• Mục tiêu đạt 4.000.000 PVs/tháng vào Tháng 12/2026 bắt buộc phải kích hoạt đồng thời cả 2 động lực: Cinema Hub (bảo vệ vị thế trụ cột lưu lượng số 1) và Financial Hub (đòn bẩy tăng trưởng tài chính bứt phá).</a:t>
            </a:r>
          </a:p>
          <a:p>
            <a:pPr>
              <a:defRPr sz="850">
                <a:solidFill>
                  <a:srgbClr val="0F172A"/>
                </a:solidFill>
              </a:defRPr>
            </a:pPr>
            <a:r>
              <a:t>• Hai mảng có đặc thù hành vi và mô hình chuyển đổi khác nhau (Cinema = Giải trí, mua vé nhanh; Financial = Tra cứu công cụ, thẩm quyền chuyên sâu YMYL).</a:t>
            </a:r>
          </a:p>
          <a:p>
            <a:pPr>
              <a:defRPr sz="850">
                <a:solidFill>
                  <a:srgbClr val="0F172A"/>
                </a:solidFill>
              </a:defRPr>
            </a:pPr>
            <a:r>
              <a:t>• Cần Ban Giám Đốc và các BU (Movies &amp; FS) thống nhất: (1) Danh mục công cụ và nội dung ưu tiên trong Tháng 9; (2) Cơ chế bàn giao dữ liệu nghiệp vụ để thực thi đồng bộ.</a:t>
            </a:r>
          </a:p>
        </p:txBody>
      </p:sp>
      <p:sp>
        <p:nvSpPr>
          <p:cNvPr id="6" name="Rounded Rectangle 5"/>
          <p:cNvSpPr/>
          <p:nvPr/>
        </p:nvSpPr>
        <p:spPr>
          <a:xfrm>
            <a:off x="4251960" y="960120"/>
            <a:ext cx="3611880" cy="5394960"/>
          </a:xfrm>
          <a:prstGeom prst="roundRect">
            <a:avLst/>
          </a:prstGeom>
          <a:solidFill>
            <a:srgbClr val="F8FAFC"/>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182880" rIns="182880" tIns="182880" bIns="182880"/>
          <a:lstStyle/>
          <a:p>
            <a:pPr algn="ctr">
              <a:defRPr sz="1000" b="1">
                <a:solidFill>
                  <a:srgbClr val="0F172A"/>
                </a:solidFill>
              </a:defRPr>
            </a:pPr>
            <a:r>
              <a:t>2. STATUS / ISSUES &amp; DATA POINTS</a:t>
            </a:r>
          </a:p>
          <a:p>
            <a:pPr>
              <a:defRPr sz="800">
                <a:solidFill>
                  <a:srgbClr val="E2E8F0"/>
                </a:solidFill>
              </a:defRPr>
            </a:pPr>
            <a:r>
              <a:t>————————————————————</a:t>
            </a:r>
          </a:p>
          <a:p>
            <a:pPr>
              <a:defRPr sz="850">
                <a:solidFill>
                  <a:srgbClr val="0F172A"/>
                </a:solidFill>
              </a:defRPr>
            </a:pPr>
            <a:r>
              <a:t>• Data Point: Toàn Web tháng 8 đạt 3.465.363 PVs (+9.39% MoM, đạt 103.2% Target); Cinema Hub đạt 822.4K PVs (chiếm 23.73% Share), Financial Hub đạt 216.4K PVs (+68.76% MoM, chiếm 6.24% Share).</a:t>
            </a:r>
          </a:p>
          <a:p>
            <a:pPr>
              <a:defRPr sz="850">
                <a:solidFill>
                  <a:srgbClr val="0F172A"/>
                </a:solidFill>
              </a:defRPr>
            </a:pPr>
            <a:r>
              <a:t>• Data Point: Direct Traffic tăng +48.86% (656K PVs) và Phạt Nguội tăng +38.05% (213.8K PVs) nhờ các trang công cụ tiện ích tương tác (PLG).</a:t>
            </a:r>
          </a:p>
          <a:p>
            <a:pPr>
              <a:defRPr sz="850">
                <a:solidFill>
                  <a:srgbClr val="0F172A"/>
                </a:solidFill>
              </a:defRPr>
            </a:pPr>
            <a:r>
              <a:t>• Issue: Cinema thiếu các cụm bài viết liên kết sâu với 150+ rạp cho mùa phim cuối năm; Financial chưa đóng gói xong danh mục Low-Hanging Fruits (P0 Quick Wins) do cần chốt công thức nghiệp vụ với FS Team.</a:t>
            </a:r>
          </a:p>
        </p:txBody>
      </p:sp>
      <p:sp>
        <p:nvSpPr>
          <p:cNvPr id="7" name="Rounded Rectangle 6"/>
          <p:cNvSpPr/>
          <p:nvPr/>
        </p:nvSpPr>
        <p:spPr>
          <a:xfrm>
            <a:off x="7955279" y="960120"/>
            <a:ext cx="3611880" cy="5394960"/>
          </a:xfrm>
          <a:prstGeom prst="roundRect">
            <a:avLst/>
          </a:prstGeom>
          <a:solidFill>
            <a:srgbClr val="FFFFFF"/>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182880" rIns="182880" tIns="182880" bIns="182880"/>
          <a:lstStyle/>
          <a:p>
            <a:pPr algn="ctr">
              <a:defRPr sz="1000" b="1">
                <a:solidFill>
                  <a:srgbClr val="16A34A"/>
                </a:solidFill>
              </a:defRPr>
            </a:pPr>
            <a:r>
              <a:t>3. SOLUTIONS &amp; RECOMMENDATIONS</a:t>
            </a:r>
          </a:p>
          <a:p>
            <a:pPr>
              <a:defRPr sz="800">
                <a:solidFill>
                  <a:srgbClr val="E2E8F0"/>
                </a:solidFill>
              </a:defRPr>
            </a:pPr>
            <a:r>
              <a:t>————————————————————</a:t>
            </a:r>
          </a:p>
          <a:p>
            <a:pPr>
              <a:defRPr sz="850">
                <a:solidFill>
                  <a:srgbClr val="0F172A"/>
                </a:solidFill>
              </a:defRPr>
            </a:pPr>
            <a:r>
              <a:t>• Kế hoạch mảng Cinema: Hoàn thiện Topic Clusters đón đầu mùa phim Thu - Đông &amp; Q4, kết nối 150+ Landing Pages cụm rạp và mở luồng Native QR Web Booking để phục hồi mốc 1.3M - 1.5M PVs/tháng.</a:t>
            </a:r>
          </a:p>
          <a:p>
            <a:pPr>
              <a:defRPr sz="850">
                <a:solidFill>
                  <a:srgbClr val="0F172A"/>
                </a:solidFill>
              </a:defRPr>
            </a:pPr>
            <a:r>
              <a:t>• Kế hoạch mảng Financial: Đóng băng danh mục Financial Content Inventory (P0: Tính Lương Gross-Net 2026, Quyết Toán Thuế TNCN, Điểm CIC, Đầu Tư) qua MoSpark GenAI và bộ công cụ Simulator.</a:t>
            </a:r>
          </a:p>
          <a:p>
            <a:pPr>
              <a:defRPr sz="850">
                <a:solidFill>
                  <a:srgbClr val="0F172A"/>
                </a:solidFill>
              </a:defRPr>
            </a:pPr>
            <a:r>
              <a:t>• Cam kết SLA dữ liệu liên BU: BU Movies (kết nối API giữ vé realtime) và FS Team (duyệt công thức biểu phí/lãi suất) bàn giao dữ liệu nghiệp vụ cho Web Platform trước ngày 10/09.</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182880"/>
            <a:ext cx="7772400" cy="228600"/>
          </a:xfrm>
          <a:prstGeom prst="rect">
            <a:avLst/>
          </a:prstGeom>
          <a:noFill/>
        </p:spPr>
        <p:txBody>
          <a:bodyPr wrap="none">
            <a:spAutoFit/>
          </a:bodyPr>
          <a:lstStyle/>
          <a:p>
            <a:pPr>
              <a:defRPr sz="900" b="1">
                <a:solidFill>
                  <a:srgbClr val="B0006D"/>
                </a:solidFill>
              </a:defRPr>
            </a:pPr>
            <a:r>
              <a:t>GROWTH PLATFORM DIVISION · WEB PLATFORM</a:t>
            </a:r>
          </a:p>
        </p:txBody>
      </p:sp>
      <p:sp>
        <p:nvSpPr>
          <p:cNvPr id="3" name="Rounded Rectangle 2"/>
          <p:cNvSpPr/>
          <p:nvPr/>
        </p:nvSpPr>
        <p:spPr>
          <a:xfrm>
            <a:off x="9692640" y="182880"/>
            <a:ext cx="1950415" cy="320040"/>
          </a:xfrm>
          <a:prstGeom prst="roundRect">
            <a:avLst/>
          </a:prstGeom>
          <a:solidFill>
            <a:srgbClr val="0284C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900" b="1">
                <a:solidFill>
                  <a:srgbClr val="FFFFFF"/>
                </a:solidFill>
              </a:defRPr>
            </a:pPr>
            <a:r>
              <a:t>[R] REPORTING</a:t>
            </a:r>
          </a:p>
        </p:txBody>
      </p:sp>
      <p:sp>
        <p:nvSpPr>
          <p:cNvPr id="4" name="TextBox 3"/>
          <p:cNvSpPr txBox="1"/>
          <p:nvPr/>
        </p:nvSpPr>
        <p:spPr>
          <a:xfrm>
            <a:off x="548640" y="384048"/>
            <a:ext cx="8961120" cy="411480"/>
          </a:xfrm>
          <a:prstGeom prst="rect">
            <a:avLst/>
          </a:prstGeom>
          <a:noFill/>
        </p:spPr>
        <p:txBody>
          <a:bodyPr wrap="none">
            <a:spAutoFit/>
          </a:bodyPr>
          <a:lstStyle/>
          <a:p>
            <a:pPr>
              <a:defRPr sz="1700" b="1">
                <a:solidFill>
                  <a:srgbClr val="0F172A"/>
                </a:solidFill>
              </a:defRPr>
            </a:pPr>
            <a:r>
              <a:t>OVERALL WEB PERFORMANCE (5 KÊNH PHÂN PHỐI)</a:t>
            </a:r>
          </a:p>
        </p:txBody>
      </p:sp>
      <p:graphicFrame>
        <p:nvGraphicFramePr>
          <p:cNvPr id="5" name="Table 4"/>
          <p:cNvGraphicFramePr>
            <a:graphicFrameLocks noGrp="1"/>
          </p:cNvGraphicFramePr>
          <p:nvPr/>
        </p:nvGraphicFramePr>
        <p:xfrm>
          <a:off x="548640" y="868680"/>
          <a:ext cx="6217920" cy="2926080"/>
        </p:xfrm>
        <a:graphic>
          <a:graphicData uri="http://schemas.openxmlformats.org/drawingml/2006/table">
            <a:tbl>
              <a:tblPr firstRow="1" bandRow="1">
                <a:tableStyleId>{5C22544A-7EE6-4342-B048-85BDC9FD1C3A}</a:tableStyleId>
              </a:tblPr>
              <a:tblGrid>
                <a:gridCol w="1645920"/>
                <a:gridCol w="914400"/>
                <a:gridCol w="914400"/>
                <a:gridCol w="914400"/>
                <a:gridCol w="914400"/>
                <a:gridCol w="914400"/>
              </a:tblGrid>
              <a:tr h="418011">
                <a:tc>
                  <a:txBody>
                    <a:bodyPr/>
                    <a:lstStyle/>
                    <a:p>
                      <a:pPr algn="ctr">
                        <a:defRPr sz="850" b="1">
                          <a:solidFill>
                            <a:srgbClr val="FFFFFF"/>
                          </a:solidFill>
                        </a:defRPr>
                      </a:pPr>
                      <a:r>
                        <a:t>Kênh Phân Phối</a:t>
                      </a:r>
                    </a:p>
                  </a:txBody>
                  <a:tcPr>
                    <a:solidFill>
                      <a:srgbClr val="B0006D"/>
                    </a:solidFill>
                  </a:tcPr>
                </a:tc>
                <a:tc>
                  <a:txBody>
                    <a:bodyPr/>
                    <a:lstStyle/>
                    <a:p>
                      <a:pPr algn="ctr">
                        <a:defRPr sz="850" b="1">
                          <a:solidFill>
                            <a:srgbClr val="FFFFFF"/>
                          </a:solidFill>
                        </a:defRPr>
                      </a:pPr>
                      <a:r>
                        <a:t>T5 (Full)</a:t>
                      </a:r>
                    </a:p>
                  </a:txBody>
                  <a:tcPr>
                    <a:solidFill>
                      <a:srgbClr val="B0006D"/>
                    </a:solidFill>
                  </a:tcPr>
                </a:tc>
                <a:tc>
                  <a:txBody>
                    <a:bodyPr/>
                    <a:lstStyle/>
                    <a:p>
                      <a:pPr algn="ctr">
                        <a:defRPr sz="850" b="1">
                          <a:solidFill>
                            <a:srgbClr val="FFFFFF"/>
                          </a:solidFill>
                        </a:defRPr>
                      </a:pPr>
                      <a:r>
                        <a:t>T6 (Full)</a:t>
                      </a:r>
                    </a:p>
                  </a:txBody>
                  <a:tcPr>
                    <a:solidFill>
                      <a:srgbClr val="B0006D"/>
                    </a:solidFill>
                  </a:tcPr>
                </a:tc>
                <a:tc>
                  <a:txBody>
                    <a:bodyPr/>
                    <a:lstStyle/>
                    <a:p>
                      <a:pPr algn="ctr">
                        <a:defRPr sz="850" b="1">
                          <a:solidFill>
                            <a:srgbClr val="FFFFFF"/>
                          </a:solidFill>
                        </a:defRPr>
                      </a:pPr>
                      <a:r>
                        <a:t>T7 (Full)</a:t>
                      </a:r>
                    </a:p>
                  </a:txBody>
                  <a:tcPr>
                    <a:solidFill>
                      <a:srgbClr val="B0006D"/>
                    </a:solidFill>
                  </a:tcPr>
                </a:tc>
                <a:tc>
                  <a:txBody>
                    <a:bodyPr/>
                    <a:lstStyle/>
                    <a:p>
                      <a:pPr algn="ctr">
                        <a:defRPr sz="850" b="1">
                          <a:solidFill>
                            <a:srgbClr val="FFFFFF"/>
                          </a:solidFill>
                        </a:defRPr>
                      </a:pPr>
                      <a:r>
                        <a:t>T8 (Full)</a:t>
                      </a:r>
                    </a:p>
                  </a:txBody>
                  <a:tcPr>
                    <a:solidFill>
                      <a:srgbClr val="B0006D"/>
                    </a:solidFill>
                  </a:tcPr>
                </a:tc>
                <a:tc>
                  <a:txBody>
                    <a:bodyPr/>
                    <a:lstStyle/>
                    <a:p>
                      <a:pPr algn="ctr">
                        <a:defRPr sz="850" b="1">
                          <a:solidFill>
                            <a:srgbClr val="FFFFFF"/>
                          </a:solidFill>
                        </a:defRPr>
                      </a:pPr>
                      <a:r>
                        <a:t>MoM %</a:t>
                      </a:r>
                    </a:p>
                  </a:txBody>
                  <a:tcPr>
                    <a:solidFill>
                      <a:srgbClr val="B0006D"/>
                    </a:solidFill>
                  </a:tcPr>
                </a:tc>
              </a:tr>
              <a:tr h="418011">
                <a:tc>
                  <a:txBody>
                    <a:bodyPr/>
                    <a:lstStyle/>
                    <a:p>
                      <a:pPr algn="l">
                        <a:defRPr sz="800"/>
                      </a:pPr>
                      <a:r>
                        <a:t>Organic Search</a:t>
                      </a:r>
                    </a:p>
                  </a:txBody>
                  <a:tcPr>
                    <a:solidFill>
                      <a:srgbClr val="FFFFFF"/>
                    </a:solidFill>
                  </a:tcPr>
                </a:tc>
                <a:tc>
                  <a:txBody>
                    <a:bodyPr/>
                    <a:lstStyle/>
                    <a:p>
                      <a:pPr algn="ctr">
                        <a:defRPr sz="800"/>
                      </a:pPr>
                      <a:r>
                        <a:t>1.67M</a:t>
                      </a:r>
                    </a:p>
                  </a:txBody>
                  <a:tcPr>
                    <a:solidFill>
                      <a:srgbClr val="FFFFFF"/>
                    </a:solidFill>
                  </a:tcPr>
                </a:tc>
                <a:tc>
                  <a:txBody>
                    <a:bodyPr/>
                    <a:lstStyle/>
                    <a:p>
                      <a:pPr algn="ctr">
                        <a:defRPr sz="800"/>
                      </a:pPr>
                      <a:r>
                        <a:t>1.65M</a:t>
                      </a:r>
                    </a:p>
                  </a:txBody>
                  <a:tcPr>
                    <a:solidFill>
                      <a:srgbClr val="FFFFFF"/>
                    </a:solidFill>
                  </a:tcPr>
                </a:tc>
                <a:tc>
                  <a:txBody>
                    <a:bodyPr/>
                    <a:lstStyle/>
                    <a:p>
                      <a:pPr algn="ctr">
                        <a:defRPr sz="800"/>
                      </a:pPr>
                      <a:r>
                        <a:t>1.88M</a:t>
                      </a:r>
                    </a:p>
                  </a:txBody>
                  <a:tcPr>
                    <a:solidFill>
                      <a:srgbClr val="FFFFFF"/>
                    </a:solidFill>
                  </a:tcPr>
                </a:tc>
                <a:tc>
                  <a:txBody>
                    <a:bodyPr/>
                    <a:lstStyle/>
                    <a:p>
                      <a:pPr algn="ctr">
                        <a:defRPr sz="800"/>
                      </a:pPr>
                      <a:r>
                        <a:t>1.73M</a:t>
                      </a:r>
                    </a:p>
                  </a:txBody>
                  <a:tcPr>
                    <a:solidFill>
                      <a:srgbClr val="FFFFFF"/>
                    </a:solidFill>
                  </a:tcPr>
                </a:tc>
                <a:tc>
                  <a:txBody>
                    <a:bodyPr/>
                    <a:lstStyle/>
                    <a:p>
                      <a:pPr algn="ctr">
                        <a:defRPr sz="800">
                          <a:solidFill>
                            <a:srgbClr val="DC2626"/>
                          </a:solidFill>
                        </a:defRPr>
                      </a:pPr>
                      <a:r>
                        <a:t>-7.76%</a:t>
                      </a:r>
                    </a:p>
                  </a:txBody>
                  <a:tcPr>
                    <a:solidFill>
                      <a:srgbClr val="FFFFFF"/>
                    </a:solidFill>
                  </a:tcPr>
                </a:tc>
              </a:tr>
              <a:tr h="418011">
                <a:tc>
                  <a:txBody>
                    <a:bodyPr/>
                    <a:lstStyle/>
                    <a:p>
                      <a:pPr algn="l">
                        <a:defRPr sz="800"/>
                      </a:pPr>
                      <a:r>
                        <a:t>Direct Traffic</a:t>
                      </a:r>
                    </a:p>
                  </a:txBody>
                  <a:tcPr>
                    <a:solidFill>
                      <a:srgbClr val="FDF2F8"/>
                    </a:solidFill>
                  </a:tcPr>
                </a:tc>
                <a:tc>
                  <a:txBody>
                    <a:bodyPr/>
                    <a:lstStyle/>
                    <a:p>
                      <a:pPr algn="ctr">
                        <a:defRPr sz="800"/>
                      </a:pPr>
                      <a:r>
                        <a:t>637K</a:t>
                      </a:r>
                    </a:p>
                  </a:txBody>
                  <a:tcPr>
                    <a:solidFill>
                      <a:srgbClr val="FDF2F8"/>
                    </a:solidFill>
                  </a:tcPr>
                </a:tc>
                <a:tc>
                  <a:txBody>
                    <a:bodyPr/>
                    <a:lstStyle/>
                    <a:p>
                      <a:pPr algn="ctr">
                        <a:defRPr sz="800"/>
                      </a:pPr>
                      <a:r>
                        <a:t>489K</a:t>
                      </a:r>
                    </a:p>
                  </a:txBody>
                  <a:tcPr>
                    <a:solidFill>
                      <a:srgbClr val="FDF2F8"/>
                    </a:solidFill>
                  </a:tcPr>
                </a:tc>
                <a:tc>
                  <a:txBody>
                    <a:bodyPr/>
                    <a:lstStyle/>
                    <a:p>
                      <a:pPr algn="ctr">
                        <a:defRPr sz="800"/>
                      </a:pPr>
                      <a:r>
                        <a:t>441K</a:t>
                      </a:r>
                    </a:p>
                  </a:txBody>
                  <a:tcPr>
                    <a:solidFill>
                      <a:srgbClr val="FDF2F8"/>
                    </a:solidFill>
                  </a:tcPr>
                </a:tc>
                <a:tc>
                  <a:txBody>
                    <a:bodyPr/>
                    <a:lstStyle/>
                    <a:p>
                      <a:pPr algn="ctr">
                        <a:defRPr sz="800"/>
                      </a:pPr>
                      <a:r>
                        <a:t>656K</a:t>
                      </a:r>
                    </a:p>
                  </a:txBody>
                  <a:tcPr>
                    <a:solidFill>
                      <a:srgbClr val="FDF2F8"/>
                    </a:solidFill>
                  </a:tcPr>
                </a:tc>
                <a:tc>
                  <a:txBody>
                    <a:bodyPr/>
                    <a:lstStyle/>
                    <a:p>
                      <a:pPr algn="ctr">
                        <a:defRPr sz="800" b="1">
                          <a:solidFill>
                            <a:srgbClr val="16A34A"/>
                          </a:solidFill>
                        </a:defRPr>
                      </a:pPr>
                      <a:r>
                        <a:t>+48.86%</a:t>
                      </a:r>
                    </a:p>
                  </a:txBody>
                  <a:tcPr>
                    <a:solidFill>
                      <a:srgbClr val="FDF2F8"/>
                    </a:solidFill>
                  </a:tcPr>
                </a:tc>
              </a:tr>
              <a:tr h="418011">
                <a:tc>
                  <a:txBody>
                    <a:bodyPr/>
                    <a:lstStyle/>
                    <a:p>
                      <a:pPr algn="l">
                        <a:defRPr sz="800"/>
                      </a:pPr>
                      <a:r>
                        <a:t>Paid Traffic</a:t>
                      </a:r>
                    </a:p>
                  </a:txBody>
                  <a:tcPr>
                    <a:solidFill>
                      <a:srgbClr val="FFFFFF"/>
                    </a:solidFill>
                  </a:tcPr>
                </a:tc>
                <a:tc>
                  <a:txBody>
                    <a:bodyPr/>
                    <a:lstStyle/>
                    <a:p>
                      <a:pPr algn="ctr">
                        <a:defRPr sz="800"/>
                      </a:pPr>
                      <a:r>
                        <a:t>721K</a:t>
                      </a:r>
                    </a:p>
                  </a:txBody>
                  <a:tcPr>
                    <a:solidFill>
                      <a:srgbClr val="FFFFFF"/>
                    </a:solidFill>
                  </a:tcPr>
                </a:tc>
                <a:tc>
                  <a:txBody>
                    <a:bodyPr/>
                    <a:lstStyle/>
                    <a:p>
                      <a:pPr algn="ctr">
                        <a:defRPr sz="800"/>
                      </a:pPr>
                      <a:r>
                        <a:t>982K</a:t>
                      </a:r>
                    </a:p>
                  </a:txBody>
                  <a:tcPr>
                    <a:solidFill>
                      <a:srgbClr val="FFFFFF"/>
                    </a:solidFill>
                  </a:tcPr>
                </a:tc>
                <a:tc>
                  <a:txBody>
                    <a:bodyPr/>
                    <a:lstStyle/>
                    <a:p>
                      <a:pPr algn="ctr">
                        <a:defRPr sz="800"/>
                      </a:pPr>
                      <a:r>
                        <a:t>498K</a:t>
                      </a:r>
                    </a:p>
                  </a:txBody>
                  <a:tcPr>
                    <a:solidFill>
                      <a:srgbClr val="FFFFFF"/>
                    </a:solidFill>
                  </a:tcPr>
                </a:tc>
                <a:tc>
                  <a:txBody>
                    <a:bodyPr/>
                    <a:lstStyle/>
                    <a:p>
                      <a:pPr algn="ctr">
                        <a:defRPr sz="800"/>
                      </a:pPr>
                      <a:r>
                        <a:t>645K</a:t>
                      </a:r>
                    </a:p>
                  </a:txBody>
                  <a:tcPr>
                    <a:solidFill>
                      <a:srgbClr val="FFFFFF"/>
                    </a:solidFill>
                  </a:tcPr>
                </a:tc>
                <a:tc>
                  <a:txBody>
                    <a:bodyPr/>
                    <a:lstStyle/>
                    <a:p>
                      <a:pPr algn="ctr">
                        <a:defRPr sz="800" b="1">
                          <a:solidFill>
                            <a:srgbClr val="16A34A"/>
                          </a:solidFill>
                        </a:defRPr>
                      </a:pPr>
                      <a:r>
                        <a:t>+29.44%</a:t>
                      </a:r>
                    </a:p>
                  </a:txBody>
                  <a:tcPr>
                    <a:solidFill>
                      <a:srgbClr val="FFFFFF"/>
                    </a:solidFill>
                  </a:tcPr>
                </a:tc>
              </a:tr>
              <a:tr h="418011">
                <a:tc>
                  <a:txBody>
                    <a:bodyPr/>
                    <a:lstStyle/>
                    <a:p>
                      <a:pPr algn="l">
                        <a:defRPr sz="800"/>
                      </a:pPr>
                      <a:r>
                        <a:t>Referral Traffic</a:t>
                      </a:r>
                    </a:p>
                  </a:txBody>
                  <a:tcPr>
                    <a:solidFill>
                      <a:srgbClr val="FDF2F8"/>
                    </a:solidFill>
                  </a:tcPr>
                </a:tc>
                <a:tc>
                  <a:txBody>
                    <a:bodyPr/>
                    <a:lstStyle/>
                    <a:p>
                      <a:pPr algn="ctr">
                        <a:defRPr sz="800"/>
                      </a:pPr>
                      <a:r>
                        <a:t>201K</a:t>
                      </a:r>
                    </a:p>
                  </a:txBody>
                  <a:tcPr>
                    <a:solidFill>
                      <a:srgbClr val="FDF2F8"/>
                    </a:solidFill>
                  </a:tcPr>
                </a:tc>
                <a:tc>
                  <a:txBody>
                    <a:bodyPr/>
                    <a:lstStyle/>
                    <a:p>
                      <a:pPr algn="ctr">
                        <a:defRPr sz="800"/>
                      </a:pPr>
                      <a:r>
                        <a:t>255K</a:t>
                      </a:r>
                    </a:p>
                  </a:txBody>
                  <a:tcPr>
                    <a:solidFill>
                      <a:srgbClr val="FDF2F8"/>
                    </a:solidFill>
                  </a:tcPr>
                </a:tc>
                <a:tc>
                  <a:txBody>
                    <a:bodyPr/>
                    <a:lstStyle/>
                    <a:p>
                      <a:pPr algn="ctr">
                        <a:defRPr sz="800"/>
                      </a:pPr>
                      <a:r>
                        <a:t>330K</a:t>
                      </a:r>
                    </a:p>
                  </a:txBody>
                  <a:tcPr>
                    <a:solidFill>
                      <a:srgbClr val="FDF2F8"/>
                    </a:solidFill>
                  </a:tcPr>
                </a:tc>
                <a:tc>
                  <a:txBody>
                    <a:bodyPr/>
                    <a:lstStyle/>
                    <a:p>
                      <a:pPr algn="ctr">
                        <a:defRPr sz="800"/>
                      </a:pPr>
                      <a:r>
                        <a:t>410K</a:t>
                      </a:r>
                    </a:p>
                  </a:txBody>
                  <a:tcPr>
                    <a:solidFill>
                      <a:srgbClr val="FDF2F8"/>
                    </a:solidFill>
                  </a:tcPr>
                </a:tc>
                <a:tc>
                  <a:txBody>
                    <a:bodyPr/>
                    <a:lstStyle/>
                    <a:p>
                      <a:pPr algn="ctr">
                        <a:defRPr sz="800" b="1">
                          <a:solidFill>
                            <a:srgbClr val="16A34A"/>
                          </a:solidFill>
                        </a:defRPr>
                      </a:pPr>
                      <a:r>
                        <a:t>+24.46%</a:t>
                      </a:r>
                    </a:p>
                  </a:txBody>
                  <a:tcPr>
                    <a:solidFill>
                      <a:srgbClr val="FDF2F8"/>
                    </a:solidFill>
                  </a:tcPr>
                </a:tc>
              </a:tr>
              <a:tr h="418011">
                <a:tc>
                  <a:txBody>
                    <a:bodyPr/>
                    <a:lstStyle/>
                    <a:p>
                      <a:pPr algn="l">
                        <a:defRPr sz="800"/>
                      </a:pPr>
                      <a:r>
                        <a:t>Others &amp; Cross</a:t>
                      </a:r>
                    </a:p>
                  </a:txBody>
                  <a:tcPr>
                    <a:solidFill>
                      <a:srgbClr val="FFFFFF"/>
                    </a:solidFill>
                  </a:tcPr>
                </a:tc>
                <a:tc>
                  <a:txBody>
                    <a:bodyPr/>
                    <a:lstStyle/>
                    <a:p>
                      <a:pPr algn="ctr">
                        <a:defRPr sz="800"/>
                      </a:pPr>
                      <a:r>
                        <a:t>45K</a:t>
                      </a:r>
                    </a:p>
                  </a:txBody>
                  <a:tcPr>
                    <a:solidFill>
                      <a:srgbClr val="FFFFFF"/>
                    </a:solidFill>
                  </a:tcPr>
                </a:tc>
                <a:tc>
                  <a:txBody>
                    <a:bodyPr/>
                    <a:lstStyle/>
                    <a:p>
                      <a:pPr algn="ctr">
                        <a:defRPr sz="800"/>
                      </a:pPr>
                      <a:r>
                        <a:t>33K</a:t>
                      </a:r>
                    </a:p>
                  </a:txBody>
                  <a:tcPr>
                    <a:solidFill>
                      <a:srgbClr val="FFFFFF"/>
                    </a:solidFill>
                  </a:tcPr>
                </a:tc>
                <a:tc>
                  <a:txBody>
                    <a:bodyPr/>
                    <a:lstStyle/>
                    <a:p>
                      <a:pPr algn="ctr">
                        <a:defRPr sz="800"/>
                      </a:pPr>
                      <a:r>
                        <a:t>24K</a:t>
                      </a:r>
                    </a:p>
                  </a:txBody>
                  <a:tcPr>
                    <a:solidFill>
                      <a:srgbClr val="FFFFFF"/>
                    </a:solidFill>
                  </a:tcPr>
                </a:tc>
                <a:tc>
                  <a:txBody>
                    <a:bodyPr/>
                    <a:lstStyle/>
                    <a:p>
                      <a:pPr algn="ctr">
                        <a:defRPr sz="800"/>
                      </a:pPr>
                      <a:r>
                        <a:t>25K</a:t>
                      </a:r>
                    </a:p>
                  </a:txBody>
                  <a:tcPr>
                    <a:solidFill>
                      <a:srgbClr val="FFFFFF"/>
                    </a:solidFill>
                  </a:tcPr>
                </a:tc>
                <a:tc>
                  <a:txBody>
                    <a:bodyPr/>
                    <a:lstStyle/>
                    <a:p>
                      <a:pPr algn="ctr">
                        <a:defRPr sz="800" b="1">
                          <a:solidFill>
                            <a:srgbClr val="16A34A"/>
                          </a:solidFill>
                        </a:defRPr>
                      </a:pPr>
                      <a:r>
                        <a:t>+1.64%</a:t>
                      </a:r>
                    </a:p>
                  </a:txBody>
                  <a:tcPr>
                    <a:solidFill>
                      <a:srgbClr val="FFFFFF"/>
                    </a:solidFill>
                  </a:tcPr>
                </a:tc>
              </a:tr>
              <a:tr h="418014">
                <a:tc>
                  <a:txBody>
                    <a:bodyPr/>
                    <a:lstStyle/>
                    <a:p>
                      <a:pPr algn="l">
                        <a:defRPr sz="800" b="1"/>
                      </a:pPr>
                      <a:r>
                        <a:t>TỔNG LƯU LƯỢNG</a:t>
                      </a:r>
                    </a:p>
                  </a:txBody>
                  <a:tcPr>
                    <a:solidFill>
                      <a:srgbClr val="F1F5F9"/>
                    </a:solidFill>
                  </a:tcPr>
                </a:tc>
                <a:tc>
                  <a:txBody>
                    <a:bodyPr/>
                    <a:lstStyle/>
                    <a:p>
                      <a:pPr algn="ctr">
                        <a:defRPr sz="800" b="1">
                          <a:solidFill>
                            <a:srgbClr val="B0006D"/>
                          </a:solidFill>
                        </a:defRPr>
                      </a:pPr>
                      <a:r>
                        <a:t>3.27M</a:t>
                      </a:r>
                    </a:p>
                  </a:txBody>
                  <a:tcPr>
                    <a:solidFill>
                      <a:srgbClr val="F1F5F9"/>
                    </a:solidFill>
                  </a:tcPr>
                </a:tc>
                <a:tc>
                  <a:txBody>
                    <a:bodyPr/>
                    <a:lstStyle/>
                    <a:p>
                      <a:pPr algn="ctr">
                        <a:defRPr sz="800" b="1">
                          <a:solidFill>
                            <a:srgbClr val="B0006D"/>
                          </a:solidFill>
                        </a:defRPr>
                      </a:pPr>
                      <a:r>
                        <a:t>3.41M</a:t>
                      </a:r>
                    </a:p>
                  </a:txBody>
                  <a:tcPr>
                    <a:solidFill>
                      <a:srgbClr val="F1F5F9"/>
                    </a:solidFill>
                  </a:tcPr>
                </a:tc>
                <a:tc>
                  <a:txBody>
                    <a:bodyPr/>
                    <a:lstStyle/>
                    <a:p>
                      <a:pPr algn="ctr">
                        <a:defRPr sz="800" b="1">
                          <a:solidFill>
                            <a:srgbClr val="B0006D"/>
                          </a:solidFill>
                        </a:defRPr>
                      </a:pPr>
                      <a:r>
                        <a:t>3.17M</a:t>
                      </a:r>
                    </a:p>
                  </a:txBody>
                  <a:tcPr>
                    <a:solidFill>
                      <a:srgbClr val="F1F5F9"/>
                    </a:solidFill>
                  </a:tcPr>
                </a:tc>
                <a:tc>
                  <a:txBody>
                    <a:bodyPr/>
                    <a:lstStyle/>
                    <a:p>
                      <a:pPr algn="ctr">
                        <a:defRPr sz="800" b="1">
                          <a:solidFill>
                            <a:srgbClr val="B0006D"/>
                          </a:solidFill>
                        </a:defRPr>
                      </a:pPr>
                      <a:r>
                        <a:t>3.47M</a:t>
                      </a:r>
                    </a:p>
                  </a:txBody>
                  <a:tcPr>
                    <a:solidFill>
                      <a:srgbClr val="F1F5F9"/>
                    </a:solidFill>
                  </a:tcPr>
                </a:tc>
                <a:tc>
                  <a:txBody>
                    <a:bodyPr/>
                    <a:lstStyle/>
                    <a:p>
                      <a:pPr algn="ctr">
                        <a:defRPr sz="800" b="1">
                          <a:solidFill>
                            <a:srgbClr val="16A34A"/>
                          </a:solidFill>
                        </a:defRPr>
                      </a:pPr>
                      <a:r>
                        <a:t>+9.39%</a:t>
                      </a:r>
                    </a:p>
                  </a:txBody>
                  <a:tcPr>
                    <a:solidFill>
                      <a:srgbClr val="F1F5F9"/>
                    </a:solidFill>
                  </a:tcPr>
                </a:tc>
              </a:tr>
            </a:tbl>
          </a:graphicData>
        </a:graphic>
      </p:graphicFrame>
      <p:sp>
        <p:nvSpPr>
          <p:cNvPr id="6" name="Rounded Rectangle 5"/>
          <p:cNvSpPr/>
          <p:nvPr/>
        </p:nvSpPr>
        <p:spPr>
          <a:xfrm>
            <a:off x="6949440" y="868680"/>
            <a:ext cx="4693615" cy="2926080"/>
          </a:xfrm>
          <a:prstGeom prst="roundRect">
            <a:avLst/>
          </a:prstGeom>
          <a:solidFill>
            <a:srgbClr val="F8FAFC"/>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7" name="Chart 6"/>
          <p:cNvGraphicFramePr>
            <a:graphicFrameLocks noGrp="1"/>
          </p:cNvGraphicFramePr>
          <p:nvPr/>
        </p:nvGraphicFramePr>
        <p:xfrm>
          <a:off x="7040879" y="960120"/>
          <a:ext cx="4510735" cy="2743200"/>
        </p:xfrm>
        <a:graphic>
          <a:graphicData uri="http://schemas.openxmlformats.org/drawingml/2006/chart">
            <c:chart xmlns:c="http://schemas.openxmlformats.org/drawingml/2006/chart" r:id="rId2"/>
          </a:graphicData>
        </a:graphic>
      </p:graphicFrame>
      <p:sp>
        <p:nvSpPr>
          <p:cNvPr id="8" name="Rounded Rectangle 7"/>
          <p:cNvSpPr/>
          <p:nvPr/>
        </p:nvSpPr>
        <p:spPr>
          <a:xfrm>
            <a:off x="548640" y="3977639"/>
            <a:ext cx="11094415" cy="2606040"/>
          </a:xfrm>
          <a:prstGeom prst="roundRect">
            <a:avLst/>
          </a:prstGeom>
          <a:solidFill>
            <a:srgbClr val="F8FAFC"/>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182880" rIns="182880" tIns="137160" bIns="137160"/>
          <a:lstStyle/>
          <a:p>
            <a:pPr algn="ctr">
              <a:defRPr sz="850">
                <a:solidFill>
                  <a:srgbClr val="0F172A"/>
                </a:solidFill>
              </a:defRPr>
            </a:pPr>
            <a:r>
              <a:t>Executive Summary: Context: Xu hướng Google AI Overviews tác động đến lưu lượng thông tin, đòi hỏi Kênh Web chuyển dịch sang Product-Led Growth (PLG) và Content Product để bám sát mục tiêu Tháng 12/2026 đạt 4.000.000 PVs/tháng. Kết quả: Toàn sàn đạt 3.47M PVs (đạt 103.2% Target); Direct (+48.86%, 656.3K), Paid (+29.44%, 644.5K) và Referral (+24.46%, 410.3K) tăng bùng nổ; Organic Search đạt 1.73M PVs (chiếm 49.91% Share), tiếp tục là trụ cột thu hút tự nhiên số 1.</a:t>
            </a:r>
          </a:p>
          <a:p>
            <a:pPr>
              <a:defRPr sz="800">
                <a:solidFill>
                  <a:srgbClr val="334155"/>
                </a:solidFill>
              </a:defRPr>
            </a:pPr>
            <a:r>
              <a:t>Problem Statement: Organic Search giảm nhẹ -7.76% MoM do ảnh hưởng từ thuật toán AI Search đối với bài viết thuần Text; Cinema và Financial chưa khai thác hết tiềm năng tăng trưởng đa kênh do thiếu sự kết hợp đồng bộ giữa công cụ tương tác (PLG) và hệ sinh thái Content Product.</a:t>
            </a:r>
          </a:p>
          <a:p>
            <a:pPr>
              <a:defRPr sz="800">
                <a:solidFill>
                  <a:srgbClr val="334155"/>
                </a:solidFill>
              </a:defRPr>
            </a:pPr>
            <a:r>
              <a:t>Hypothesis/Solutions: Thúc đẩy Traffic qua Product-Led Growth (Simulator Tools cho Financial, tính năng tiện ích cho Cinema) kết hợp mở rộng Topic Clusters chuẩn SEO/GEO để thâu tóm từ khóa tìm kiếm tự nhiên.</a:t>
            </a:r>
          </a:p>
          <a:p>
            <a:pPr>
              <a:defRPr sz="850" b="1">
                <a:solidFill>
                  <a:srgbClr val="B0006D"/>
                </a:solidFill>
              </a:defRPr>
            </a:pPr>
            <a:r>
              <a:t>Next Steps (Tháng 09/2026): [1] Thúc đẩy PageViews Cinema: Đón đầu mùa phim Thu - Đông &amp; Q4 bằng Topic Clusters bài viết mới, tối ưu Internal Linking với 150+ cụm rạp; [2] Thúc đẩy PageViews Financial qua PLG &amp; Tools: Hoàn thiện Phân Bổ Lương 50/30/20, Thuế TNCN 2026, Điểm CIC; [3] Củng cố Organic Traffic toàn sàn qua 50+ bài cẩm nang tài chính chuyên sâu.</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182880"/>
            <a:ext cx="7772400" cy="228600"/>
          </a:xfrm>
          <a:prstGeom prst="rect">
            <a:avLst/>
          </a:prstGeom>
          <a:noFill/>
        </p:spPr>
        <p:txBody>
          <a:bodyPr wrap="none">
            <a:spAutoFit/>
          </a:bodyPr>
          <a:lstStyle/>
          <a:p>
            <a:pPr>
              <a:defRPr sz="900" b="1">
                <a:solidFill>
                  <a:srgbClr val="B0006D"/>
                </a:solidFill>
              </a:defRPr>
            </a:pPr>
            <a:r>
              <a:t>STRATEGIC DISCUSSION · TRAFFIC SOURCE</a:t>
            </a:r>
          </a:p>
        </p:txBody>
      </p:sp>
      <p:sp>
        <p:nvSpPr>
          <p:cNvPr id="3" name="Rounded Rectangle 2"/>
          <p:cNvSpPr/>
          <p:nvPr/>
        </p:nvSpPr>
        <p:spPr>
          <a:xfrm>
            <a:off x="9692640" y="182880"/>
            <a:ext cx="1950415" cy="320040"/>
          </a:xfrm>
          <a:prstGeom prst="roundRect">
            <a:avLst/>
          </a:prstGeom>
          <a:solidFill>
            <a:srgbClr val="D9770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900" b="1">
                <a:solidFill>
                  <a:srgbClr val="FFFFFF"/>
                </a:solidFill>
              </a:defRPr>
            </a:pPr>
            <a:r>
              <a:t>[D] DISCUSSION</a:t>
            </a:r>
          </a:p>
        </p:txBody>
      </p:sp>
      <p:sp>
        <p:nvSpPr>
          <p:cNvPr id="4" name="TextBox 3"/>
          <p:cNvSpPr txBox="1"/>
          <p:nvPr/>
        </p:nvSpPr>
        <p:spPr>
          <a:xfrm>
            <a:off x="548640" y="384048"/>
            <a:ext cx="8961120" cy="411480"/>
          </a:xfrm>
          <a:prstGeom prst="rect">
            <a:avLst/>
          </a:prstGeom>
          <a:noFill/>
        </p:spPr>
        <p:txBody>
          <a:bodyPr wrap="none">
            <a:spAutoFit/>
          </a:bodyPr>
          <a:lstStyle/>
          <a:p>
            <a:pPr>
              <a:defRPr sz="1700" b="1">
                <a:solidFill>
                  <a:srgbClr val="0F172A"/>
                </a:solidFill>
              </a:defRPr>
            </a:pPr>
            <a:r>
              <a:t>DISCUSSION: TỐI ƯU HÓA 5 KÊNH PHÂN PHỐI &amp; PHÒNG THỦ AI SEARCH</a:t>
            </a:r>
          </a:p>
        </p:txBody>
      </p:sp>
      <p:sp>
        <p:nvSpPr>
          <p:cNvPr id="5" name="Rounded Rectangle 4"/>
          <p:cNvSpPr/>
          <p:nvPr/>
        </p:nvSpPr>
        <p:spPr>
          <a:xfrm>
            <a:off x="548640" y="960120"/>
            <a:ext cx="3611880" cy="5394960"/>
          </a:xfrm>
          <a:prstGeom prst="roundRect">
            <a:avLst/>
          </a:prstGeom>
          <a:solidFill>
            <a:srgbClr val="FFFFFF"/>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182880" rIns="182880" tIns="182880" bIns="182880"/>
          <a:lstStyle/>
          <a:p>
            <a:pPr algn="ctr">
              <a:defRPr sz="1000" b="1">
                <a:solidFill>
                  <a:srgbClr val="B0006D"/>
                </a:solidFill>
              </a:defRPr>
            </a:pPr>
            <a:r>
              <a:t>1. PROBLEM STATEMENT</a:t>
            </a:r>
          </a:p>
          <a:p>
            <a:pPr>
              <a:defRPr sz="800">
                <a:solidFill>
                  <a:srgbClr val="E2E8F0"/>
                </a:solidFill>
              </a:defRPr>
            </a:pPr>
            <a:r>
              <a:t>————————————————————</a:t>
            </a:r>
          </a:p>
          <a:p>
            <a:pPr>
              <a:defRPr sz="850">
                <a:solidFill>
                  <a:srgbClr val="0F172A"/>
                </a:solidFill>
              </a:defRPr>
            </a:pPr>
            <a:r>
              <a:t>• Kênh Organic Search sụt giảm do thuật toán Google AI Overviews; cần quyết định chuyển đổi ngân sách và hạ tầng sang Product-Led Growth (Simulator Tools) và chuẩn hóa GEO để đạt target 4M PVs.</a:t>
            </a:r>
          </a:p>
          <a:p>
            <a:pPr>
              <a:defRPr sz="850">
                <a:solidFill>
                  <a:srgbClr val="0F172A"/>
                </a:solidFill>
              </a:defRPr>
            </a:pPr>
            <a:r>
              <a:t>• Tối ưu hóa chi phí phân phối đa kênh và cá nhân hóa trang đích để giảm Bounce Rate của Paid Ads.</a:t>
            </a:r>
          </a:p>
          <a:p>
            <a:pPr>
              <a:defRPr sz="850">
                <a:solidFill>
                  <a:srgbClr val="0F172A"/>
                </a:solidFill>
              </a:defRPr>
            </a:pPr>
            <a:r>
              <a:t>• Mở rộng lưu lượng tự nhiên từ kênh Referral ngân hàng đối tác để giảm sự phụ thuộc vào Paid Ads.</a:t>
            </a:r>
          </a:p>
        </p:txBody>
      </p:sp>
      <p:sp>
        <p:nvSpPr>
          <p:cNvPr id="6" name="Rounded Rectangle 5"/>
          <p:cNvSpPr/>
          <p:nvPr/>
        </p:nvSpPr>
        <p:spPr>
          <a:xfrm>
            <a:off x="4251960" y="960120"/>
            <a:ext cx="3611880" cy="5394960"/>
          </a:xfrm>
          <a:prstGeom prst="roundRect">
            <a:avLst/>
          </a:prstGeom>
          <a:solidFill>
            <a:srgbClr val="F8FAFC"/>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182880" rIns="182880" tIns="182880" bIns="182880"/>
          <a:lstStyle/>
          <a:p>
            <a:pPr algn="ctr">
              <a:defRPr sz="1000" b="1">
                <a:solidFill>
                  <a:srgbClr val="0F172A"/>
                </a:solidFill>
              </a:defRPr>
            </a:pPr>
            <a:r>
              <a:t>2. STATUS / ISSUES &amp; DATA POINTS</a:t>
            </a:r>
          </a:p>
          <a:p>
            <a:pPr>
              <a:defRPr sz="800">
                <a:solidFill>
                  <a:srgbClr val="E2E8F0"/>
                </a:solidFill>
              </a:defRPr>
            </a:pPr>
            <a:r>
              <a:t>————————————————————</a:t>
            </a:r>
          </a:p>
          <a:p>
            <a:pPr>
              <a:defRPr sz="850">
                <a:solidFill>
                  <a:srgbClr val="0F172A"/>
                </a:solidFill>
              </a:defRPr>
            </a:pPr>
            <a:r>
              <a:t>• Data Point: Organic Search đạt 1.73M PVs (-7.76% MoM, chiếm 49.91% Share) do Google hiển thị câu trả lời trực tiếp không cần click.</a:t>
            </a:r>
          </a:p>
          <a:p>
            <a:pPr>
              <a:defRPr sz="850">
                <a:solidFill>
                  <a:srgbClr val="0F172A"/>
                </a:solidFill>
              </a:defRPr>
            </a:pPr>
            <a:r>
              <a:t>• Data Point: Direct Traffic tăng +48.86% (656K PVs) tại các trang có công cụ tương tác (Phạt nguội, CIC, Tính lương).</a:t>
            </a:r>
          </a:p>
          <a:p>
            <a:pPr>
              <a:defRPr sz="850">
                <a:solidFill>
                  <a:srgbClr val="0F172A"/>
                </a:solidFill>
              </a:defRPr>
            </a:pPr>
            <a:r>
              <a:t>• Issue: Paid Traffic đạt 645K PVs (+29.44% MoM) nhưng tỷ lệ thoát trang cao do chưa phân luồng trang đích theo Search Intent.</a:t>
            </a:r>
          </a:p>
        </p:txBody>
      </p:sp>
      <p:sp>
        <p:nvSpPr>
          <p:cNvPr id="7" name="Rounded Rectangle 6"/>
          <p:cNvSpPr/>
          <p:nvPr/>
        </p:nvSpPr>
        <p:spPr>
          <a:xfrm>
            <a:off x="7955279" y="960120"/>
            <a:ext cx="3611880" cy="5394960"/>
          </a:xfrm>
          <a:prstGeom prst="roundRect">
            <a:avLst/>
          </a:prstGeom>
          <a:solidFill>
            <a:srgbClr val="FFFFFF"/>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182880" rIns="182880" tIns="182880" bIns="182880"/>
          <a:lstStyle/>
          <a:p>
            <a:pPr algn="ctr">
              <a:defRPr sz="1000" b="1">
                <a:solidFill>
                  <a:srgbClr val="16A34A"/>
                </a:solidFill>
              </a:defRPr>
            </a:pPr>
            <a:r>
              <a:t>3. SOLUTIONS &amp; RECOMMENDATIONS</a:t>
            </a:r>
          </a:p>
          <a:p>
            <a:pPr>
              <a:defRPr sz="800">
                <a:solidFill>
                  <a:srgbClr val="E2E8F0"/>
                </a:solidFill>
              </a:defRPr>
            </a:pPr>
            <a:r>
              <a:t>————————————————————</a:t>
            </a:r>
          </a:p>
          <a:p>
            <a:pPr>
              <a:defRPr sz="850">
                <a:solidFill>
                  <a:srgbClr val="0F172A"/>
                </a:solidFill>
              </a:defRPr>
            </a:pPr>
            <a:r>
              <a:t>• Chuyển đổi toàn bộ cụm bài viết trọng điểm sang cấu trúc Answer-First gắn Schema (HowTo, FAQPage, llms.txt) để tối ưu trích dẫn từ Google AI Overviews.</a:t>
            </a:r>
          </a:p>
          <a:p>
            <a:pPr>
              <a:defRPr sz="850">
                <a:solidFill>
                  <a:srgbClr val="0F172A"/>
                </a:solidFill>
              </a:defRPr>
            </a:pPr>
            <a:r>
              <a:t>• Phối hợp Media Team gắn tham số ?intent= trên toàn bộ chiến dịch Paid Ads dẫn về Web MoMo trước ngày 10/09.</a:t>
            </a:r>
          </a:p>
          <a:p>
            <a:pPr>
              <a:defRPr sz="850">
                <a:solidFill>
                  <a:srgbClr val="0F172A"/>
                </a:solidFill>
              </a:defRPr>
            </a:pPr>
            <a:r>
              <a:t>• Mở rộng liên kết Referral từ hệ thống 34 cổng ngân hàng đối tác để gia tăng lưu lượng tự nhiên chất lượng cao.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182880"/>
            <a:ext cx="7772400" cy="228600"/>
          </a:xfrm>
          <a:prstGeom prst="rect">
            <a:avLst/>
          </a:prstGeom>
          <a:noFill/>
        </p:spPr>
        <p:txBody>
          <a:bodyPr wrap="none">
            <a:spAutoFit/>
          </a:bodyPr>
          <a:lstStyle/>
          <a:p>
            <a:pPr>
              <a:defRPr sz="900" b="1">
                <a:solidFill>
                  <a:srgbClr val="B0006D"/>
                </a:solidFill>
              </a:defRPr>
            </a:pPr>
            <a:r>
              <a:t>GROWTH PLATFORM DIVISION · WEB PLATFORM</a:t>
            </a:r>
          </a:p>
        </p:txBody>
      </p:sp>
      <p:sp>
        <p:nvSpPr>
          <p:cNvPr id="3" name="Rounded Rectangle 2"/>
          <p:cNvSpPr/>
          <p:nvPr/>
        </p:nvSpPr>
        <p:spPr>
          <a:xfrm>
            <a:off x="9692640" y="182880"/>
            <a:ext cx="1950415" cy="320040"/>
          </a:xfrm>
          <a:prstGeom prst="roundRect">
            <a:avLst/>
          </a:prstGeom>
          <a:solidFill>
            <a:srgbClr val="0284C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900" b="1">
                <a:solidFill>
                  <a:srgbClr val="FFFFFF"/>
                </a:solidFill>
              </a:defRPr>
            </a:pPr>
            <a:r>
              <a:t>[R] REPORTING</a:t>
            </a:r>
          </a:p>
        </p:txBody>
      </p:sp>
      <p:sp>
        <p:nvSpPr>
          <p:cNvPr id="4" name="TextBox 3"/>
          <p:cNvSpPr txBox="1"/>
          <p:nvPr/>
        </p:nvSpPr>
        <p:spPr>
          <a:xfrm>
            <a:off x="548640" y="384048"/>
            <a:ext cx="8961120" cy="411480"/>
          </a:xfrm>
          <a:prstGeom prst="rect">
            <a:avLst/>
          </a:prstGeom>
          <a:noFill/>
        </p:spPr>
        <p:txBody>
          <a:bodyPr wrap="none">
            <a:spAutoFit/>
          </a:bodyPr>
          <a:lstStyle/>
          <a:p>
            <a:pPr>
              <a:defRPr sz="1700" b="1">
                <a:solidFill>
                  <a:srgbClr val="0F172A"/>
                </a:solidFill>
              </a:defRPr>
            </a:pPr>
            <a:r>
              <a:t>NEW USER PERFORMANCE: FULL FUNNEL TRACKING THÁNG 08/2026</a:t>
            </a:r>
          </a:p>
        </p:txBody>
      </p:sp>
      <p:graphicFrame>
        <p:nvGraphicFramePr>
          <p:cNvPr id="5" name="Table 4"/>
          <p:cNvGraphicFramePr>
            <a:graphicFrameLocks noGrp="1"/>
          </p:cNvGraphicFramePr>
          <p:nvPr/>
        </p:nvGraphicFramePr>
        <p:xfrm>
          <a:off x="548640" y="868680"/>
          <a:ext cx="6217920" cy="2926080"/>
        </p:xfrm>
        <a:graphic>
          <a:graphicData uri="http://schemas.openxmlformats.org/drawingml/2006/table">
            <a:tbl>
              <a:tblPr firstRow="1" bandRow="1">
                <a:tableStyleId>{5C22544A-7EE6-4342-B048-85BDC9FD1C3A}</a:tableStyleId>
              </a:tblPr>
              <a:tblGrid>
                <a:gridCol w="2377440"/>
                <a:gridCol w="768096"/>
                <a:gridCol w="768096"/>
                <a:gridCol w="768096"/>
                <a:gridCol w="768096"/>
                <a:gridCol w="768096"/>
              </a:tblGrid>
              <a:tr h="292608">
                <a:tc>
                  <a:txBody>
                    <a:bodyPr/>
                    <a:lstStyle/>
                    <a:p>
                      <a:pPr algn="ctr">
                        <a:defRPr sz="800" b="1">
                          <a:solidFill>
                            <a:srgbClr val="FFFFFF"/>
                          </a:solidFill>
                        </a:defRPr>
                      </a:pPr>
                      <a:r>
                        <a:t>Chiến Dịch Ads</a:t>
                      </a:r>
                    </a:p>
                  </a:txBody>
                  <a:tcPr>
                    <a:solidFill>
                      <a:srgbClr val="B0006D"/>
                    </a:solidFill>
                  </a:tcPr>
                </a:tc>
                <a:tc>
                  <a:txBody>
                    <a:bodyPr/>
                    <a:lstStyle/>
                    <a:p>
                      <a:pPr algn="ctr">
                        <a:defRPr sz="800" b="1">
                          <a:solidFill>
                            <a:srgbClr val="FFFFFF"/>
                          </a:solidFill>
                        </a:defRPr>
                      </a:pPr>
                      <a:r>
                        <a:t>Installs</a:t>
                      </a:r>
                    </a:p>
                  </a:txBody>
                  <a:tcPr>
                    <a:solidFill>
                      <a:srgbClr val="B0006D"/>
                    </a:solidFill>
                  </a:tcPr>
                </a:tc>
                <a:tc>
                  <a:txBody>
                    <a:bodyPr/>
                    <a:lstStyle/>
                    <a:p>
                      <a:pPr algn="ctr">
                        <a:defRPr sz="800" b="1">
                          <a:solidFill>
                            <a:srgbClr val="FFFFFF"/>
                          </a:solidFill>
                        </a:defRPr>
                      </a:pPr>
                      <a:r>
                        <a:t>REG</a:t>
                      </a:r>
                    </a:p>
                  </a:txBody>
                  <a:tcPr>
                    <a:solidFill>
                      <a:srgbClr val="B0006D"/>
                    </a:solidFill>
                  </a:tcPr>
                </a:tc>
                <a:tc>
                  <a:txBody>
                    <a:bodyPr/>
                    <a:lstStyle/>
                    <a:p>
                      <a:pPr algn="ctr">
                        <a:defRPr sz="800" b="1">
                          <a:solidFill>
                            <a:srgbClr val="FFFFFF"/>
                          </a:solidFill>
                        </a:defRPr>
                      </a:pPr>
                      <a:r>
                        <a:t>Map</a:t>
                      </a:r>
                    </a:p>
                  </a:txBody>
                  <a:tcPr>
                    <a:solidFill>
                      <a:srgbClr val="B0006D"/>
                    </a:solidFill>
                  </a:tcPr>
                </a:tc>
                <a:tc>
                  <a:txBody>
                    <a:bodyPr/>
                    <a:lstStyle/>
                    <a:p>
                      <a:pPr algn="ctr">
                        <a:defRPr sz="800" b="1">
                          <a:solidFill>
                            <a:srgbClr val="FFFFFF"/>
                          </a:solidFill>
                        </a:defRPr>
                      </a:pPr>
                      <a:r>
                        <a:t>MAU</a:t>
                      </a:r>
                    </a:p>
                  </a:txBody>
                  <a:tcPr>
                    <a:solidFill>
                      <a:srgbClr val="B0006D"/>
                    </a:solidFill>
                  </a:tcPr>
                </a:tc>
                <a:tc>
                  <a:txBody>
                    <a:bodyPr/>
                    <a:lstStyle/>
                    <a:p>
                      <a:pPr algn="ctr">
                        <a:defRPr sz="800" b="1">
                          <a:solidFill>
                            <a:srgbClr val="FFFFFF"/>
                          </a:solidFill>
                        </a:defRPr>
                      </a:pPr>
                      <a:r>
                        <a:t>%CR Map</a:t>
                      </a:r>
                    </a:p>
                  </a:txBody>
                  <a:tcPr>
                    <a:solidFill>
                      <a:srgbClr val="B0006D"/>
                    </a:solidFill>
                  </a:tcPr>
                </a:tc>
              </a:tr>
              <a:tr h="292608">
                <a:tc>
                  <a:txBody>
                    <a:bodyPr/>
                    <a:lstStyle/>
                    <a:p>
                      <a:pPr algn="l">
                        <a:defRPr sz="750"/>
                      </a:pPr>
                      <a:r>
                        <a:t>CHAOMOMO Android (Ads)</a:t>
                      </a:r>
                    </a:p>
                  </a:txBody>
                  <a:tcPr>
                    <a:solidFill>
                      <a:srgbClr val="FFFFFF"/>
                    </a:solidFill>
                  </a:tcPr>
                </a:tc>
                <a:tc>
                  <a:txBody>
                    <a:bodyPr/>
                    <a:lstStyle/>
                    <a:p>
                      <a:pPr algn="ctr">
                        <a:defRPr sz="750"/>
                      </a:pPr>
                      <a:r>
                        <a:t>3,210</a:t>
                      </a:r>
                    </a:p>
                  </a:txBody>
                  <a:tcPr>
                    <a:solidFill>
                      <a:srgbClr val="FFFFFF"/>
                    </a:solidFill>
                  </a:tcPr>
                </a:tc>
                <a:tc>
                  <a:txBody>
                    <a:bodyPr/>
                    <a:lstStyle/>
                    <a:p>
                      <a:pPr algn="ctr">
                        <a:defRPr sz="750"/>
                      </a:pPr>
                      <a:r>
                        <a:t>978</a:t>
                      </a:r>
                    </a:p>
                  </a:txBody>
                  <a:tcPr>
                    <a:solidFill>
                      <a:srgbClr val="FFFFFF"/>
                    </a:solidFill>
                  </a:tcPr>
                </a:tc>
                <a:tc>
                  <a:txBody>
                    <a:bodyPr/>
                    <a:lstStyle/>
                    <a:p>
                      <a:pPr algn="ctr">
                        <a:defRPr sz="750"/>
                      </a:pPr>
                      <a:r>
                        <a:t>514</a:t>
                      </a:r>
                    </a:p>
                  </a:txBody>
                  <a:tcPr>
                    <a:solidFill>
                      <a:srgbClr val="FFFFFF"/>
                    </a:solidFill>
                  </a:tcPr>
                </a:tc>
                <a:tc>
                  <a:txBody>
                    <a:bodyPr/>
                    <a:lstStyle/>
                    <a:p>
                      <a:pPr algn="ctr">
                        <a:defRPr sz="750"/>
                      </a:pPr>
                      <a:r>
                        <a:t>265</a:t>
                      </a:r>
                    </a:p>
                  </a:txBody>
                  <a:tcPr>
                    <a:solidFill>
                      <a:srgbClr val="FFFFFF"/>
                    </a:solidFill>
                  </a:tcPr>
                </a:tc>
                <a:tc>
                  <a:txBody>
                    <a:bodyPr/>
                    <a:lstStyle/>
                    <a:p>
                      <a:pPr algn="ctr">
                        <a:defRPr sz="750"/>
                      </a:pPr>
                      <a:r>
                        <a:t>52.6%</a:t>
                      </a:r>
                    </a:p>
                  </a:txBody>
                  <a:tcPr>
                    <a:solidFill>
                      <a:srgbClr val="FFFFFF"/>
                    </a:solidFill>
                  </a:tcPr>
                </a:tc>
              </a:tr>
              <a:tr h="292608">
                <a:tc>
                  <a:txBody>
                    <a:bodyPr/>
                    <a:lstStyle/>
                    <a:p>
                      <a:pPr algn="l">
                        <a:defRPr sz="750"/>
                      </a:pPr>
                      <a:r>
                        <a:t>CHAOMOMO iOS (Ads)</a:t>
                      </a:r>
                    </a:p>
                  </a:txBody>
                  <a:tcPr>
                    <a:solidFill>
                      <a:srgbClr val="FDF2F8"/>
                    </a:solidFill>
                  </a:tcPr>
                </a:tc>
                <a:tc>
                  <a:txBody>
                    <a:bodyPr/>
                    <a:lstStyle/>
                    <a:p>
                      <a:pPr algn="ctr">
                        <a:defRPr sz="750"/>
                      </a:pPr>
                      <a:r>
                        <a:t>2,410</a:t>
                      </a:r>
                    </a:p>
                  </a:txBody>
                  <a:tcPr>
                    <a:solidFill>
                      <a:srgbClr val="FDF2F8"/>
                    </a:solidFill>
                  </a:tcPr>
                </a:tc>
                <a:tc>
                  <a:txBody>
                    <a:bodyPr/>
                    <a:lstStyle/>
                    <a:p>
                      <a:pPr algn="ctr">
                        <a:defRPr sz="750"/>
                      </a:pPr>
                      <a:r>
                        <a:t>660</a:t>
                      </a:r>
                    </a:p>
                  </a:txBody>
                  <a:tcPr>
                    <a:solidFill>
                      <a:srgbClr val="FDF2F8"/>
                    </a:solidFill>
                  </a:tcPr>
                </a:tc>
                <a:tc>
                  <a:txBody>
                    <a:bodyPr/>
                    <a:lstStyle/>
                    <a:p>
                      <a:pPr algn="ctr">
                        <a:defRPr sz="750"/>
                      </a:pPr>
                      <a:r>
                        <a:t>488</a:t>
                      </a:r>
                    </a:p>
                  </a:txBody>
                  <a:tcPr>
                    <a:solidFill>
                      <a:srgbClr val="FDF2F8"/>
                    </a:solidFill>
                  </a:tcPr>
                </a:tc>
                <a:tc>
                  <a:txBody>
                    <a:bodyPr/>
                    <a:lstStyle/>
                    <a:p>
                      <a:pPr algn="ctr">
                        <a:defRPr sz="750"/>
                      </a:pPr>
                      <a:r>
                        <a:t>287</a:t>
                      </a:r>
                    </a:p>
                  </a:txBody>
                  <a:tcPr>
                    <a:solidFill>
                      <a:srgbClr val="FDF2F8"/>
                    </a:solidFill>
                  </a:tcPr>
                </a:tc>
                <a:tc>
                  <a:txBody>
                    <a:bodyPr/>
                    <a:lstStyle/>
                    <a:p>
                      <a:pPr algn="ctr">
                        <a:defRPr sz="750"/>
                      </a:pPr>
                      <a:r>
                        <a:t>73.9%</a:t>
                      </a:r>
                    </a:p>
                  </a:txBody>
                  <a:tcPr>
                    <a:solidFill>
                      <a:srgbClr val="FDF2F8"/>
                    </a:solidFill>
                  </a:tcPr>
                </a:tc>
              </a:tr>
              <a:tr h="292608">
                <a:tc>
                  <a:txBody>
                    <a:bodyPr/>
                    <a:lstStyle/>
                    <a:p>
                      <a:pPr algn="l">
                        <a:defRPr sz="750"/>
                      </a:pPr>
                      <a:r>
                        <a:t>CHAOMOMO Internal Web Android</a:t>
                      </a:r>
                    </a:p>
                  </a:txBody>
                  <a:tcPr>
                    <a:solidFill>
                      <a:srgbClr val="FFFFFF"/>
                    </a:solidFill>
                  </a:tcPr>
                </a:tc>
                <a:tc>
                  <a:txBody>
                    <a:bodyPr/>
                    <a:lstStyle/>
                    <a:p>
                      <a:pPr algn="ctr">
                        <a:defRPr sz="750"/>
                      </a:pPr>
                      <a:r>
                        <a:t>1,208</a:t>
                      </a:r>
                    </a:p>
                  </a:txBody>
                  <a:tcPr>
                    <a:solidFill>
                      <a:srgbClr val="FFFFFF"/>
                    </a:solidFill>
                  </a:tcPr>
                </a:tc>
                <a:tc>
                  <a:txBody>
                    <a:bodyPr/>
                    <a:lstStyle/>
                    <a:p>
                      <a:pPr algn="ctr">
                        <a:defRPr sz="750"/>
                      </a:pPr>
                      <a:r>
                        <a:t>457</a:t>
                      </a:r>
                    </a:p>
                  </a:txBody>
                  <a:tcPr>
                    <a:solidFill>
                      <a:srgbClr val="FFFFFF"/>
                    </a:solidFill>
                  </a:tcPr>
                </a:tc>
                <a:tc>
                  <a:txBody>
                    <a:bodyPr/>
                    <a:lstStyle/>
                    <a:p>
                      <a:pPr algn="ctr">
                        <a:defRPr sz="750"/>
                      </a:pPr>
                      <a:r>
                        <a:t>219</a:t>
                      </a:r>
                    </a:p>
                  </a:txBody>
                  <a:tcPr>
                    <a:solidFill>
                      <a:srgbClr val="FFFFFF"/>
                    </a:solidFill>
                  </a:tcPr>
                </a:tc>
                <a:tc>
                  <a:txBody>
                    <a:bodyPr/>
                    <a:lstStyle/>
                    <a:p>
                      <a:pPr algn="ctr">
                        <a:defRPr sz="750"/>
                      </a:pPr>
                      <a:r>
                        <a:t>115</a:t>
                      </a:r>
                    </a:p>
                  </a:txBody>
                  <a:tcPr>
                    <a:solidFill>
                      <a:srgbClr val="FFFFFF"/>
                    </a:solidFill>
                  </a:tcPr>
                </a:tc>
                <a:tc>
                  <a:txBody>
                    <a:bodyPr/>
                    <a:lstStyle/>
                    <a:p>
                      <a:pPr algn="ctr">
                        <a:defRPr sz="750"/>
                      </a:pPr>
                      <a:r>
                        <a:t>47.9%</a:t>
                      </a:r>
                    </a:p>
                  </a:txBody>
                  <a:tcPr>
                    <a:solidFill>
                      <a:srgbClr val="FFFFFF"/>
                    </a:solidFill>
                  </a:tcPr>
                </a:tc>
              </a:tr>
              <a:tr h="292608">
                <a:tc>
                  <a:txBody>
                    <a:bodyPr/>
                    <a:lstStyle/>
                    <a:p>
                      <a:pPr algn="l">
                        <a:defRPr sz="750"/>
                      </a:pPr>
                      <a:r>
                        <a:t>CHAOMOMO Internal Web iOS</a:t>
                      </a:r>
                    </a:p>
                  </a:txBody>
                  <a:tcPr>
                    <a:solidFill>
                      <a:srgbClr val="FDF2F8"/>
                    </a:solidFill>
                  </a:tcPr>
                </a:tc>
                <a:tc>
                  <a:txBody>
                    <a:bodyPr/>
                    <a:lstStyle/>
                    <a:p>
                      <a:pPr algn="ctr">
                        <a:defRPr sz="750"/>
                      </a:pPr>
                      <a:r>
                        <a:t>828</a:t>
                      </a:r>
                    </a:p>
                  </a:txBody>
                  <a:tcPr>
                    <a:solidFill>
                      <a:srgbClr val="FDF2F8"/>
                    </a:solidFill>
                  </a:tcPr>
                </a:tc>
                <a:tc>
                  <a:txBody>
                    <a:bodyPr/>
                    <a:lstStyle/>
                    <a:p>
                      <a:pPr algn="ctr">
                        <a:defRPr sz="750"/>
                      </a:pPr>
                      <a:r>
                        <a:t>308</a:t>
                      </a:r>
                    </a:p>
                  </a:txBody>
                  <a:tcPr>
                    <a:solidFill>
                      <a:srgbClr val="FDF2F8"/>
                    </a:solidFill>
                  </a:tcPr>
                </a:tc>
                <a:tc>
                  <a:txBody>
                    <a:bodyPr/>
                    <a:lstStyle/>
                    <a:p>
                      <a:pPr algn="ctr">
                        <a:defRPr sz="750"/>
                      </a:pPr>
                      <a:r>
                        <a:t>213</a:t>
                      </a:r>
                    </a:p>
                  </a:txBody>
                  <a:tcPr>
                    <a:solidFill>
                      <a:srgbClr val="FDF2F8"/>
                    </a:solidFill>
                  </a:tcPr>
                </a:tc>
                <a:tc>
                  <a:txBody>
                    <a:bodyPr/>
                    <a:lstStyle/>
                    <a:p>
                      <a:pPr algn="ctr">
                        <a:defRPr sz="750"/>
                      </a:pPr>
                      <a:r>
                        <a:t>132</a:t>
                      </a:r>
                    </a:p>
                  </a:txBody>
                  <a:tcPr>
                    <a:solidFill>
                      <a:srgbClr val="FDF2F8"/>
                    </a:solidFill>
                  </a:tcPr>
                </a:tc>
                <a:tc>
                  <a:txBody>
                    <a:bodyPr/>
                    <a:lstStyle/>
                    <a:p>
                      <a:pPr algn="ctr">
                        <a:defRPr sz="750"/>
                      </a:pPr>
                      <a:r>
                        <a:t>69.2%</a:t>
                      </a:r>
                    </a:p>
                  </a:txBody>
                  <a:tcPr>
                    <a:solidFill>
                      <a:srgbClr val="FDF2F8"/>
                    </a:solidFill>
                  </a:tcPr>
                </a:tc>
              </a:tr>
              <a:tr h="292608">
                <a:tc>
                  <a:txBody>
                    <a:bodyPr/>
                    <a:lstStyle/>
                    <a:p>
                      <a:pPr algn="l">
                        <a:defRPr sz="750"/>
                      </a:pPr>
                      <a:r>
                        <a:t>PSN-CINEMA iOS (Rạp)</a:t>
                      </a:r>
                    </a:p>
                  </a:txBody>
                  <a:tcPr>
                    <a:solidFill>
                      <a:srgbClr val="FDF2F8"/>
                    </a:solidFill>
                  </a:tcPr>
                </a:tc>
                <a:tc>
                  <a:txBody>
                    <a:bodyPr/>
                    <a:lstStyle/>
                    <a:p>
                      <a:pPr algn="ctr">
                        <a:defRPr sz="750"/>
                      </a:pPr>
                      <a:r>
                        <a:t>631</a:t>
                      </a:r>
                    </a:p>
                  </a:txBody>
                  <a:tcPr>
                    <a:solidFill>
                      <a:srgbClr val="FDF2F8"/>
                    </a:solidFill>
                  </a:tcPr>
                </a:tc>
                <a:tc>
                  <a:txBody>
                    <a:bodyPr/>
                    <a:lstStyle/>
                    <a:p>
                      <a:pPr algn="ctr">
                        <a:defRPr sz="750"/>
                      </a:pPr>
                      <a:r>
                        <a:t>180</a:t>
                      </a:r>
                    </a:p>
                  </a:txBody>
                  <a:tcPr>
                    <a:solidFill>
                      <a:srgbClr val="FDF2F8"/>
                    </a:solidFill>
                  </a:tcPr>
                </a:tc>
                <a:tc>
                  <a:txBody>
                    <a:bodyPr/>
                    <a:lstStyle/>
                    <a:p>
                      <a:pPr algn="ctr">
                        <a:defRPr sz="750"/>
                      </a:pPr>
                      <a:r>
                        <a:t>115</a:t>
                      </a:r>
                    </a:p>
                  </a:txBody>
                  <a:tcPr>
                    <a:solidFill>
                      <a:srgbClr val="FDF2F8"/>
                    </a:solidFill>
                  </a:tcPr>
                </a:tc>
                <a:tc>
                  <a:txBody>
                    <a:bodyPr/>
                    <a:lstStyle/>
                    <a:p>
                      <a:pPr algn="ctr">
                        <a:defRPr sz="750"/>
                      </a:pPr>
                      <a:r>
                        <a:t>70</a:t>
                      </a:r>
                    </a:p>
                  </a:txBody>
                  <a:tcPr>
                    <a:solidFill>
                      <a:srgbClr val="FDF2F8"/>
                    </a:solidFill>
                  </a:tcPr>
                </a:tc>
                <a:tc>
                  <a:txBody>
                    <a:bodyPr/>
                    <a:lstStyle/>
                    <a:p>
                      <a:pPr algn="ctr">
                        <a:defRPr sz="750"/>
                      </a:pPr>
                      <a:r>
                        <a:t>63.9%</a:t>
                      </a:r>
                    </a:p>
                  </a:txBody>
                  <a:tcPr>
                    <a:solidFill>
                      <a:srgbClr val="FDF2F8"/>
                    </a:solidFill>
                  </a:tcPr>
                </a:tc>
              </a:tr>
              <a:tr h="292608">
                <a:tc>
                  <a:txBody>
                    <a:bodyPr/>
                    <a:lstStyle/>
                    <a:p>
                      <a:pPr algn="l">
                        <a:defRPr sz="750"/>
                      </a:pPr>
                      <a:r>
                        <a:t>CHAOMOMO Secondary Android</a:t>
                      </a:r>
                    </a:p>
                  </a:txBody>
                  <a:tcPr>
                    <a:solidFill>
                      <a:srgbClr val="F8FAFC"/>
                    </a:solidFill>
                  </a:tcPr>
                </a:tc>
                <a:tc>
                  <a:txBody>
                    <a:bodyPr/>
                    <a:lstStyle/>
                    <a:p>
                      <a:pPr algn="ctr">
                        <a:defRPr sz="750"/>
                      </a:pPr>
                      <a:r>
                        <a:t>596</a:t>
                      </a:r>
                    </a:p>
                  </a:txBody>
                  <a:tcPr>
                    <a:solidFill>
                      <a:srgbClr val="F8FAFC"/>
                    </a:solidFill>
                  </a:tcPr>
                </a:tc>
                <a:tc>
                  <a:txBody>
                    <a:bodyPr/>
                    <a:lstStyle/>
                    <a:p>
                      <a:pPr algn="ctr">
                        <a:defRPr sz="750"/>
                      </a:pPr>
                      <a:r>
                        <a:t>220</a:t>
                      </a:r>
                    </a:p>
                  </a:txBody>
                  <a:tcPr>
                    <a:solidFill>
                      <a:srgbClr val="F8FAFC"/>
                    </a:solidFill>
                  </a:tcPr>
                </a:tc>
                <a:tc>
                  <a:txBody>
                    <a:bodyPr/>
                    <a:lstStyle/>
                    <a:p>
                      <a:pPr algn="ctr">
                        <a:defRPr sz="750"/>
                      </a:pPr>
                      <a:r>
                        <a:t>126</a:t>
                      </a:r>
                    </a:p>
                  </a:txBody>
                  <a:tcPr>
                    <a:solidFill>
                      <a:srgbClr val="F8FAFC"/>
                    </a:solidFill>
                  </a:tcPr>
                </a:tc>
                <a:tc>
                  <a:txBody>
                    <a:bodyPr/>
                    <a:lstStyle/>
                    <a:p>
                      <a:pPr algn="ctr">
                        <a:defRPr sz="750"/>
                      </a:pPr>
                      <a:r>
                        <a:t>64</a:t>
                      </a:r>
                    </a:p>
                  </a:txBody>
                  <a:tcPr>
                    <a:solidFill>
                      <a:srgbClr val="F8FAFC"/>
                    </a:solidFill>
                  </a:tcPr>
                </a:tc>
                <a:tc>
                  <a:txBody>
                    <a:bodyPr/>
                    <a:lstStyle/>
                    <a:p>
                      <a:pPr algn="ctr">
                        <a:defRPr sz="750"/>
                      </a:pPr>
                      <a:r>
                        <a:t>57.3%</a:t>
                      </a:r>
                    </a:p>
                  </a:txBody>
                  <a:tcPr>
                    <a:solidFill>
                      <a:srgbClr val="F8FAFC"/>
                    </a:solidFill>
                  </a:tcPr>
                </a:tc>
              </a:tr>
              <a:tr h="292608">
                <a:tc>
                  <a:txBody>
                    <a:bodyPr/>
                    <a:lstStyle/>
                    <a:p>
                      <a:pPr algn="l">
                        <a:defRPr sz="750"/>
                      </a:pPr>
                      <a:r>
                        <a:t>CHAOMOMO Secondary iOS</a:t>
                      </a:r>
                    </a:p>
                  </a:txBody>
                  <a:tcPr>
                    <a:solidFill>
                      <a:srgbClr val="FDF2F8"/>
                    </a:solidFill>
                  </a:tcPr>
                </a:tc>
                <a:tc>
                  <a:txBody>
                    <a:bodyPr/>
                    <a:lstStyle/>
                    <a:p>
                      <a:pPr algn="ctr">
                        <a:defRPr sz="750"/>
                      </a:pPr>
                      <a:r>
                        <a:t>386</a:t>
                      </a:r>
                    </a:p>
                  </a:txBody>
                  <a:tcPr>
                    <a:solidFill>
                      <a:srgbClr val="FDF2F8"/>
                    </a:solidFill>
                  </a:tcPr>
                </a:tc>
                <a:tc>
                  <a:txBody>
                    <a:bodyPr/>
                    <a:lstStyle/>
                    <a:p>
                      <a:pPr algn="ctr">
                        <a:defRPr sz="750"/>
                      </a:pPr>
                      <a:r>
                        <a:t>147</a:t>
                      </a:r>
                    </a:p>
                  </a:txBody>
                  <a:tcPr>
                    <a:solidFill>
                      <a:srgbClr val="FDF2F8"/>
                    </a:solidFill>
                  </a:tcPr>
                </a:tc>
                <a:tc>
                  <a:txBody>
                    <a:bodyPr/>
                    <a:lstStyle/>
                    <a:p>
                      <a:pPr algn="ctr">
                        <a:defRPr sz="750"/>
                      </a:pPr>
                      <a:r>
                        <a:t>107</a:t>
                      </a:r>
                    </a:p>
                  </a:txBody>
                  <a:tcPr>
                    <a:solidFill>
                      <a:srgbClr val="FDF2F8"/>
                    </a:solidFill>
                  </a:tcPr>
                </a:tc>
                <a:tc>
                  <a:txBody>
                    <a:bodyPr/>
                    <a:lstStyle/>
                    <a:p>
                      <a:pPr algn="ctr">
                        <a:defRPr sz="750"/>
                      </a:pPr>
                      <a:r>
                        <a:t>72</a:t>
                      </a:r>
                    </a:p>
                  </a:txBody>
                  <a:tcPr>
                    <a:solidFill>
                      <a:srgbClr val="FDF2F8"/>
                    </a:solidFill>
                  </a:tcPr>
                </a:tc>
                <a:tc>
                  <a:txBody>
                    <a:bodyPr/>
                    <a:lstStyle/>
                    <a:p>
                      <a:pPr algn="ctr">
                        <a:defRPr sz="750"/>
                      </a:pPr>
                      <a:r>
                        <a:t>72.8%</a:t>
                      </a:r>
                    </a:p>
                  </a:txBody>
                  <a:tcPr>
                    <a:solidFill>
                      <a:srgbClr val="FDF2F8"/>
                    </a:solidFill>
                  </a:tcPr>
                </a:tc>
              </a:tr>
              <a:tr h="292608">
                <a:tc>
                  <a:txBody>
                    <a:bodyPr/>
                    <a:lstStyle/>
                    <a:p>
                      <a:pPr algn="l">
                        <a:defRPr sz="750"/>
                      </a:pPr>
                      <a:r>
                        <a:t>PSN-CINEMA Android (Rạp)</a:t>
                      </a:r>
                    </a:p>
                  </a:txBody>
                  <a:tcPr>
                    <a:solidFill>
                      <a:srgbClr val="F8FAFC"/>
                    </a:solidFill>
                  </a:tcPr>
                </a:tc>
                <a:tc>
                  <a:txBody>
                    <a:bodyPr/>
                    <a:lstStyle/>
                    <a:p>
                      <a:pPr algn="ctr">
                        <a:defRPr sz="750"/>
                      </a:pPr>
                      <a:r>
                        <a:t>266</a:t>
                      </a:r>
                    </a:p>
                  </a:txBody>
                  <a:tcPr>
                    <a:solidFill>
                      <a:srgbClr val="F8FAFC"/>
                    </a:solidFill>
                  </a:tcPr>
                </a:tc>
                <a:tc>
                  <a:txBody>
                    <a:bodyPr/>
                    <a:lstStyle/>
                    <a:p>
                      <a:pPr algn="ctr">
                        <a:defRPr sz="750"/>
                      </a:pPr>
                      <a:r>
                        <a:t>89</a:t>
                      </a:r>
                    </a:p>
                  </a:txBody>
                  <a:tcPr>
                    <a:solidFill>
                      <a:srgbClr val="F8FAFC"/>
                    </a:solidFill>
                  </a:tcPr>
                </a:tc>
                <a:tc>
                  <a:txBody>
                    <a:bodyPr/>
                    <a:lstStyle/>
                    <a:p>
                      <a:pPr algn="ctr">
                        <a:defRPr sz="750"/>
                      </a:pPr>
                      <a:r>
                        <a:t>36</a:t>
                      </a:r>
                    </a:p>
                  </a:txBody>
                  <a:tcPr>
                    <a:solidFill>
                      <a:srgbClr val="F8FAFC"/>
                    </a:solidFill>
                  </a:tcPr>
                </a:tc>
                <a:tc>
                  <a:txBody>
                    <a:bodyPr/>
                    <a:lstStyle/>
                    <a:p>
                      <a:pPr algn="ctr">
                        <a:defRPr sz="750"/>
                      </a:pPr>
                      <a:r>
                        <a:t>24</a:t>
                      </a:r>
                    </a:p>
                  </a:txBody>
                  <a:tcPr>
                    <a:solidFill>
                      <a:srgbClr val="F8FAFC"/>
                    </a:solidFill>
                  </a:tcPr>
                </a:tc>
                <a:tc>
                  <a:txBody>
                    <a:bodyPr/>
                    <a:lstStyle/>
                    <a:p>
                      <a:pPr algn="ctr">
                        <a:defRPr sz="750"/>
                      </a:pPr>
                      <a:r>
                        <a:t>40.5%</a:t>
                      </a:r>
                    </a:p>
                  </a:txBody>
                  <a:tcPr>
                    <a:solidFill>
                      <a:srgbClr val="F8FAFC"/>
                    </a:solidFill>
                  </a:tcPr>
                </a:tc>
              </a:tr>
              <a:tr h="292608">
                <a:tc>
                  <a:txBody>
                    <a:bodyPr/>
                    <a:lstStyle/>
                    <a:p>
                      <a:pPr algn="l">
                        <a:defRPr sz="750" b="1"/>
                      </a:pPr>
                      <a:r>
                        <a:t>GRAND TOTAL (TOÀN BỘ)</a:t>
                      </a:r>
                    </a:p>
                  </a:txBody>
                  <a:tcPr>
                    <a:solidFill>
                      <a:srgbClr val="F1F5F9"/>
                    </a:solidFill>
                  </a:tcPr>
                </a:tc>
                <a:tc>
                  <a:txBody>
                    <a:bodyPr/>
                    <a:lstStyle/>
                    <a:p>
                      <a:pPr algn="ctr">
                        <a:defRPr sz="750" b="1">
                          <a:solidFill>
                            <a:srgbClr val="B0006D"/>
                          </a:solidFill>
                        </a:defRPr>
                      </a:pPr>
                      <a:r>
                        <a:t>10,058</a:t>
                      </a:r>
                    </a:p>
                  </a:txBody>
                  <a:tcPr>
                    <a:solidFill>
                      <a:srgbClr val="F1F5F9"/>
                    </a:solidFill>
                  </a:tcPr>
                </a:tc>
                <a:tc>
                  <a:txBody>
                    <a:bodyPr/>
                    <a:lstStyle/>
                    <a:p>
                      <a:pPr algn="ctr">
                        <a:defRPr sz="750" b="1">
                          <a:solidFill>
                            <a:srgbClr val="B0006D"/>
                          </a:solidFill>
                        </a:defRPr>
                      </a:pPr>
                      <a:r>
                        <a:t>3,229</a:t>
                      </a:r>
                    </a:p>
                  </a:txBody>
                  <a:tcPr>
                    <a:solidFill>
                      <a:srgbClr val="F1F5F9"/>
                    </a:solidFill>
                  </a:tcPr>
                </a:tc>
                <a:tc>
                  <a:txBody>
                    <a:bodyPr/>
                    <a:lstStyle/>
                    <a:p>
                      <a:pPr algn="ctr">
                        <a:defRPr sz="750" b="1">
                          <a:solidFill>
                            <a:srgbClr val="B0006D"/>
                          </a:solidFill>
                        </a:defRPr>
                      </a:pPr>
                      <a:r>
                        <a:t>1,818</a:t>
                      </a:r>
                    </a:p>
                  </a:txBody>
                  <a:tcPr>
                    <a:solidFill>
                      <a:srgbClr val="F1F5F9"/>
                    </a:solidFill>
                  </a:tcPr>
                </a:tc>
                <a:tc>
                  <a:txBody>
                    <a:bodyPr/>
                    <a:lstStyle/>
                    <a:p>
                      <a:pPr algn="ctr">
                        <a:defRPr sz="750" b="1">
                          <a:solidFill>
                            <a:srgbClr val="B0006D"/>
                          </a:solidFill>
                        </a:defRPr>
                      </a:pPr>
                      <a:r>
                        <a:t>1,029</a:t>
                      </a:r>
                    </a:p>
                  </a:txBody>
                  <a:tcPr>
                    <a:solidFill>
                      <a:srgbClr val="F1F5F9"/>
                    </a:solidFill>
                  </a:tcPr>
                </a:tc>
                <a:tc>
                  <a:txBody>
                    <a:bodyPr/>
                    <a:lstStyle/>
                    <a:p>
                      <a:pPr algn="ctr">
                        <a:defRPr sz="750" b="1">
                          <a:solidFill>
                            <a:srgbClr val="B0006D"/>
                          </a:solidFill>
                        </a:defRPr>
                      </a:pPr>
                      <a:r>
                        <a:t>56.3%</a:t>
                      </a:r>
                    </a:p>
                  </a:txBody>
                  <a:tcPr>
                    <a:solidFill>
                      <a:srgbClr val="F1F5F9"/>
                    </a:solidFill>
                  </a:tcPr>
                </a:tc>
              </a:tr>
            </a:tbl>
          </a:graphicData>
        </a:graphic>
      </p:graphicFrame>
      <p:sp>
        <p:nvSpPr>
          <p:cNvPr id="6" name="Rounded Rectangle 5"/>
          <p:cNvSpPr/>
          <p:nvPr/>
        </p:nvSpPr>
        <p:spPr>
          <a:xfrm>
            <a:off x="6949440" y="868680"/>
            <a:ext cx="4693615" cy="2926080"/>
          </a:xfrm>
          <a:prstGeom prst="roundRect">
            <a:avLst/>
          </a:prstGeom>
          <a:solidFill>
            <a:srgbClr val="F8FAFC"/>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040880" y="896112"/>
            <a:ext cx="4510735" cy="228600"/>
          </a:xfrm>
          <a:prstGeom prst="rect">
            <a:avLst/>
          </a:prstGeom>
          <a:noFill/>
        </p:spPr>
        <p:txBody>
          <a:bodyPr wrap="none">
            <a:spAutoFit/>
          </a:bodyPr>
          <a:lstStyle/>
          <a:p>
            <a:pPr algn="ctr">
              <a:defRPr sz="850" b="1">
                <a:solidFill>
                  <a:srgbClr val="B0006D"/>
                </a:solidFill>
              </a:defRPr>
            </a:pPr>
            <a:r>
              <a:t>FULL END-TO-END FUNNEL (VIEW ➔ CLICK ➔ INSTALL ➔ MAU)</a:t>
            </a:r>
          </a:p>
        </p:txBody>
      </p:sp>
      <p:sp>
        <p:nvSpPr>
          <p:cNvPr id="8" name="Rounded Rectangle 7"/>
          <p:cNvSpPr/>
          <p:nvPr/>
        </p:nvSpPr>
        <p:spPr>
          <a:xfrm>
            <a:off x="7223760" y="1152144"/>
            <a:ext cx="4297680" cy="292608"/>
          </a:xfrm>
          <a:prstGeom prst="roundRect">
            <a:avLst/>
          </a:prstGeom>
          <a:solidFill>
            <a:srgbClr val="47556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750" b="1">
                <a:solidFill>
                  <a:srgbClr val="FFFFFF"/>
                </a:solidFill>
              </a:defRPr>
            </a:pPr>
            <a:r>
              <a:t>1. AD VIEWS (IMP): 1,799,806 (100%)</a:t>
            </a:r>
          </a:p>
        </p:txBody>
      </p:sp>
      <p:sp>
        <p:nvSpPr>
          <p:cNvPr id="9" name="Rounded Rectangle 8"/>
          <p:cNvSpPr/>
          <p:nvPr/>
        </p:nvSpPr>
        <p:spPr>
          <a:xfrm>
            <a:off x="7498079" y="1572768"/>
            <a:ext cx="3749039" cy="292608"/>
          </a:xfrm>
          <a:prstGeom prst="roundRect">
            <a:avLst/>
          </a:prstGeom>
          <a:solidFill>
            <a:srgbClr val="0284C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750" b="1">
                <a:solidFill>
                  <a:srgbClr val="FFFFFF"/>
                </a:solidFill>
              </a:defRPr>
            </a:pPr>
            <a:r>
              <a:t>2. AD CLICKS: 61,927 (CTR: 3.44%)</a:t>
            </a:r>
          </a:p>
        </p:txBody>
      </p:sp>
      <p:sp>
        <p:nvSpPr>
          <p:cNvPr id="10" name="Rounded Rectangle 9"/>
          <p:cNvSpPr/>
          <p:nvPr/>
        </p:nvSpPr>
        <p:spPr>
          <a:xfrm>
            <a:off x="7772400" y="1993392"/>
            <a:ext cx="3200400" cy="292608"/>
          </a:xfrm>
          <a:prstGeom prst="roundRect">
            <a:avLst/>
          </a:prstGeom>
          <a:solidFill>
            <a:srgbClr val="B0006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750" b="1">
                <a:solidFill>
                  <a:srgbClr val="FFFFFF"/>
                </a:solidFill>
              </a:defRPr>
            </a:pPr>
            <a:r>
              <a:t>3. APP INSTALLS: 10,058 (CR: 16.24%)</a:t>
            </a:r>
          </a:p>
        </p:txBody>
      </p:sp>
      <p:sp>
        <p:nvSpPr>
          <p:cNvPr id="11" name="Rounded Rectangle 10"/>
          <p:cNvSpPr/>
          <p:nvPr/>
        </p:nvSpPr>
        <p:spPr>
          <a:xfrm>
            <a:off x="8046720" y="2414016"/>
            <a:ext cx="2651760" cy="292608"/>
          </a:xfrm>
          <a:prstGeom prst="roundRect">
            <a:avLst/>
          </a:prstGeom>
          <a:solidFill>
            <a:srgbClr val="C026D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750" b="1">
                <a:solidFill>
                  <a:srgbClr val="FFFFFF"/>
                </a:solidFill>
              </a:defRPr>
            </a:pPr>
            <a:r>
              <a:t>4. ĐĂNG KÝ (REG): 3,229 (CR: 32.10%)</a:t>
            </a:r>
          </a:p>
        </p:txBody>
      </p:sp>
      <p:sp>
        <p:nvSpPr>
          <p:cNvPr id="12" name="Rounded Rectangle 11"/>
          <p:cNvSpPr/>
          <p:nvPr/>
        </p:nvSpPr>
        <p:spPr>
          <a:xfrm>
            <a:off x="8321040" y="2834640"/>
            <a:ext cx="2103120" cy="292608"/>
          </a:xfrm>
          <a:prstGeom prst="roundRect">
            <a:avLst/>
          </a:prstGeom>
          <a:solidFill>
            <a:srgbClr val="E11D4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750" b="1">
                <a:solidFill>
                  <a:srgbClr val="FFFFFF"/>
                </a:solidFill>
              </a:defRPr>
            </a:pPr>
            <a:r>
              <a:t>5. MAP BANK: 1,818 (CR: 56.30% | iOS 71.3%)</a:t>
            </a:r>
          </a:p>
        </p:txBody>
      </p:sp>
      <p:sp>
        <p:nvSpPr>
          <p:cNvPr id="13" name="Rounded Rectangle 12"/>
          <p:cNvSpPr/>
          <p:nvPr/>
        </p:nvSpPr>
        <p:spPr>
          <a:xfrm>
            <a:off x="8549640" y="3255264"/>
            <a:ext cx="1645920" cy="292608"/>
          </a:xfrm>
          <a:prstGeom prst="roundRect">
            <a:avLst/>
          </a:prstGeom>
          <a:solidFill>
            <a:srgbClr val="9D174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750" b="1">
                <a:solidFill>
                  <a:srgbClr val="FFFFFF"/>
                </a:solidFill>
              </a:defRPr>
            </a:pPr>
            <a:r>
              <a:t>6. MAU ACTIVE: 1,029 (CR: 56.60%)</a:t>
            </a:r>
          </a:p>
        </p:txBody>
      </p:sp>
      <p:sp>
        <p:nvSpPr>
          <p:cNvPr id="14" name="TextBox 13"/>
          <p:cNvSpPr txBox="1"/>
          <p:nvPr/>
        </p:nvSpPr>
        <p:spPr>
          <a:xfrm>
            <a:off x="7040880" y="3584448"/>
            <a:ext cx="4510735" cy="182880"/>
          </a:xfrm>
          <a:prstGeom prst="rect">
            <a:avLst/>
          </a:prstGeom>
          <a:noFill/>
        </p:spPr>
        <p:txBody>
          <a:bodyPr wrap="none">
            <a:spAutoFit/>
          </a:bodyPr>
          <a:lstStyle/>
          <a:p>
            <a:pPr algn="ctr">
              <a:defRPr sz="700" i="1">
                <a:solidFill>
                  <a:srgbClr val="334155"/>
                </a:solidFill>
              </a:defRPr>
            </a:pPr>
            <a:r>
              <a:t>End-to-End: 1.80M Views ➔ 10.058 Installs (0.56%) ➔ 1.029 MAU (0.06%)</a:t>
            </a:r>
          </a:p>
        </p:txBody>
      </p:sp>
      <p:sp>
        <p:nvSpPr>
          <p:cNvPr id="15" name="Rounded Rectangle 14"/>
          <p:cNvSpPr/>
          <p:nvPr/>
        </p:nvSpPr>
        <p:spPr>
          <a:xfrm>
            <a:off x="548640" y="3977639"/>
            <a:ext cx="11094415" cy="2606040"/>
          </a:xfrm>
          <a:prstGeom prst="roundRect">
            <a:avLst/>
          </a:prstGeom>
          <a:solidFill>
            <a:srgbClr val="F8FAFC"/>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182880" rIns="182880" tIns="137160" bIns="137160"/>
          <a:lstStyle/>
          <a:p>
            <a:pPr algn="ctr">
              <a:defRPr sz="850">
                <a:solidFill>
                  <a:srgbClr val="0F172A"/>
                </a:solidFill>
              </a:defRPr>
            </a:pPr>
            <a:r>
              <a:t>Executive Summary: Context &amp; Business Objectives: Mục tiêu H2/2026 đưa Kênh Web thành cửa ngõ thu hút New User chất lượng cao (target 20.000 - 30.000 Installs/tháng và 5.000 N2MM/tháng). Đánh giá Tháng 08/2026: Tháng đầu tiên đo lường Full Funnel Pipeline ghi nhận 10.058 Installs (chính thức vượt mốc 10K, gói CHAOMOMO chiếm &gt; 86% sản lượng). Tệp iOS chuyển đổi xuất sắc đạt đỉnh 71.27% Map/Reg (561 MAU, 923 Map); trong khi tệp Android gặp ma sát lớn ở bước đăng ký và liên kết ngân hàng.</a:t>
            </a:r>
          </a:p>
          <a:p>
            <a:pPr>
              <a:defRPr sz="800">
                <a:solidFill>
                  <a:srgbClr val="334155"/>
                </a:solidFill>
              </a:defRPr>
            </a:pPr>
            <a:r>
              <a:t>Problem Statement: Phân phối Ads đại trà ngoài Web: Web chủ yếu hiển thị banner chào mừng chung chung trên mọi trang mà chưa phân loại theo Intent Page hoặc Demand thực tế của từng Hub; việc đẩy người dùng thô về Store mà chưa cá nhân hóa quà tặng gây rớt 67.90% từ Install sang REG.</a:t>
            </a:r>
          </a:p>
          <a:p>
            <a:pPr>
              <a:defRPr sz="800">
                <a:solidFill>
                  <a:srgbClr val="334155"/>
                </a:solidFill>
              </a:defRPr>
            </a:pPr>
            <a:r>
              <a:t>Hypothesis/Solutions: Triển khai Kiến trúc Hybrid 2 luồng: [1] Performance Fast Track đọc tham số ?intent= nhả ngay quà cho Paid Ads; [2] Interactive Track với Giỏ quà tự chọn ('Đi Chợ Quà' 3/10 thẻ quà) &amp; Vibe Quiz 1-Click cho Organic/Direct. Tích hợp OneLink mã hóa payload đón người dùng vào App.</a:t>
            </a:r>
          </a:p>
          <a:p>
            <a:pPr>
              <a:defRPr sz="850" b="1">
                <a:solidFill>
                  <a:srgbClr val="B0006D"/>
                </a:solidFill>
              </a:defRPr>
            </a:pPr>
            <a:r>
              <a:t>Next Steps (Tháng 09/2026): [1] Go-live Master Hub momo.vn/welcome với kiến trúc Hybrid 2 luồng trước ngày 20/09; [2] Phân loại CTA theo Intent Page (Cinema vé 0đ, Phạt Nguội gói 500K, Student Data 4G); [3] Chuyển Balloon Ads thành Sticky Footer Contextual Bar thông minh.</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182880"/>
            <a:ext cx="7772400" cy="228600"/>
          </a:xfrm>
          <a:prstGeom prst="rect">
            <a:avLst/>
          </a:prstGeom>
          <a:noFill/>
        </p:spPr>
        <p:txBody>
          <a:bodyPr wrap="none">
            <a:spAutoFit/>
          </a:bodyPr>
          <a:lstStyle/>
          <a:p>
            <a:pPr>
              <a:defRPr sz="900" b="1">
                <a:solidFill>
                  <a:srgbClr val="B0006D"/>
                </a:solidFill>
              </a:defRPr>
            </a:pPr>
            <a:r>
              <a:t>GROWTH PLATFORM DIVISION · WEB PLATFORM</a:t>
            </a:r>
          </a:p>
        </p:txBody>
      </p:sp>
      <p:sp>
        <p:nvSpPr>
          <p:cNvPr id="3" name="Rounded Rectangle 2"/>
          <p:cNvSpPr/>
          <p:nvPr/>
        </p:nvSpPr>
        <p:spPr>
          <a:xfrm>
            <a:off x="9692640" y="182880"/>
            <a:ext cx="1950415" cy="320040"/>
          </a:xfrm>
          <a:prstGeom prst="roundRect">
            <a:avLst/>
          </a:prstGeom>
          <a:solidFill>
            <a:srgbClr val="0284C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900" b="1">
                <a:solidFill>
                  <a:srgbClr val="FFFFFF"/>
                </a:solidFill>
              </a:defRPr>
            </a:pPr>
            <a:r>
              <a:t>[R] REPORTING</a:t>
            </a:r>
          </a:p>
        </p:txBody>
      </p:sp>
      <p:sp>
        <p:nvSpPr>
          <p:cNvPr id="4" name="TextBox 3"/>
          <p:cNvSpPr txBox="1"/>
          <p:nvPr/>
        </p:nvSpPr>
        <p:spPr>
          <a:xfrm>
            <a:off x="548640" y="384048"/>
            <a:ext cx="8961120" cy="411480"/>
          </a:xfrm>
          <a:prstGeom prst="rect">
            <a:avLst/>
          </a:prstGeom>
          <a:noFill/>
        </p:spPr>
        <p:txBody>
          <a:bodyPr wrap="none">
            <a:spAutoFit/>
          </a:bodyPr>
          <a:lstStyle/>
          <a:p>
            <a:pPr>
              <a:defRPr sz="1700" b="1">
                <a:solidFill>
                  <a:srgbClr val="0F172A"/>
                </a:solidFill>
              </a:defRPr>
            </a:pPr>
            <a:r>
              <a:t>NEW USER PERFORMANCE: XU HƯỚNG INSTALL (T6 - T8) &amp; PHỄU CHUYỂN ĐỔI ADS</a:t>
            </a:r>
          </a:p>
        </p:txBody>
      </p:sp>
      <p:graphicFrame>
        <p:nvGraphicFramePr>
          <p:cNvPr id="5" name="Table 4"/>
          <p:cNvGraphicFramePr>
            <a:graphicFrameLocks noGrp="1"/>
          </p:cNvGraphicFramePr>
          <p:nvPr/>
        </p:nvGraphicFramePr>
        <p:xfrm>
          <a:off x="548640" y="868680"/>
          <a:ext cx="5303520" cy="2926080"/>
        </p:xfrm>
        <a:graphic>
          <a:graphicData uri="http://schemas.openxmlformats.org/drawingml/2006/table">
            <a:tbl>
              <a:tblPr firstRow="1" bandRow="1">
                <a:tableStyleId>{5C22544A-7EE6-4342-B048-85BDC9FD1C3A}</a:tableStyleId>
              </a:tblPr>
              <a:tblGrid>
                <a:gridCol w="1645920"/>
                <a:gridCol w="914400"/>
                <a:gridCol w="914400"/>
                <a:gridCol w="914400"/>
                <a:gridCol w="914400"/>
              </a:tblGrid>
              <a:tr h="731520">
                <a:tc>
                  <a:txBody>
                    <a:bodyPr/>
                    <a:lstStyle/>
                    <a:p>
                      <a:pPr algn="ctr">
                        <a:defRPr sz="800" b="1">
                          <a:solidFill>
                            <a:srgbClr val="FFFFFF"/>
                          </a:solidFill>
                        </a:defRPr>
                      </a:pPr>
                      <a:r>
                        <a:t>Tháng</a:t>
                      </a:r>
                    </a:p>
                  </a:txBody>
                  <a:tcPr>
                    <a:solidFill>
                      <a:srgbClr val="B0006D"/>
                    </a:solidFill>
                  </a:tcPr>
                </a:tc>
                <a:tc>
                  <a:txBody>
                    <a:bodyPr/>
                    <a:lstStyle/>
                    <a:p>
                      <a:pPr algn="ctr">
                        <a:defRPr sz="800" b="1">
                          <a:solidFill>
                            <a:srgbClr val="FFFFFF"/>
                          </a:solidFill>
                        </a:defRPr>
                      </a:pPr>
                      <a:r>
                        <a:t>Installs</a:t>
                      </a:r>
                    </a:p>
                  </a:txBody>
                  <a:tcPr>
                    <a:solidFill>
                      <a:srgbClr val="B0006D"/>
                    </a:solidFill>
                  </a:tcPr>
                </a:tc>
                <a:tc>
                  <a:txBody>
                    <a:bodyPr/>
                    <a:lstStyle/>
                    <a:p>
                      <a:pPr algn="ctr">
                        <a:defRPr sz="800" b="1">
                          <a:solidFill>
                            <a:srgbClr val="FFFFFF"/>
                          </a:solidFill>
                        </a:defRPr>
                      </a:pPr>
                      <a:r>
                        <a:t>Net Add</a:t>
                      </a:r>
                    </a:p>
                  </a:txBody>
                  <a:tcPr>
                    <a:solidFill>
                      <a:srgbClr val="B0006D"/>
                    </a:solidFill>
                  </a:tcPr>
                </a:tc>
                <a:tc>
                  <a:txBody>
                    <a:bodyPr/>
                    <a:lstStyle/>
                    <a:p>
                      <a:pPr algn="ctr">
                        <a:defRPr sz="800" b="1">
                          <a:solidFill>
                            <a:srgbClr val="FFFFFF"/>
                          </a:solidFill>
                        </a:defRPr>
                      </a:pPr>
                      <a:r>
                        <a:t>MoM %</a:t>
                      </a:r>
                    </a:p>
                  </a:txBody>
                  <a:tcPr>
                    <a:solidFill>
                      <a:srgbClr val="B0006D"/>
                    </a:solidFill>
                  </a:tcPr>
                </a:tc>
                <a:tc>
                  <a:txBody>
                    <a:bodyPr/>
                    <a:lstStyle/>
                    <a:p>
                      <a:pPr algn="ctr">
                        <a:defRPr sz="800" b="1">
                          <a:solidFill>
                            <a:srgbClr val="FFFFFF"/>
                          </a:solidFill>
                        </a:defRPr>
                      </a:pPr>
                      <a:r>
                        <a:t>Trọng Tâm</a:t>
                      </a:r>
                    </a:p>
                  </a:txBody>
                  <a:tcPr>
                    <a:solidFill>
                      <a:srgbClr val="B0006D"/>
                    </a:solidFill>
                  </a:tcPr>
                </a:tc>
              </a:tr>
              <a:tr h="731520">
                <a:tc>
                  <a:txBody>
                    <a:bodyPr/>
                    <a:lstStyle/>
                    <a:p>
                      <a:pPr algn="l">
                        <a:defRPr sz="800"/>
                      </a:pPr>
                      <a:r>
                        <a:t>Tháng 6</a:t>
                      </a:r>
                    </a:p>
                  </a:txBody>
                  <a:tcPr>
                    <a:solidFill>
                      <a:srgbClr val="FFFFFF"/>
                    </a:solidFill>
                  </a:tcPr>
                </a:tc>
                <a:tc>
                  <a:txBody>
                    <a:bodyPr/>
                    <a:lstStyle/>
                    <a:p>
                      <a:pPr algn="ctr">
                        <a:defRPr sz="800"/>
                      </a:pPr>
                      <a:r>
                        <a:t>4,486</a:t>
                      </a:r>
                    </a:p>
                  </a:txBody>
                  <a:tcPr>
                    <a:solidFill>
                      <a:srgbClr val="FFFFFF"/>
                    </a:solidFill>
                  </a:tcPr>
                </a:tc>
                <a:tc>
                  <a:txBody>
                    <a:bodyPr/>
                    <a:lstStyle/>
                    <a:p>
                      <a:pPr algn="ctr">
                        <a:defRPr sz="800"/>
                      </a:pPr>
                      <a:r>
                        <a:t>+2,749</a:t>
                      </a:r>
                    </a:p>
                  </a:txBody>
                  <a:tcPr>
                    <a:solidFill>
                      <a:srgbClr val="FFFFFF"/>
                    </a:solidFill>
                  </a:tcPr>
                </a:tc>
                <a:tc>
                  <a:txBody>
                    <a:bodyPr/>
                    <a:lstStyle/>
                    <a:p>
                      <a:pPr algn="ctr">
                        <a:defRPr sz="800" b="1">
                          <a:solidFill>
                            <a:srgbClr val="16A34A"/>
                          </a:solidFill>
                        </a:defRPr>
                      </a:pPr>
                      <a:r>
                        <a:t>+158.3%</a:t>
                      </a:r>
                    </a:p>
                  </a:txBody>
                  <a:tcPr>
                    <a:solidFill>
                      <a:srgbClr val="FFFFFF"/>
                    </a:solidFill>
                  </a:tcPr>
                </a:tc>
                <a:tc>
                  <a:txBody>
                    <a:bodyPr/>
                    <a:lstStyle/>
                    <a:p>
                      <a:pPr algn="ctr">
                        <a:defRPr sz="800"/>
                      </a:pPr>
                      <a:r>
                        <a:t>Thử nghiệm Balloon</a:t>
                      </a:r>
                    </a:p>
                  </a:txBody>
                  <a:tcPr>
                    <a:solidFill>
                      <a:srgbClr val="FFFFFF"/>
                    </a:solidFill>
                  </a:tcPr>
                </a:tc>
              </a:tr>
              <a:tr h="731520">
                <a:tc>
                  <a:txBody>
                    <a:bodyPr/>
                    <a:lstStyle/>
                    <a:p>
                      <a:pPr algn="l">
                        <a:defRPr sz="800"/>
                      </a:pPr>
                      <a:r>
                        <a:t>Tháng 7</a:t>
                      </a:r>
                    </a:p>
                  </a:txBody>
                  <a:tcPr>
                    <a:solidFill>
                      <a:srgbClr val="F8FAFC"/>
                    </a:solidFill>
                  </a:tcPr>
                </a:tc>
                <a:tc>
                  <a:txBody>
                    <a:bodyPr/>
                    <a:lstStyle/>
                    <a:p>
                      <a:pPr algn="ctr">
                        <a:defRPr sz="800"/>
                      </a:pPr>
                      <a:r>
                        <a:t>5,242</a:t>
                      </a:r>
                    </a:p>
                  </a:txBody>
                  <a:tcPr>
                    <a:solidFill>
                      <a:srgbClr val="F8FAFC"/>
                    </a:solidFill>
                  </a:tcPr>
                </a:tc>
                <a:tc>
                  <a:txBody>
                    <a:bodyPr/>
                    <a:lstStyle/>
                    <a:p>
                      <a:pPr algn="ctr">
                        <a:defRPr sz="800"/>
                      </a:pPr>
                      <a:r>
                        <a:t>+756</a:t>
                      </a:r>
                    </a:p>
                  </a:txBody>
                  <a:tcPr>
                    <a:solidFill>
                      <a:srgbClr val="F8FAFC"/>
                    </a:solidFill>
                  </a:tcPr>
                </a:tc>
                <a:tc>
                  <a:txBody>
                    <a:bodyPr/>
                    <a:lstStyle/>
                    <a:p>
                      <a:pPr algn="ctr">
                        <a:defRPr sz="800" b="1">
                          <a:solidFill>
                            <a:srgbClr val="16A34A"/>
                          </a:solidFill>
                        </a:defRPr>
                      </a:pPr>
                      <a:r>
                        <a:t>+16.9%</a:t>
                      </a:r>
                    </a:p>
                  </a:txBody>
                  <a:tcPr>
                    <a:solidFill>
                      <a:srgbClr val="F8FAFC"/>
                    </a:solidFill>
                  </a:tcPr>
                </a:tc>
                <a:tc>
                  <a:txBody>
                    <a:bodyPr/>
                    <a:lstStyle/>
                    <a:p>
                      <a:pPr algn="ctr">
                        <a:defRPr sz="800"/>
                      </a:pPr>
                      <a:r>
                        <a:t>Mở rộng CHAOMOMO</a:t>
                      </a:r>
                    </a:p>
                  </a:txBody>
                  <a:tcPr>
                    <a:solidFill>
                      <a:srgbClr val="F8FAFC"/>
                    </a:solidFill>
                  </a:tcPr>
                </a:tc>
              </a:tr>
              <a:tr h="731520">
                <a:tc>
                  <a:txBody>
                    <a:bodyPr/>
                    <a:lstStyle/>
                    <a:p>
                      <a:pPr algn="l">
                        <a:defRPr sz="800" b="1"/>
                      </a:pPr>
                      <a:r>
                        <a:t>Tháng 8</a:t>
                      </a:r>
                    </a:p>
                  </a:txBody>
                  <a:tcPr>
                    <a:solidFill>
                      <a:srgbClr val="FDF2F8"/>
                    </a:solidFill>
                  </a:tcPr>
                </a:tc>
                <a:tc>
                  <a:txBody>
                    <a:bodyPr/>
                    <a:lstStyle/>
                    <a:p>
                      <a:pPr algn="ctr">
                        <a:defRPr sz="800" b="1">
                          <a:solidFill>
                            <a:srgbClr val="B0006D"/>
                          </a:solidFill>
                        </a:defRPr>
                      </a:pPr>
                      <a:r>
                        <a:t>10,058</a:t>
                      </a:r>
                    </a:p>
                  </a:txBody>
                  <a:tcPr>
                    <a:solidFill>
                      <a:srgbClr val="FDF2F8"/>
                    </a:solidFill>
                  </a:tcPr>
                </a:tc>
                <a:tc>
                  <a:txBody>
                    <a:bodyPr/>
                    <a:lstStyle/>
                    <a:p>
                      <a:pPr algn="ctr">
                        <a:defRPr sz="800" b="1">
                          <a:solidFill>
                            <a:srgbClr val="B0006D"/>
                          </a:solidFill>
                        </a:defRPr>
                      </a:pPr>
                      <a:r>
                        <a:t>+4,816</a:t>
                      </a:r>
                    </a:p>
                  </a:txBody>
                  <a:tcPr>
                    <a:solidFill>
                      <a:srgbClr val="FDF2F8"/>
                    </a:solidFill>
                  </a:tcPr>
                </a:tc>
                <a:tc>
                  <a:txBody>
                    <a:bodyPr/>
                    <a:lstStyle/>
                    <a:p>
                      <a:pPr algn="ctr">
                        <a:defRPr sz="800" b="1">
                          <a:solidFill>
                            <a:srgbClr val="16A34A"/>
                          </a:solidFill>
                        </a:defRPr>
                      </a:pPr>
                      <a:r>
                        <a:t>+91.9%</a:t>
                      </a:r>
                    </a:p>
                  </a:txBody>
                  <a:tcPr>
                    <a:solidFill>
                      <a:srgbClr val="FDF2F8"/>
                    </a:solidFill>
                  </a:tcPr>
                </a:tc>
                <a:tc>
                  <a:txBody>
                    <a:bodyPr/>
                    <a:lstStyle/>
                    <a:p>
                      <a:pPr algn="ctr">
                        <a:defRPr sz="800" b="1">
                          <a:solidFill>
                            <a:srgbClr val="B0006D"/>
                          </a:solidFill>
                        </a:defRPr>
                      </a:pPr>
                      <a:r>
                        <a:t>Paid Social Scale-up</a:t>
                      </a:r>
                    </a:p>
                  </a:txBody>
                  <a:tcPr>
                    <a:solidFill>
                      <a:srgbClr val="FDF2F8"/>
                    </a:solidFill>
                  </a:tcPr>
                </a:tc>
              </a:tr>
            </a:tbl>
          </a:graphicData>
        </a:graphic>
      </p:graphicFrame>
      <p:graphicFrame>
        <p:nvGraphicFramePr>
          <p:cNvPr id="6" name="Table 5"/>
          <p:cNvGraphicFramePr>
            <a:graphicFrameLocks noGrp="1"/>
          </p:cNvGraphicFramePr>
          <p:nvPr/>
        </p:nvGraphicFramePr>
        <p:xfrm>
          <a:off x="6035040" y="868680"/>
          <a:ext cx="5608015" cy="2926080"/>
        </p:xfrm>
        <a:graphic>
          <a:graphicData uri="http://schemas.openxmlformats.org/drawingml/2006/table">
            <a:tbl>
              <a:tblPr firstRow="1" bandRow="1">
                <a:tableStyleId>{5C22544A-7EE6-4342-B048-85BDC9FD1C3A}</a:tableStyleId>
              </a:tblPr>
              <a:tblGrid>
                <a:gridCol w="1584655"/>
                <a:gridCol w="822960"/>
                <a:gridCol w="777240"/>
                <a:gridCol w="777240"/>
                <a:gridCol w="822960"/>
                <a:gridCol w="822960"/>
              </a:tblGrid>
              <a:tr h="585216">
                <a:tc>
                  <a:txBody>
                    <a:bodyPr/>
                    <a:lstStyle/>
                    <a:p>
                      <a:pPr algn="ctr">
                        <a:defRPr sz="750" b="1">
                          <a:solidFill>
                            <a:srgbClr val="FFFFFF"/>
                          </a:solidFill>
                        </a:defRPr>
                      </a:pPr>
                      <a:r>
                        <a:t>Chiến Dịch Ads</a:t>
                      </a:r>
                    </a:p>
                  </a:txBody>
                  <a:tcPr>
                    <a:solidFill>
                      <a:srgbClr val="475569"/>
                    </a:solidFill>
                  </a:tcPr>
                </a:tc>
                <a:tc>
                  <a:txBody>
                    <a:bodyPr/>
                    <a:lstStyle/>
                    <a:p>
                      <a:pPr algn="ctr">
                        <a:defRPr sz="750" b="1">
                          <a:solidFill>
                            <a:srgbClr val="FFFFFF"/>
                          </a:solidFill>
                        </a:defRPr>
                      </a:pPr>
                      <a:r>
                        <a:t>Ad Views</a:t>
                      </a:r>
                    </a:p>
                  </a:txBody>
                  <a:tcPr>
                    <a:solidFill>
                      <a:srgbClr val="475569"/>
                    </a:solidFill>
                  </a:tcPr>
                </a:tc>
                <a:tc>
                  <a:txBody>
                    <a:bodyPr/>
                    <a:lstStyle/>
                    <a:p>
                      <a:pPr algn="ctr">
                        <a:defRPr sz="750" b="1">
                          <a:solidFill>
                            <a:srgbClr val="FFFFFF"/>
                          </a:solidFill>
                        </a:defRPr>
                      </a:pPr>
                      <a:r>
                        <a:t>Clicks</a:t>
                      </a:r>
                    </a:p>
                  </a:txBody>
                  <a:tcPr>
                    <a:solidFill>
                      <a:srgbClr val="475569"/>
                    </a:solidFill>
                  </a:tcPr>
                </a:tc>
                <a:tc>
                  <a:txBody>
                    <a:bodyPr/>
                    <a:lstStyle/>
                    <a:p>
                      <a:pPr algn="ctr">
                        <a:defRPr sz="750" b="1">
                          <a:solidFill>
                            <a:srgbClr val="FFFFFF"/>
                          </a:solidFill>
                        </a:defRPr>
                      </a:pPr>
                      <a:r>
                        <a:t>CTR %</a:t>
                      </a:r>
                    </a:p>
                  </a:txBody>
                  <a:tcPr>
                    <a:solidFill>
                      <a:srgbClr val="475569"/>
                    </a:solidFill>
                  </a:tcPr>
                </a:tc>
                <a:tc>
                  <a:txBody>
                    <a:bodyPr/>
                    <a:lstStyle/>
                    <a:p>
                      <a:pPr algn="ctr">
                        <a:defRPr sz="750" b="1">
                          <a:solidFill>
                            <a:srgbClr val="FFFFFF"/>
                          </a:solidFill>
                        </a:defRPr>
                      </a:pPr>
                      <a:r>
                        <a:t>Installs</a:t>
                      </a:r>
                    </a:p>
                  </a:txBody>
                  <a:tcPr>
                    <a:solidFill>
                      <a:srgbClr val="475569"/>
                    </a:solidFill>
                  </a:tcPr>
                </a:tc>
                <a:tc>
                  <a:txBody>
                    <a:bodyPr/>
                    <a:lstStyle/>
                    <a:p>
                      <a:pPr algn="ctr">
                        <a:defRPr sz="750" b="1">
                          <a:solidFill>
                            <a:srgbClr val="FFFFFF"/>
                          </a:solidFill>
                        </a:defRPr>
                      </a:pPr>
                      <a:r>
                        <a:t>CR (Ins/Clk)</a:t>
                      </a:r>
                    </a:p>
                  </a:txBody>
                  <a:tcPr>
                    <a:solidFill>
                      <a:srgbClr val="475569"/>
                    </a:solidFill>
                  </a:tcPr>
                </a:tc>
              </a:tr>
              <a:tr h="585216">
                <a:tc>
                  <a:txBody>
                    <a:bodyPr/>
                    <a:lstStyle/>
                    <a:p>
                      <a:pPr algn="l">
                        <a:defRPr sz="750"/>
                      </a:pPr>
                      <a:r>
                        <a:t>CHAOMOMO (Mass/TikTok)</a:t>
                      </a:r>
                    </a:p>
                  </a:txBody>
                  <a:tcPr>
                    <a:solidFill>
                      <a:srgbClr val="FFFFFF"/>
                    </a:solidFill>
                  </a:tcPr>
                </a:tc>
                <a:tc>
                  <a:txBody>
                    <a:bodyPr/>
                    <a:lstStyle/>
                    <a:p>
                      <a:pPr algn="ctr">
                        <a:defRPr sz="750"/>
                      </a:pPr>
                      <a:r>
                        <a:t>811,759</a:t>
                      </a:r>
                    </a:p>
                  </a:txBody>
                  <a:tcPr>
                    <a:solidFill>
                      <a:srgbClr val="FFFFFF"/>
                    </a:solidFill>
                  </a:tcPr>
                </a:tc>
                <a:tc>
                  <a:txBody>
                    <a:bodyPr/>
                    <a:lstStyle/>
                    <a:p>
                      <a:pPr algn="ctr">
                        <a:defRPr sz="750"/>
                      </a:pPr>
                      <a:r>
                        <a:t>43,689</a:t>
                      </a:r>
                    </a:p>
                  </a:txBody>
                  <a:tcPr>
                    <a:solidFill>
                      <a:srgbClr val="FFFFFF"/>
                    </a:solidFill>
                  </a:tcPr>
                </a:tc>
                <a:tc>
                  <a:txBody>
                    <a:bodyPr/>
                    <a:lstStyle/>
                    <a:p>
                      <a:pPr algn="ctr">
                        <a:defRPr sz="750" b="1"/>
                      </a:pPr>
                      <a:r>
                        <a:t>5.38%</a:t>
                      </a:r>
                    </a:p>
                  </a:txBody>
                  <a:tcPr>
                    <a:solidFill>
                      <a:srgbClr val="FFFFFF"/>
                    </a:solidFill>
                  </a:tcPr>
                </a:tc>
                <a:tc>
                  <a:txBody>
                    <a:bodyPr/>
                    <a:lstStyle/>
                    <a:p>
                      <a:pPr algn="ctr">
                        <a:defRPr sz="750"/>
                      </a:pPr>
                      <a:r>
                        <a:t>8,638</a:t>
                      </a:r>
                    </a:p>
                  </a:txBody>
                  <a:tcPr>
                    <a:solidFill>
                      <a:srgbClr val="FFFFFF"/>
                    </a:solidFill>
                  </a:tcPr>
                </a:tc>
                <a:tc>
                  <a:txBody>
                    <a:bodyPr/>
                    <a:lstStyle/>
                    <a:p>
                      <a:pPr algn="ctr">
                        <a:defRPr sz="750" b="1"/>
                      </a:pPr>
                      <a:r>
                        <a:t>19.77%</a:t>
                      </a:r>
                    </a:p>
                  </a:txBody>
                  <a:tcPr>
                    <a:solidFill>
                      <a:srgbClr val="FFFFFF"/>
                    </a:solidFill>
                  </a:tcPr>
                </a:tc>
              </a:tr>
              <a:tr h="585216">
                <a:tc>
                  <a:txBody>
                    <a:bodyPr/>
                    <a:lstStyle/>
                    <a:p>
                      <a:pPr algn="l">
                        <a:defRPr sz="750"/>
                      </a:pPr>
                      <a:r>
                        <a:t>PSN-CINEMA (Cụm Rạp)</a:t>
                      </a:r>
                    </a:p>
                  </a:txBody>
                  <a:tcPr>
                    <a:solidFill>
                      <a:srgbClr val="FDF2F8"/>
                    </a:solidFill>
                  </a:tcPr>
                </a:tc>
                <a:tc>
                  <a:txBody>
                    <a:bodyPr/>
                    <a:lstStyle/>
                    <a:p>
                      <a:pPr algn="ctr">
                        <a:defRPr sz="750"/>
                      </a:pPr>
                      <a:r>
                        <a:t>655,463</a:t>
                      </a:r>
                    </a:p>
                  </a:txBody>
                  <a:tcPr>
                    <a:solidFill>
                      <a:srgbClr val="FDF2F8"/>
                    </a:solidFill>
                  </a:tcPr>
                </a:tc>
                <a:tc>
                  <a:txBody>
                    <a:bodyPr/>
                    <a:lstStyle/>
                    <a:p>
                      <a:pPr algn="ctr">
                        <a:defRPr sz="750"/>
                      </a:pPr>
                      <a:r>
                        <a:t>6,093</a:t>
                      </a:r>
                    </a:p>
                  </a:txBody>
                  <a:tcPr>
                    <a:solidFill>
                      <a:srgbClr val="FDF2F8"/>
                    </a:solidFill>
                  </a:tcPr>
                </a:tc>
                <a:tc>
                  <a:txBody>
                    <a:bodyPr/>
                    <a:lstStyle/>
                    <a:p>
                      <a:pPr algn="ctr">
                        <a:defRPr sz="750" b="1"/>
                      </a:pPr>
                      <a:r>
                        <a:t>0.93%</a:t>
                      </a:r>
                    </a:p>
                  </a:txBody>
                  <a:tcPr>
                    <a:solidFill>
                      <a:srgbClr val="FDF2F8"/>
                    </a:solidFill>
                  </a:tcPr>
                </a:tc>
                <a:tc>
                  <a:txBody>
                    <a:bodyPr/>
                    <a:lstStyle/>
                    <a:p>
                      <a:pPr algn="ctr">
                        <a:defRPr sz="750"/>
                      </a:pPr>
                      <a:r>
                        <a:t>897</a:t>
                      </a:r>
                    </a:p>
                  </a:txBody>
                  <a:tcPr>
                    <a:solidFill>
                      <a:srgbClr val="FDF2F8"/>
                    </a:solidFill>
                  </a:tcPr>
                </a:tc>
                <a:tc>
                  <a:txBody>
                    <a:bodyPr/>
                    <a:lstStyle/>
                    <a:p>
                      <a:pPr algn="ctr">
                        <a:defRPr sz="750" b="1"/>
                      </a:pPr>
                      <a:r>
                        <a:t>14.72%</a:t>
                      </a:r>
                    </a:p>
                  </a:txBody>
                  <a:tcPr>
                    <a:solidFill>
                      <a:srgbClr val="FDF2F8"/>
                    </a:solidFill>
                  </a:tcPr>
                </a:tc>
              </a:tr>
              <a:tr h="585216">
                <a:tc>
                  <a:txBody>
                    <a:bodyPr/>
                    <a:lstStyle/>
                    <a:p>
                      <a:pPr algn="l">
                        <a:defRPr sz="750"/>
                      </a:pPr>
                      <a:r>
                        <a:t>Merchant &amp; Dịch Vụ Khác</a:t>
                      </a:r>
                    </a:p>
                  </a:txBody>
                  <a:tcPr>
                    <a:solidFill>
                      <a:srgbClr val="FFFFFF"/>
                    </a:solidFill>
                  </a:tcPr>
                </a:tc>
                <a:tc>
                  <a:txBody>
                    <a:bodyPr/>
                    <a:lstStyle/>
                    <a:p>
                      <a:pPr algn="ctr">
                        <a:defRPr sz="750"/>
                      </a:pPr>
                      <a:r>
                        <a:t>332,584</a:t>
                      </a:r>
                    </a:p>
                  </a:txBody>
                  <a:tcPr>
                    <a:solidFill>
                      <a:srgbClr val="FFFFFF"/>
                    </a:solidFill>
                  </a:tcPr>
                </a:tc>
                <a:tc>
                  <a:txBody>
                    <a:bodyPr/>
                    <a:lstStyle/>
                    <a:p>
                      <a:pPr algn="ctr">
                        <a:defRPr sz="750"/>
                      </a:pPr>
                      <a:r>
                        <a:t>12,145</a:t>
                      </a:r>
                    </a:p>
                  </a:txBody>
                  <a:tcPr>
                    <a:solidFill>
                      <a:srgbClr val="FFFFFF"/>
                    </a:solidFill>
                  </a:tcPr>
                </a:tc>
                <a:tc>
                  <a:txBody>
                    <a:bodyPr/>
                    <a:lstStyle/>
                    <a:p>
                      <a:pPr algn="ctr">
                        <a:defRPr sz="750" b="1"/>
                      </a:pPr>
                      <a:r>
                        <a:t>3.65%</a:t>
                      </a:r>
                    </a:p>
                  </a:txBody>
                  <a:tcPr>
                    <a:solidFill>
                      <a:srgbClr val="FFFFFF"/>
                    </a:solidFill>
                  </a:tcPr>
                </a:tc>
                <a:tc>
                  <a:txBody>
                    <a:bodyPr/>
                    <a:lstStyle/>
                    <a:p>
                      <a:pPr algn="ctr">
                        <a:defRPr sz="750"/>
                      </a:pPr>
                      <a:r>
                        <a:t>523</a:t>
                      </a:r>
                    </a:p>
                  </a:txBody>
                  <a:tcPr>
                    <a:solidFill>
                      <a:srgbClr val="FFFFFF"/>
                    </a:solidFill>
                  </a:tcPr>
                </a:tc>
                <a:tc>
                  <a:txBody>
                    <a:bodyPr/>
                    <a:lstStyle/>
                    <a:p>
                      <a:pPr algn="ctr">
                        <a:defRPr sz="750" b="1"/>
                      </a:pPr>
                      <a:r>
                        <a:t>4.31%</a:t>
                      </a:r>
                    </a:p>
                  </a:txBody>
                  <a:tcPr>
                    <a:solidFill>
                      <a:srgbClr val="FFFFFF"/>
                    </a:solidFill>
                  </a:tcPr>
                </a:tc>
              </a:tr>
              <a:tr h="585216">
                <a:tc>
                  <a:txBody>
                    <a:bodyPr/>
                    <a:lstStyle/>
                    <a:p>
                      <a:pPr algn="l">
                        <a:defRPr sz="750" b="1"/>
                      </a:pPr>
                      <a:r>
                        <a:t>GRAND TOTAL (TOÀN SÀN)</a:t>
                      </a:r>
                    </a:p>
                  </a:txBody>
                  <a:tcPr>
                    <a:solidFill>
                      <a:srgbClr val="F1F5F9"/>
                    </a:solidFill>
                  </a:tcPr>
                </a:tc>
                <a:tc>
                  <a:txBody>
                    <a:bodyPr/>
                    <a:lstStyle/>
                    <a:p>
                      <a:pPr algn="ctr">
                        <a:defRPr sz="750" b="1">
                          <a:solidFill>
                            <a:srgbClr val="B0006D"/>
                          </a:solidFill>
                        </a:defRPr>
                      </a:pPr>
                      <a:r>
                        <a:t>1,799,806</a:t>
                      </a:r>
                    </a:p>
                  </a:txBody>
                  <a:tcPr>
                    <a:solidFill>
                      <a:srgbClr val="F1F5F9"/>
                    </a:solidFill>
                  </a:tcPr>
                </a:tc>
                <a:tc>
                  <a:txBody>
                    <a:bodyPr/>
                    <a:lstStyle/>
                    <a:p>
                      <a:pPr algn="ctr">
                        <a:defRPr sz="750" b="1">
                          <a:solidFill>
                            <a:srgbClr val="B0006D"/>
                          </a:solidFill>
                        </a:defRPr>
                      </a:pPr>
                      <a:r>
                        <a:t>61,927</a:t>
                      </a:r>
                    </a:p>
                  </a:txBody>
                  <a:tcPr>
                    <a:solidFill>
                      <a:srgbClr val="F1F5F9"/>
                    </a:solidFill>
                  </a:tcPr>
                </a:tc>
                <a:tc>
                  <a:txBody>
                    <a:bodyPr/>
                    <a:lstStyle/>
                    <a:p>
                      <a:pPr algn="ctr">
                        <a:defRPr sz="750" b="1">
                          <a:solidFill>
                            <a:srgbClr val="B0006D"/>
                          </a:solidFill>
                        </a:defRPr>
                      </a:pPr>
                      <a:r>
                        <a:t>3.44%</a:t>
                      </a:r>
                    </a:p>
                  </a:txBody>
                  <a:tcPr>
                    <a:solidFill>
                      <a:srgbClr val="F1F5F9"/>
                    </a:solidFill>
                  </a:tcPr>
                </a:tc>
                <a:tc>
                  <a:txBody>
                    <a:bodyPr/>
                    <a:lstStyle/>
                    <a:p>
                      <a:pPr algn="ctr">
                        <a:defRPr sz="750" b="1">
                          <a:solidFill>
                            <a:srgbClr val="B0006D"/>
                          </a:solidFill>
                        </a:defRPr>
                      </a:pPr>
                      <a:r>
                        <a:t>10,058</a:t>
                      </a:r>
                    </a:p>
                  </a:txBody>
                  <a:tcPr>
                    <a:solidFill>
                      <a:srgbClr val="F1F5F9"/>
                    </a:solidFill>
                  </a:tcPr>
                </a:tc>
                <a:tc>
                  <a:txBody>
                    <a:bodyPr/>
                    <a:lstStyle/>
                    <a:p>
                      <a:pPr algn="ctr">
                        <a:defRPr sz="750" b="1">
                          <a:solidFill>
                            <a:srgbClr val="B0006D"/>
                          </a:solidFill>
                        </a:defRPr>
                      </a:pPr>
                      <a:r>
                        <a:t>16.24%</a:t>
                      </a:r>
                    </a:p>
                  </a:txBody>
                  <a:tcPr>
                    <a:solidFill>
                      <a:srgbClr val="F1F5F9"/>
                    </a:solidFill>
                  </a:tcPr>
                </a:tc>
              </a:tr>
            </a:tbl>
          </a:graphicData>
        </a:graphic>
      </p:graphicFrame>
      <p:sp>
        <p:nvSpPr>
          <p:cNvPr id="7" name="Rounded Rectangle 6"/>
          <p:cNvSpPr/>
          <p:nvPr/>
        </p:nvSpPr>
        <p:spPr>
          <a:xfrm>
            <a:off x="548640" y="3977639"/>
            <a:ext cx="11094415" cy="2606040"/>
          </a:xfrm>
          <a:prstGeom prst="roundRect">
            <a:avLst/>
          </a:prstGeom>
          <a:solidFill>
            <a:srgbClr val="F8FAFC"/>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182880" rIns="182880" tIns="137160" bIns="137160"/>
          <a:lstStyle/>
          <a:p>
            <a:pPr algn="ctr">
              <a:defRPr sz="850">
                <a:solidFill>
                  <a:srgbClr val="0F172A"/>
                </a:solidFill>
              </a:defRPr>
            </a:pPr>
            <a:r>
              <a:t>Executive Summary: Context: Đánh giá chuỗi tăng trưởng 3 tháng liên tiếp (T6 -&gt; T8) và hiệu suất phễu quảng cáo (Ad Funnel: View -&gt; Click -&gt; Install) để đo lường sức hút của kênh Web. Kết quả: Lượt cài đặt tăng từ 4.486 (T6) lên 5.242 (T7) và đạt đỉnh 10.058 installs (T8, +91.9% MoM), tăng gấp 2.24 lần sau 3 tháng. Toàn sàn ghi nhận 1.80M Ad Views mang lại 61.9K Clicks (CTR 3.44%) và chuyển hóa thành 10.058 Installs (CR Install/Click đạt 16.24%).</a:t>
            </a:r>
          </a:p>
          <a:p>
            <a:pPr>
              <a:defRPr sz="800">
                <a:solidFill>
                  <a:srgbClr val="334155"/>
                </a:solidFill>
              </a:defRPr>
            </a:pPr>
            <a:r>
              <a:t>Problem Statement: Tăng trưởng 3 tháng qua chủ yếu dựa vào mở rộng hiển thị Ads đại trà (gói CHAOMOMO chiếm &gt; 86% sản lượng), dẫn đến hiện tượng loãng tệp: Khi số lượng Install tăng đột biến thì tỷ lệ rớt sau tải lên tới 67.90% (chỉ 32.10% chuyển sang REG). Tại Cinema, dù đạt 655K views nhưng CTR chỉ 0.93% và có tới 21.3K lượt tắt pop-up (Dismiss Rate 3.25%).</a:t>
            </a:r>
          </a:p>
          <a:p>
            <a:pPr>
              <a:defRPr sz="800">
                <a:solidFill>
                  <a:srgbClr val="334155"/>
                </a:solidFill>
              </a:defRPr>
            </a:pPr>
            <a:r>
              <a:t>Hypothesis/Solutions: Chuyển dịch trọng tâm từ 'Kéo Install thô bằng Ads đại trà' sang 'Tối ưu chất lượng chuyển đổi Web-to-App theo Intent Hub': Bỏ Balloon Ads gây che màn hình, chuyển sang Sticky Footer Bar và phân phối gói quà chuyên biệt (Vé phim 0đ tại Cinema, Gói tiện ích tại Phạt Nguội, Data 4G tại Student Hub) qua OneLink.</a:t>
            </a:r>
          </a:p>
          <a:p>
            <a:pPr>
              <a:defRPr sz="850" b="1">
                <a:solidFill>
                  <a:srgbClr val="B0006D"/>
                </a:solidFill>
              </a:defRPr>
            </a:pPr>
            <a:r>
              <a:t>Next Steps (Tháng 09/2026): [1] Duy trì baseline &gt;= 10.000 Installs/tháng nhưng tái cơ cấu nguồn phân bổ quà tặng theo 3 Intent Pages chính; [2] Triển khai A/B Testing luồng Onboarding cá nhân hóa trên 30% lưu lượng Paid Social; [3] Chuyển đổi chỉ số đo lường hiệu quả chiến dịch từ CAC/Install sang CAC/N2MM và CAC/MAU thực tế.</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182880"/>
            <a:ext cx="7772400" cy="228600"/>
          </a:xfrm>
          <a:prstGeom prst="rect">
            <a:avLst/>
          </a:prstGeom>
          <a:noFill/>
        </p:spPr>
        <p:txBody>
          <a:bodyPr wrap="none">
            <a:spAutoFit/>
          </a:bodyPr>
          <a:lstStyle/>
          <a:p>
            <a:pPr>
              <a:defRPr sz="900" b="1">
                <a:solidFill>
                  <a:srgbClr val="B0006D"/>
                </a:solidFill>
              </a:defRPr>
            </a:pPr>
            <a:r>
              <a:t>STRATEGIC DISCUSSION · NEW USER HUB</a:t>
            </a:r>
          </a:p>
        </p:txBody>
      </p:sp>
      <p:sp>
        <p:nvSpPr>
          <p:cNvPr id="3" name="Rounded Rectangle 2"/>
          <p:cNvSpPr/>
          <p:nvPr/>
        </p:nvSpPr>
        <p:spPr>
          <a:xfrm>
            <a:off x="9692640" y="182880"/>
            <a:ext cx="1950415" cy="320040"/>
          </a:xfrm>
          <a:prstGeom prst="roundRect">
            <a:avLst/>
          </a:prstGeom>
          <a:solidFill>
            <a:srgbClr val="D9770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900" b="1">
                <a:solidFill>
                  <a:srgbClr val="FFFFFF"/>
                </a:solidFill>
              </a:defRPr>
            </a:pPr>
            <a:r>
              <a:t>[D] DISCUSSION</a:t>
            </a:r>
          </a:p>
        </p:txBody>
      </p:sp>
      <p:sp>
        <p:nvSpPr>
          <p:cNvPr id="4" name="TextBox 3"/>
          <p:cNvSpPr txBox="1"/>
          <p:nvPr/>
        </p:nvSpPr>
        <p:spPr>
          <a:xfrm>
            <a:off x="548640" y="384048"/>
            <a:ext cx="8961120" cy="411480"/>
          </a:xfrm>
          <a:prstGeom prst="rect">
            <a:avLst/>
          </a:prstGeom>
          <a:noFill/>
        </p:spPr>
        <p:txBody>
          <a:bodyPr wrap="none">
            <a:spAutoFit/>
          </a:bodyPr>
          <a:lstStyle/>
          <a:p>
            <a:pPr>
              <a:defRPr sz="1700" b="1">
                <a:solidFill>
                  <a:srgbClr val="0F172A"/>
                </a:solidFill>
              </a:defRPr>
            </a:pPr>
            <a:r>
              <a:t>DISCUSSION: CHUYỂN ĐỔI MÔ HÌNH THU HÚT &amp; PHÂN BỔ NGÂN SÁCH QUÀ TẶNG</a:t>
            </a:r>
          </a:p>
        </p:txBody>
      </p:sp>
      <p:sp>
        <p:nvSpPr>
          <p:cNvPr id="5" name="Rounded Rectangle 4"/>
          <p:cNvSpPr/>
          <p:nvPr/>
        </p:nvSpPr>
        <p:spPr>
          <a:xfrm>
            <a:off x="548640" y="960120"/>
            <a:ext cx="3611880" cy="5394960"/>
          </a:xfrm>
          <a:prstGeom prst="roundRect">
            <a:avLst/>
          </a:prstGeom>
          <a:solidFill>
            <a:srgbClr val="FFFFFF"/>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182880" rIns="182880" tIns="182880" bIns="182880"/>
          <a:lstStyle/>
          <a:p>
            <a:pPr algn="ctr">
              <a:defRPr sz="1000" b="1">
                <a:solidFill>
                  <a:srgbClr val="B0006D"/>
                </a:solidFill>
              </a:defRPr>
            </a:pPr>
            <a:r>
              <a:t>1. PROBLEM STATEMENT</a:t>
            </a:r>
          </a:p>
          <a:p>
            <a:pPr>
              <a:defRPr sz="800">
                <a:solidFill>
                  <a:srgbClr val="E2E8F0"/>
                </a:solidFill>
              </a:defRPr>
            </a:pPr>
            <a:r>
              <a:t>————————————————————</a:t>
            </a:r>
          </a:p>
          <a:p>
            <a:pPr>
              <a:defRPr sz="850">
                <a:solidFill>
                  <a:srgbClr val="0F172A"/>
                </a:solidFill>
              </a:defRPr>
            </a:pPr>
            <a:r>
              <a:t>• Web Platform và User Growth Team đề xuất dừng mô hình Balloon Ads đại trà, chuyển sang mô hình Hybrid Onboarding theo ngữ cảnh trang (Intent Page) tại momo.vn/welcome.</a:t>
            </a:r>
          </a:p>
          <a:p>
            <a:pPr>
              <a:defRPr sz="850">
                <a:solidFill>
                  <a:srgbClr val="0F172A"/>
                </a:solidFill>
              </a:defRPr>
            </a:pPr>
            <a:r>
              <a:t>• Thống nhất chấp nhận giảm số lượng Install ngoài Web để tập trung tăng tỷ lệ Đăng ký (REG), Liên kết ngân hàng (Map Bank) và MAU thực chất.</a:t>
            </a:r>
          </a:p>
          <a:p>
            <a:pPr>
              <a:defRPr sz="850">
                <a:solidFill>
                  <a:srgbClr val="0F172A"/>
                </a:solidFill>
              </a:defRPr>
            </a:pPr>
            <a:r>
              <a:t>• User Growth Team (đơn vị quản lý ngân sách quà tặng và CAC) phê duyệt phân bổ ngân sách voucher theo 3 nhóm Intent Hub (Cinema, Giao thông, Sinh viên) thay vì chạy 1 gói quà chung.</a:t>
            </a:r>
          </a:p>
        </p:txBody>
      </p:sp>
      <p:sp>
        <p:nvSpPr>
          <p:cNvPr id="6" name="Rounded Rectangle 5"/>
          <p:cNvSpPr/>
          <p:nvPr/>
        </p:nvSpPr>
        <p:spPr>
          <a:xfrm>
            <a:off x="4251960" y="960120"/>
            <a:ext cx="3611880" cy="5394960"/>
          </a:xfrm>
          <a:prstGeom prst="roundRect">
            <a:avLst/>
          </a:prstGeom>
          <a:solidFill>
            <a:srgbClr val="F8FAFC"/>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182880" rIns="182880" tIns="182880" bIns="182880"/>
          <a:lstStyle/>
          <a:p>
            <a:pPr algn="ctr">
              <a:defRPr sz="1000" b="1">
                <a:solidFill>
                  <a:srgbClr val="0F172A"/>
                </a:solidFill>
              </a:defRPr>
            </a:pPr>
            <a:r>
              <a:t>2. STATUS / ISSUES &amp; DATA POINTS</a:t>
            </a:r>
          </a:p>
          <a:p>
            <a:pPr>
              <a:defRPr sz="800">
                <a:solidFill>
                  <a:srgbClr val="E2E8F0"/>
                </a:solidFill>
              </a:defRPr>
            </a:pPr>
            <a:r>
              <a:t>————————————————————</a:t>
            </a:r>
          </a:p>
          <a:p>
            <a:pPr>
              <a:defRPr sz="850">
                <a:solidFill>
                  <a:srgbClr val="0F172A"/>
                </a:solidFill>
              </a:defRPr>
            </a:pPr>
            <a:r>
              <a:t>• Quy mô và tỷ lệ kích hoạt: Tháng 8 đạt 10.058 Installs, nhưng chỉ 32.10% chuyển sang Đăng ký (rớt 67.90% sau tải App), mang lại 1.029 MAU Active.</a:t>
            </a:r>
          </a:p>
          <a:p>
            <a:pPr>
              <a:defRPr sz="850">
                <a:solidFill>
                  <a:srgbClr val="0F172A"/>
                </a:solidFill>
              </a:defRPr>
            </a:pPr>
            <a:r>
              <a:t>• Hiệu suất Balloon Ads: Toàn Web ghi nhận 1.799.806 Ad Views -&gt; 61.927 Clicks (CTR 3.44%) -&gt; 10.058 Installs (CR 16.24%). Mảng Cinema có 655.5K views nhưng CTR chỉ 0.93% và 21.288 lượt tắt ads (Dismiss Rate 3.25%).</a:t>
            </a:r>
          </a:p>
          <a:p>
            <a:pPr>
              <a:defRPr sz="850">
                <a:solidFill>
                  <a:srgbClr val="0F172A"/>
                </a:solidFill>
              </a:defRPr>
            </a:pPr>
            <a:r>
              <a:t>• Tệp iOS: Tỷ lệ Map/Reg đạt 71.27% (923 Map / 1.295 Reg), đóng góp 54.5% tổng số MAU mới (561 MAU).</a:t>
            </a:r>
          </a:p>
        </p:txBody>
      </p:sp>
      <p:sp>
        <p:nvSpPr>
          <p:cNvPr id="7" name="Rounded Rectangle 6"/>
          <p:cNvSpPr/>
          <p:nvPr/>
        </p:nvSpPr>
        <p:spPr>
          <a:xfrm>
            <a:off x="7955279" y="960120"/>
            <a:ext cx="3611880" cy="5394960"/>
          </a:xfrm>
          <a:prstGeom prst="roundRect">
            <a:avLst/>
          </a:prstGeom>
          <a:solidFill>
            <a:srgbClr val="FFFFFF"/>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182880" rIns="182880" tIns="182880" bIns="182880"/>
          <a:lstStyle/>
          <a:p>
            <a:pPr algn="ctr">
              <a:defRPr sz="1000" b="1">
                <a:solidFill>
                  <a:srgbClr val="16A34A"/>
                </a:solidFill>
              </a:defRPr>
            </a:pPr>
            <a:r>
              <a:t>3. SOLUTIONS &amp; RECOMMENDATIONS</a:t>
            </a:r>
          </a:p>
          <a:p>
            <a:pPr>
              <a:defRPr sz="800">
                <a:solidFill>
                  <a:srgbClr val="E2E8F0"/>
                </a:solidFill>
              </a:defRPr>
            </a:pPr>
            <a:r>
              <a:t>————————————————————</a:t>
            </a:r>
          </a:p>
          <a:p>
            <a:pPr>
              <a:defRPr sz="850">
                <a:solidFill>
                  <a:srgbClr val="0F172A"/>
                </a:solidFill>
              </a:defRPr>
            </a:pPr>
            <a:r>
              <a:t>• Web Platform: Bỏ Balloon Ads pop-up; triển khai Sticky Footer Bar theo nội dung bài viết và xây dựng trang momo.vn/welcome gắn OneLink Payload đón luồng.</a:t>
            </a:r>
          </a:p>
          <a:p>
            <a:pPr>
              <a:defRPr sz="850">
                <a:solidFill>
                  <a:srgbClr val="0F172A"/>
                </a:solidFill>
              </a:defRPr>
            </a:pPr>
            <a:r>
              <a:t>• User Growth Team: Cấu hình và cấp ngân sách cho 3 gói voucher: Vé phim 0đ (Cinema), Gói tiện ích giao thông (Phạt Nguội), Gói Data 4G (Sinh viên).</a:t>
            </a:r>
          </a:p>
          <a:p>
            <a:pPr>
              <a:defRPr sz="850">
                <a:solidFill>
                  <a:srgbClr val="0F172A"/>
                </a:solidFill>
              </a:defRPr>
            </a:pPr>
            <a:r>
              <a:t>• Mục tiêu sau khi đổi luồng (Tháng 10/2026): Nâng tỷ lệ Install sang REG từ 32.10% lên &gt;= 50.00%; giảm CAC tính trên từng N2MM và MAU thực tế.</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182880"/>
            <a:ext cx="7772400" cy="228600"/>
          </a:xfrm>
          <a:prstGeom prst="rect">
            <a:avLst/>
          </a:prstGeom>
          <a:noFill/>
        </p:spPr>
        <p:txBody>
          <a:bodyPr wrap="none">
            <a:spAutoFit/>
          </a:bodyPr>
          <a:lstStyle/>
          <a:p>
            <a:pPr>
              <a:defRPr sz="900" b="1">
                <a:solidFill>
                  <a:srgbClr val="B0006D"/>
                </a:solidFill>
              </a:defRPr>
            </a:pPr>
            <a:r>
              <a:t>BUSINESS STRATEGIC · CINEMA HUB</a:t>
            </a:r>
          </a:p>
        </p:txBody>
      </p:sp>
      <p:sp>
        <p:nvSpPr>
          <p:cNvPr id="3" name="Rounded Rectangle 2"/>
          <p:cNvSpPr/>
          <p:nvPr/>
        </p:nvSpPr>
        <p:spPr>
          <a:xfrm>
            <a:off x="9692640" y="182880"/>
            <a:ext cx="1950415" cy="320040"/>
          </a:xfrm>
          <a:prstGeom prst="roundRect">
            <a:avLst/>
          </a:prstGeom>
          <a:solidFill>
            <a:srgbClr val="0284C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900" b="1">
                <a:solidFill>
                  <a:srgbClr val="FFFFFF"/>
                </a:solidFill>
              </a:defRPr>
            </a:pPr>
            <a:r>
              <a:t>[R] REPORTING</a:t>
            </a:r>
          </a:p>
        </p:txBody>
      </p:sp>
      <p:sp>
        <p:nvSpPr>
          <p:cNvPr id="4" name="TextBox 3"/>
          <p:cNvSpPr txBox="1"/>
          <p:nvPr/>
        </p:nvSpPr>
        <p:spPr>
          <a:xfrm>
            <a:off x="548640" y="384048"/>
            <a:ext cx="8961120" cy="411480"/>
          </a:xfrm>
          <a:prstGeom prst="rect">
            <a:avLst/>
          </a:prstGeom>
          <a:noFill/>
        </p:spPr>
        <p:txBody>
          <a:bodyPr wrap="none">
            <a:spAutoFit/>
          </a:bodyPr>
          <a:lstStyle/>
          <a:p>
            <a:pPr>
              <a:defRPr sz="1700" b="1">
                <a:solidFill>
                  <a:srgbClr val="0F172A"/>
                </a:solidFill>
              </a:defRPr>
            </a:pPr>
            <a:r>
              <a:t>CINEMA HUB PERFORMANCE &amp; STRATEGIC ACTIONS</a:t>
            </a:r>
          </a:p>
        </p:txBody>
      </p:sp>
      <p:graphicFrame>
        <p:nvGraphicFramePr>
          <p:cNvPr id="5" name="Table 4"/>
          <p:cNvGraphicFramePr>
            <a:graphicFrameLocks noGrp="1"/>
          </p:cNvGraphicFramePr>
          <p:nvPr/>
        </p:nvGraphicFramePr>
        <p:xfrm>
          <a:off x="548640" y="868680"/>
          <a:ext cx="6217920" cy="2926080"/>
        </p:xfrm>
        <a:graphic>
          <a:graphicData uri="http://schemas.openxmlformats.org/drawingml/2006/table">
            <a:tbl>
              <a:tblPr firstRow="1" bandRow="1">
                <a:tableStyleId>{5C22544A-7EE6-4342-B048-85BDC9FD1C3A}</a:tableStyleId>
              </a:tblPr>
              <a:tblGrid>
                <a:gridCol w="2377440"/>
                <a:gridCol w="960120"/>
                <a:gridCol w="960120"/>
                <a:gridCol w="960120"/>
                <a:gridCol w="960120"/>
              </a:tblGrid>
              <a:tr h="487680">
                <a:tc>
                  <a:txBody>
                    <a:bodyPr/>
                    <a:lstStyle/>
                    <a:p>
                      <a:pPr algn="ctr">
                        <a:defRPr sz="850" b="1">
                          <a:solidFill>
                            <a:srgbClr val="FFFFFF"/>
                          </a:solidFill>
                        </a:defRPr>
                      </a:pPr>
                      <a:r>
                        <a:t>Phân Loại Trang Cinema</a:t>
                      </a:r>
                    </a:p>
                  </a:txBody>
                  <a:tcPr>
                    <a:solidFill>
                      <a:srgbClr val="B0006D"/>
                    </a:solidFill>
                  </a:tcPr>
                </a:tc>
                <a:tc>
                  <a:txBody>
                    <a:bodyPr/>
                    <a:lstStyle/>
                    <a:p>
                      <a:pPr algn="ctr">
                        <a:defRPr sz="850" b="1">
                          <a:solidFill>
                            <a:srgbClr val="FFFFFF"/>
                          </a:solidFill>
                        </a:defRPr>
                      </a:pPr>
                      <a:r>
                        <a:t>T7 (Full)</a:t>
                      </a:r>
                    </a:p>
                  </a:txBody>
                  <a:tcPr>
                    <a:solidFill>
                      <a:srgbClr val="B0006D"/>
                    </a:solidFill>
                  </a:tcPr>
                </a:tc>
                <a:tc>
                  <a:txBody>
                    <a:bodyPr/>
                    <a:lstStyle/>
                    <a:p>
                      <a:pPr algn="ctr">
                        <a:defRPr sz="850" b="1">
                          <a:solidFill>
                            <a:srgbClr val="FFFFFF"/>
                          </a:solidFill>
                        </a:defRPr>
                      </a:pPr>
                      <a:r>
                        <a:t>T8 (Full)</a:t>
                      </a:r>
                    </a:p>
                  </a:txBody>
                  <a:tcPr>
                    <a:solidFill>
                      <a:srgbClr val="B0006D"/>
                    </a:solidFill>
                  </a:tcPr>
                </a:tc>
                <a:tc>
                  <a:txBody>
                    <a:bodyPr/>
                    <a:lstStyle/>
                    <a:p>
                      <a:pPr algn="ctr">
                        <a:defRPr sz="850" b="1">
                          <a:solidFill>
                            <a:srgbClr val="FFFFFF"/>
                          </a:solidFill>
                        </a:defRPr>
                      </a:pPr>
                      <a:r>
                        <a:t>MoM %</a:t>
                      </a:r>
                    </a:p>
                  </a:txBody>
                  <a:tcPr>
                    <a:solidFill>
                      <a:srgbClr val="B0006D"/>
                    </a:solidFill>
                  </a:tcPr>
                </a:tc>
                <a:tc>
                  <a:txBody>
                    <a:bodyPr/>
                    <a:lstStyle/>
                    <a:p>
                      <a:pPr algn="ctr">
                        <a:defRPr sz="850" b="1">
                          <a:solidFill>
                            <a:srgbClr val="FFFFFF"/>
                          </a:solidFill>
                        </a:defRPr>
                      </a:pPr>
                      <a:r>
                        <a:t>% Tỷ Trọng</a:t>
                      </a:r>
                    </a:p>
                  </a:txBody>
                  <a:tcPr>
                    <a:solidFill>
                      <a:srgbClr val="B0006D"/>
                    </a:solidFill>
                  </a:tcPr>
                </a:tc>
              </a:tr>
              <a:tr h="487680">
                <a:tc>
                  <a:txBody>
                    <a:bodyPr/>
                    <a:lstStyle/>
                    <a:p>
                      <a:pPr algn="l">
                        <a:defRPr sz="800"/>
                      </a:pPr>
                      <a:r>
                        <a:t>Trang Cụm Rạp (Cineplex)</a:t>
                      </a:r>
                    </a:p>
                  </a:txBody>
                  <a:tcPr>
                    <a:solidFill>
                      <a:srgbClr val="FFFFFF"/>
                    </a:solidFill>
                  </a:tcPr>
                </a:tc>
                <a:tc>
                  <a:txBody>
                    <a:bodyPr/>
                    <a:lstStyle/>
                    <a:p>
                      <a:pPr algn="ctr">
                        <a:defRPr sz="800"/>
                      </a:pPr>
                      <a:r>
                        <a:t>412,039</a:t>
                      </a:r>
                    </a:p>
                  </a:txBody>
                  <a:tcPr>
                    <a:solidFill>
                      <a:srgbClr val="FFFFFF"/>
                    </a:solidFill>
                  </a:tcPr>
                </a:tc>
                <a:tc>
                  <a:txBody>
                    <a:bodyPr/>
                    <a:lstStyle/>
                    <a:p>
                      <a:pPr algn="ctr">
                        <a:defRPr sz="800"/>
                      </a:pPr>
                      <a:r>
                        <a:t>418,684</a:t>
                      </a:r>
                    </a:p>
                  </a:txBody>
                  <a:tcPr>
                    <a:solidFill>
                      <a:srgbClr val="FFFFFF"/>
                    </a:solidFill>
                  </a:tcPr>
                </a:tc>
                <a:tc>
                  <a:txBody>
                    <a:bodyPr/>
                    <a:lstStyle/>
                    <a:p>
                      <a:pPr algn="ctr">
                        <a:defRPr sz="800" b="1">
                          <a:solidFill>
                            <a:srgbClr val="16A34A"/>
                          </a:solidFill>
                        </a:defRPr>
                      </a:pPr>
                      <a:r>
                        <a:t>+1.61%</a:t>
                      </a:r>
                    </a:p>
                  </a:txBody>
                  <a:tcPr>
                    <a:solidFill>
                      <a:srgbClr val="FFFFFF"/>
                    </a:solidFill>
                  </a:tcPr>
                </a:tc>
                <a:tc>
                  <a:txBody>
                    <a:bodyPr/>
                    <a:lstStyle/>
                    <a:p>
                      <a:pPr algn="ctr">
                        <a:defRPr sz="800"/>
                      </a:pPr>
                      <a:r>
                        <a:t>50.91%</a:t>
                      </a:r>
                    </a:p>
                  </a:txBody>
                  <a:tcPr>
                    <a:solidFill>
                      <a:srgbClr val="FFFFFF"/>
                    </a:solidFill>
                  </a:tcPr>
                </a:tc>
              </a:tr>
              <a:tr h="487680">
                <a:tc>
                  <a:txBody>
                    <a:bodyPr/>
                    <a:lstStyle/>
                    <a:p>
                      <a:pPr algn="l">
                        <a:defRPr sz="800"/>
                      </a:pPr>
                      <a:r>
                        <a:t>Trang Chi Tiết Phim (Movie)</a:t>
                      </a:r>
                    </a:p>
                  </a:txBody>
                  <a:tcPr>
                    <a:solidFill>
                      <a:srgbClr val="FDF2F8"/>
                    </a:solidFill>
                  </a:tcPr>
                </a:tc>
                <a:tc>
                  <a:txBody>
                    <a:bodyPr/>
                    <a:lstStyle/>
                    <a:p>
                      <a:pPr algn="ctr">
                        <a:defRPr sz="800"/>
                      </a:pPr>
                      <a:r>
                        <a:t>309,907</a:t>
                      </a:r>
                    </a:p>
                  </a:txBody>
                  <a:tcPr>
                    <a:solidFill>
                      <a:srgbClr val="FDF2F8"/>
                    </a:solidFill>
                  </a:tcPr>
                </a:tc>
                <a:tc>
                  <a:txBody>
                    <a:bodyPr/>
                    <a:lstStyle/>
                    <a:p>
                      <a:pPr algn="ctr">
                        <a:defRPr sz="800"/>
                      </a:pPr>
                      <a:r>
                        <a:t>324,305</a:t>
                      </a:r>
                    </a:p>
                  </a:txBody>
                  <a:tcPr>
                    <a:solidFill>
                      <a:srgbClr val="FDF2F8"/>
                    </a:solidFill>
                  </a:tcPr>
                </a:tc>
                <a:tc>
                  <a:txBody>
                    <a:bodyPr/>
                    <a:lstStyle/>
                    <a:p>
                      <a:pPr algn="ctr">
                        <a:defRPr sz="800" b="1">
                          <a:solidFill>
                            <a:srgbClr val="16A34A"/>
                          </a:solidFill>
                        </a:defRPr>
                      </a:pPr>
                      <a:r>
                        <a:t>+4.65%</a:t>
                      </a:r>
                    </a:p>
                  </a:txBody>
                  <a:tcPr>
                    <a:solidFill>
                      <a:srgbClr val="FDF2F8"/>
                    </a:solidFill>
                  </a:tcPr>
                </a:tc>
                <a:tc>
                  <a:txBody>
                    <a:bodyPr/>
                    <a:lstStyle/>
                    <a:p>
                      <a:pPr algn="ctr">
                        <a:defRPr sz="800"/>
                      </a:pPr>
                      <a:r>
                        <a:t>39.43%</a:t>
                      </a:r>
                    </a:p>
                  </a:txBody>
                  <a:tcPr>
                    <a:solidFill>
                      <a:srgbClr val="FDF2F8"/>
                    </a:solidFill>
                  </a:tcPr>
                </a:tc>
              </a:tr>
              <a:tr h="487680">
                <a:tc>
                  <a:txBody>
                    <a:bodyPr/>
                    <a:lstStyle/>
                    <a:p>
                      <a:pPr algn="l">
                        <a:defRPr sz="800"/>
                      </a:pPr>
                      <a:r>
                        <a:t>Bài Viết Review &amp; Blog</a:t>
                      </a:r>
                    </a:p>
                  </a:txBody>
                  <a:tcPr>
                    <a:solidFill>
                      <a:srgbClr val="FFFFFF"/>
                    </a:solidFill>
                  </a:tcPr>
                </a:tc>
                <a:tc>
                  <a:txBody>
                    <a:bodyPr/>
                    <a:lstStyle/>
                    <a:p>
                      <a:pPr algn="ctr">
                        <a:defRPr sz="800"/>
                      </a:pPr>
                      <a:r>
                        <a:t>45,055</a:t>
                      </a:r>
                    </a:p>
                  </a:txBody>
                  <a:tcPr>
                    <a:solidFill>
                      <a:srgbClr val="FFFFFF"/>
                    </a:solidFill>
                  </a:tcPr>
                </a:tc>
                <a:tc>
                  <a:txBody>
                    <a:bodyPr/>
                    <a:lstStyle/>
                    <a:p>
                      <a:pPr algn="ctr">
                        <a:defRPr sz="800"/>
                      </a:pPr>
                      <a:r>
                        <a:t>41,211</a:t>
                      </a:r>
                    </a:p>
                  </a:txBody>
                  <a:tcPr>
                    <a:solidFill>
                      <a:srgbClr val="FFFFFF"/>
                    </a:solidFill>
                  </a:tcPr>
                </a:tc>
                <a:tc>
                  <a:txBody>
                    <a:bodyPr/>
                    <a:lstStyle/>
                    <a:p>
                      <a:pPr algn="ctr">
                        <a:defRPr sz="800">
                          <a:solidFill>
                            <a:srgbClr val="DC2626"/>
                          </a:solidFill>
                        </a:defRPr>
                      </a:pPr>
                      <a:r>
                        <a:t>-8.53%</a:t>
                      </a:r>
                    </a:p>
                  </a:txBody>
                  <a:tcPr>
                    <a:solidFill>
                      <a:srgbClr val="FFFFFF"/>
                    </a:solidFill>
                  </a:tcPr>
                </a:tc>
                <a:tc>
                  <a:txBody>
                    <a:bodyPr/>
                    <a:lstStyle/>
                    <a:p>
                      <a:pPr algn="ctr">
                        <a:defRPr sz="800"/>
                      </a:pPr>
                      <a:r>
                        <a:t>5.01%</a:t>
                      </a:r>
                    </a:p>
                  </a:txBody>
                  <a:tcPr>
                    <a:solidFill>
                      <a:srgbClr val="FFFFFF"/>
                    </a:solidFill>
                  </a:tcPr>
                </a:tc>
              </a:tr>
              <a:tr h="487680">
                <a:tc>
                  <a:txBody>
                    <a:bodyPr/>
                    <a:lstStyle/>
                    <a:p>
                      <a:pPr algn="l">
                        <a:defRPr sz="800"/>
                      </a:pPr>
                      <a:r>
                        <a:t>Trang Chủ Rạp &amp; Khác</a:t>
                      </a:r>
                    </a:p>
                  </a:txBody>
                  <a:tcPr>
                    <a:solidFill>
                      <a:srgbClr val="FDF2F8"/>
                    </a:solidFill>
                  </a:tcPr>
                </a:tc>
                <a:tc>
                  <a:txBody>
                    <a:bodyPr/>
                    <a:lstStyle/>
                    <a:p>
                      <a:pPr algn="ctr">
                        <a:defRPr sz="800"/>
                      </a:pPr>
                      <a:r>
                        <a:t>43,564</a:t>
                      </a:r>
                    </a:p>
                  </a:txBody>
                  <a:tcPr>
                    <a:solidFill>
                      <a:srgbClr val="FDF2F8"/>
                    </a:solidFill>
                  </a:tcPr>
                </a:tc>
                <a:tc>
                  <a:txBody>
                    <a:bodyPr/>
                    <a:lstStyle/>
                    <a:p>
                      <a:pPr algn="ctr">
                        <a:defRPr sz="800"/>
                      </a:pPr>
                      <a:r>
                        <a:t>38,237</a:t>
                      </a:r>
                    </a:p>
                  </a:txBody>
                  <a:tcPr>
                    <a:solidFill>
                      <a:srgbClr val="FDF2F8"/>
                    </a:solidFill>
                  </a:tcPr>
                </a:tc>
                <a:tc>
                  <a:txBody>
                    <a:bodyPr/>
                    <a:lstStyle/>
                    <a:p>
                      <a:pPr algn="ctr">
                        <a:defRPr sz="800">
                          <a:solidFill>
                            <a:srgbClr val="DC2626"/>
                          </a:solidFill>
                        </a:defRPr>
                      </a:pPr>
                      <a:r>
                        <a:t>-12.23%</a:t>
                      </a:r>
                    </a:p>
                  </a:txBody>
                  <a:tcPr>
                    <a:solidFill>
                      <a:srgbClr val="FDF2F8"/>
                    </a:solidFill>
                  </a:tcPr>
                </a:tc>
                <a:tc>
                  <a:txBody>
                    <a:bodyPr/>
                    <a:lstStyle/>
                    <a:p>
                      <a:pPr algn="ctr">
                        <a:defRPr sz="800"/>
                      </a:pPr>
                      <a:r>
                        <a:t>4.65%</a:t>
                      </a:r>
                    </a:p>
                  </a:txBody>
                  <a:tcPr>
                    <a:solidFill>
                      <a:srgbClr val="FDF2F8"/>
                    </a:solidFill>
                  </a:tcPr>
                </a:tc>
              </a:tr>
              <a:tr h="487680">
                <a:tc>
                  <a:txBody>
                    <a:bodyPr/>
                    <a:lstStyle/>
                    <a:p>
                      <a:pPr algn="l">
                        <a:defRPr sz="800" b="1"/>
                      </a:pPr>
                      <a:r>
                        <a:t>CINEMA HUB (TỔNG CỘNG)</a:t>
                      </a:r>
                    </a:p>
                  </a:txBody>
                  <a:tcPr>
                    <a:solidFill>
                      <a:srgbClr val="F1F5F9"/>
                    </a:solidFill>
                  </a:tcPr>
                </a:tc>
                <a:tc>
                  <a:txBody>
                    <a:bodyPr/>
                    <a:lstStyle/>
                    <a:p>
                      <a:pPr algn="ctr">
                        <a:defRPr sz="800" b="1"/>
                      </a:pPr>
                      <a:r>
                        <a:t>810,565</a:t>
                      </a:r>
                    </a:p>
                  </a:txBody>
                  <a:tcPr>
                    <a:solidFill>
                      <a:srgbClr val="F1F5F9"/>
                    </a:solidFill>
                  </a:tcPr>
                </a:tc>
                <a:tc>
                  <a:txBody>
                    <a:bodyPr/>
                    <a:lstStyle/>
                    <a:p>
                      <a:pPr algn="ctr">
                        <a:defRPr sz="800" b="1"/>
                      </a:pPr>
                      <a:r>
                        <a:t>822,437</a:t>
                      </a:r>
                    </a:p>
                  </a:txBody>
                  <a:tcPr>
                    <a:solidFill>
                      <a:srgbClr val="F1F5F9"/>
                    </a:solidFill>
                  </a:tcPr>
                </a:tc>
                <a:tc>
                  <a:txBody>
                    <a:bodyPr/>
                    <a:lstStyle/>
                    <a:p>
                      <a:pPr algn="ctr">
                        <a:defRPr sz="800" b="1">
                          <a:solidFill>
                            <a:srgbClr val="16A34A"/>
                          </a:solidFill>
                        </a:defRPr>
                      </a:pPr>
                      <a:r>
                        <a:t>+1.46%</a:t>
                      </a:r>
                    </a:p>
                  </a:txBody>
                  <a:tcPr>
                    <a:solidFill>
                      <a:srgbClr val="F1F5F9"/>
                    </a:solidFill>
                  </a:tcPr>
                </a:tc>
                <a:tc>
                  <a:txBody>
                    <a:bodyPr/>
                    <a:lstStyle/>
                    <a:p>
                      <a:pPr algn="ctr">
                        <a:defRPr sz="800" b="1"/>
                      </a:pPr>
                      <a:r>
                        <a:t>100.00%</a:t>
                      </a:r>
                    </a:p>
                  </a:txBody>
                  <a:tcPr>
                    <a:solidFill>
                      <a:srgbClr val="F1F5F9"/>
                    </a:solidFill>
                  </a:tcPr>
                </a:tc>
              </a:tr>
            </a:tbl>
          </a:graphicData>
        </a:graphic>
      </p:graphicFrame>
      <p:sp>
        <p:nvSpPr>
          <p:cNvPr id="6" name="Rounded Rectangle 5"/>
          <p:cNvSpPr/>
          <p:nvPr/>
        </p:nvSpPr>
        <p:spPr>
          <a:xfrm>
            <a:off x="6949440" y="868680"/>
            <a:ext cx="4693615" cy="2926080"/>
          </a:xfrm>
          <a:prstGeom prst="roundRect">
            <a:avLst/>
          </a:prstGeom>
          <a:solidFill>
            <a:srgbClr val="F8FAFC"/>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040880" y="896112"/>
            <a:ext cx="4510735" cy="228600"/>
          </a:xfrm>
          <a:prstGeom prst="rect">
            <a:avLst/>
          </a:prstGeom>
          <a:noFill/>
        </p:spPr>
        <p:txBody>
          <a:bodyPr wrap="none">
            <a:spAutoFit/>
          </a:bodyPr>
          <a:lstStyle/>
          <a:p>
            <a:pPr algn="ctr">
              <a:defRPr sz="850" b="1">
                <a:solidFill>
                  <a:srgbClr val="B0006D"/>
                </a:solidFill>
              </a:defRPr>
            </a:pPr>
            <a:r>
              <a:t>PILOT FUNNEL: MINI GAME PHIM NGHỈ HÈ SỢ NGHỈ HƯU</a:t>
            </a:r>
          </a:p>
        </p:txBody>
      </p:sp>
      <p:sp>
        <p:nvSpPr>
          <p:cNvPr id="8" name="Rounded Rectangle 7"/>
          <p:cNvSpPr/>
          <p:nvPr/>
        </p:nvSpPr>
        <p:spPr>
          <a:xfrm>
            <a:off x="7223760" y="1170432"/>
            <a:ext cx="4297680" cy="329184"/>
          </a:xfrm>
          <a:prstGeom prst="roundRect">
            <a:avLst/>
          </a:prstGeom>
          <a:solidFill>
            <a:srgbClr val="47556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750" b="1">
                <a:solidFill>
                  <a:srgbClr val="FFFFFF"/>
                </a:solidFill>
              </a:defRPr>
            </a:pPr>
            <a:r>
              <a:t>1. SEARCH DETECTED: 304 Lượt (100% | Phim + MoMo)</a:t>
            </a:r>
          </a:p>
        </p:txBody>
      </p:sp>
      <p:sp>
        <p:nvSpPr>
          <p:cNvPr id="9" name="Rounded Rectangle 8"/>
          <p:cNvSpPr/>
          <p:nvPr/>
        </p:nvSpPr>
        <p:spPr>
          <a:xfrm>
            <a:off x="7498079" y="1627632"/>
            <a:ext cx="3749039" cy="329184"/>
          </a:xfrm>
          <a:prstGeom prst="roundRect">
            <a:avLst/>
          </a:prstGeom>
          <a:solidFill>
            <a:srgbClr val="0284C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750" b="1">
                <a:solidFill>
                  <a:srgbClr val="FFFFFF"/>
                </a:solidFill>
              </a:defRPr>
            </a:pPr>
            <a:r>
              <a:t>2. CLICK START GAME: 130 Lượt (CVR: 42.8%)</a:t>
            </a:r>
          </a:p>
        </p:txBody>
      </p:sp>
      <p:sp>
        <p:nvSpPr>
          <p:cNvPr id="10" name="Rounded Rectangle 9"/>
          <p:cNvSpPr/>
          <p:nvPr/>
        </p:nvSpPr>
        <p:spPr>
          <a:xfrm>
            <a:off x="7772400" y="2084831"/>
            <a:ext cx="3200400" cy="329184"/>
          </a:xfrm>
          <a:prstGeom prst="roundRect">
            <a:avLst/>
          </a:prstGeom>
          <a:solidFill>
            <a:srgbClr val="D9770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750" b="1">
                <a:solidFill>
                  <a:srgbClr val="FFFFFF"/>
                </a:solidFill>
              </a:defRPr>
            </a:pPr>
            <a:r>
              <a:t>3. SCRATCH COMPLETED: 97 Lượt (CVR: 74.6%)</a:t>
            </a:r>
          </a:p>
        </p:txBody>
      </p:sp>
      <p:sp>
        <p:nvSpPr>
          <p:cNvPr id="11" name="Rounded Rectangle 10"/>
          <p:cNvSpPr/>
          <p:nvPr/>
        </p:nvSpPr>
        <p:spPr>
          <a:xfrm>
            <a:off x="8046720" y="2542032"/>
            <a:ext cx="2651760" cy="329184"/>
          </a:xfrm>
          <a:prstGeom prst="roundRect">
            <a:avLst/>
          </a:prstGeom>
          <a:solidFill>
            <a:srgbClr val="9333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750" b="1">
                <a:solidFill>
                  <a:srgbClr val="FFFFFF"/>
                </a:solidFill>
              </a:defRPr>
            </a:pPr>
            <a:r>
              <a:t>4. CLICK OPEN APP MOMO: 104 Lượt (CVR: 107.2%)</a:t>
            </a:r>
          </a:p>
        </p:txBody>
      </p:sp>
      <p:sp>
        <p:nvSpPr>
          <p:cNvPr id="12" name="Rounded Rectangle 11"/>
          <p:cNvSpPr/>
          <p:nvPr/>
        </p:nvSpPr>
        <p:spPr>
          <a:xfrm>
            <a:off x="8321040" y="2999232"/>
            <a:ext cx="2103120" cy="329184"/>
          </a:xfrm>
          <a:prstGeom prst="roundRect">
            <a:avLst/>
          </a:prstGeom>
          <a:solidFill>
            <a:srgbClr val="B0006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750" b="1">
                <a:solidFill>
                  <a:srgbClr val="FFFFFF"/>
                </a:solidFill>
              </a:defRPr>
            </a:pPr>
            <a:r>
              <a:t>5. VALID IN-APP USERS: 70 Users (End-to-End: 23.03%)</a:t>
            </a:r>
          </a:p>
        </p:txBody>
      </p:sp>
      <p:sp>
        <p:nvSpPr>
          <p:cNvPr id="13" name="TextBox 12"/>
          <p:cNvSpPr txBox="1"/>
          <p:nvPr/>
        </p:nvSpPr>
        <p:spPr>
          <a:xfrm>
            <a:off x="7040880" y="3456432"/>
            <a:ext cx="4510735" cy="274320"/>
          </a:xfrm>
          <a:prstGeom prst="rect">
            <a:avLst/>
          </a:prstGeom>
          <a:noFill/>
        </p:spPr>
        <p:txBody>
          <a:bodyPr wrap="none">
            <a:spAutoFit/>
          </a:bodyPr>
          <a:lstStyle/>
          <a:p>
            <a:pPr algn="ctr">
              <a:defRPr sz="750" b="1">
                <a:solidFill>
                  <a:srgbClr val="16A34A"/>
                </a:solidFill>
              </a:defRPr>
            </a:pPr>
            <a:r>
              <a:t>Hiệu suất: End-to-End CVR đạt 23.03% (gấp 5.4 lần CTR thông thường 4.25%)</a:t>
            </a:r>
          </a:p>
        </p:txBody>
      </p:sp>
      <p:sp>
        <p:nvSpPr>
          <p:cNvPr id="14" name="Rounded Rectangle 13"/>
          <p:cNvSpPr/>
          <p:nvPr/>
        </p:nvSpPr>
        <p:spPr>
          <a:xfrm>
            <a:off x="548640" y="3977639"/>
            <a:ext cx="11094415" cy="2606040"/>
          </a:xfrm>
          <a:prstGeom prst="roundRect">
            <a:avLst/>
          </a:prstGeom>
          <a:solidFill>
            <a:srgbClr val="F8FAFC"/>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182880" rIns="182880" tIns="137160" bIns="137160"/>
          <a:lstStyle/>
          <a:p>
            <a:pPr algn="ctr">
              <a:defRPr sz="850">
                <a:solidFill>
                  <a:srgbClr val="0F172A"/>
                </a:solidFill>
              </a:defRPr>
            </a:pPr>
            <a:r>
              <a:t>Executive Summary: Context: Cinema Hub là cổng lưu lượng đầu phễu lớn nhất Web MoMo, mục tiêu phục hồi đạt 1.3M - 1.5M PVs/tháng vào Tháng 12/2026. Kết quả: Đạt 822.437 PVs full tháng 8 (+1.46% MoM, chiếm 23.73% toàn Web). Trang Cụm Rạp (418.7K PVs) và Chi Tiết Phim (324.3K PVs) tăng trưởng tích cực. CTR Click-to-App đạt 4.25%.</a:t>
            </a:r>
          </a:p>
          <a:p>
            <a:pPr>
              <a:defRPr sz="800">
                <a:solidFill>
                  <a:srgbClr val="334155"/>
                </a:solidFill>
              </a:defRPr>
            </a:pPr>
            <a:r>
              <a:t>Problem Statement: MoMo chiếm 50% thị phần bán vé toàn quốc nhưng lưu lượng nội dung Web mới đạt ~20% thị phần; rớt đơn 25-30% ngoài Web do ép buộc khách vãng lai phải mở App MoMo để thanh toán giữ chỗ.</a:t>
            </a:r>
          </a:p>
          <a:p>
            <a:pPr>
              <a:defRPr sz="800">
                <a:solidFill>
                  <a:srgbClr val="334155"/>
                </a:solidFill>
              </a:defRPr>
            </a:pPr>
            <a:r>
              <a:t>Hypothesis/Solutions: Triển khai thanh toán Web Native QR trực tiếp trên trình duyệt, Mini Game săn vé 0đ ngoài Web và chuẩn hóa hạ tầng nội dung 150+ cụm rạp.</a:t>
            </a:r>
          </a:p>
          <a:p>
            <a:pPr>
              <a:defRPr sz="850" b="1">
                <a:solidFill>
                  <a:srgbClr val="B0006D"/>
                </a:solidFill>
              </a:defRPr>
            </a:pPr>
            <a:r>
              <a:t>Next Steps (Tháng 09/2026): [1] Release Native QR Web Booking vào Production trước ngày 15/09; [2] Triển khai Mini Game Đố vui điện ảnh / Vòng quay săn vé 0đ trước ngày 20/09; [3] Đón đầu mùa phim Q4 bằng Topic Clusters bài viết mới, kết nối 150+ cụm rạp.</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182880"/>
            <a:ext cx="7772400" cy="228600"/>
          </a:xfrm>
          <a:prstGeom prst="rect">
            <a:avLst/>
          </a:prstGeom>
          <a:noFill/>
        </p:spPr>
        <p:txBody>
          <a:bodyPr wrap="none">
            <a:spAutoFit/>
          </a:bodyPr>
          <a:lstStyle/>
          <a:p>
            <a:pPr>
              <a:defRPr sz="900" b="1">
                <a:solidFill>
                  <a:srgbClr val="B0006D"/>
                </a:solidFill>
              </a:defRPr>
            </a:pPr>
            <a:r>
              <a:t>STRATEGIC DISCUSSION · CINEMA HUB</a:t>
            </a:r>
          </a:p>
        </p:txBody>
      </p:sp>
      <p:sp>
        <p:nvSpPr>
          <p:cNvPr id="3" name="Rounded Rectangle 2"/>
          <p:cNvSpPr/>
          <p:nvPr/>
        </p:nvSpPr>
        <p:spPr>
          <a:xfrm>
            <a:off x="9692640" y="182880"/>
            <a:ext cx="1950415" cy="320040"/>
          </a:xfrm>
          <a:prstGeom prst="roundRect">
            <a:avLst/>
          </a:prstGeom>
          <a:solidFill>
            <a:srgbClr val="D9770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900" b="1">
                <a:solidFill>
                  <a:srgbClr val="FFFFFF"/>
                </a:solidFill>
              </a:defRPr>
            </a:pPr>
            <a:r>
              <a:t>[D] DISCUSSION</a:t>
            </a:r>
          </a:p>
        </p:txBody>
      </p:sp>
      <p:sp>
        <p:nvSpPr>
          <p:cNvPr id="4" name="TextBox 3"/>
          <p:cNvSpPr txBox="1"/>
          <p:nvPr/>
        </p:nvSpPr>
        <p:spPr>
          <a:xfrm>
            <a:off x="548640" y="384048"/>
            <a:ext cx="8961120" cy="411480"/>
          </a:xfrm>
          <a:prstGeom prst="rect">
            <a:avLst/>
          </a:prstGeom>
          <a:noFill/>
        </p:spPr>
        <p:txBody>
          <a:bodyPr wrap="none">
            <a:spAutoFit/>
          </a:bodyPr>
          <a:lstStyle/>
          <a:p>
            <a:pPr>
              <a:defRPr sz="1700" b="1">
                <a:solidFill>
                  <a:srgbClr val="0F172A"/>
                </a:solidFill>
              </a:defRPr>
            </a:pPr>
            <a:r>
              <a:t>DISCUSSION: CHÍNH SÁCH THANH TOÁN MỞ NATIVE QR &amp; MINI GAME</a:t>
            </a:r>
          </a:p>
        </p:txBody>
      </p:sp>
      <p:sp>
        <p:nvSpPr>
          <p:cNvPr id="5" name="Rounded Rectangle 4"/>
          <p:cNvSpPr/>
          <p:nvPr/>
        </p:nvSpPr>
        <p:spPr>
          <a:xfrm>
            <a:off x="548640" y="960120"/>
            <a:ext cx="3611880" cy="5394960"/>
          </a:xfrm>
          <a:prstGeom prst="roundRect">
            <a:avLst/>
          </a:prstGeom>
          <a:solidFill>
            <a:srgbClr val="FFFFFF"/>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182880" rIns="182880" tIns="182880" bIns="182880"/>
          <a:lstStyle/>
          <a:p>
            <a:pPr algn="ctr">
              <a:defRPr sz="1000" b="1">
                <a:solidFill>
                  <a:srgbClr val="B0006D"/>
                </a:solidFill>
              </a:defRPr>
            </a:pPr>
            <a:r>
              <a:t>1. PROBLEM STATEMENT</a:t>
            </a:r>
          </a:p>
          <a:p>
            <a:pPr>
              <a:defRPr sz="800">
                <a:solidFill>
                  <a:srgbClr val="E2E8F0"/>
                </a:solidFill>
              </a:defRPr>
            </a:pPr>
            <a:r>
              <a:t>————————————————————</a:t>
            </a:r>
          </a:p>
          <a:p>
            <a:pPr>
              <a:defRPr sz="850">
                <a:solidFill>
                  <a:srgbClr val="0F172A"/>
                </a:solidFill>
              </a:defRPr>
            </a:pPr>
            <a:r>
              <a:t>• Phê duyệt chính sách bán vé ngoài Web: Cho phép người dùng quét mã thanh toán Native QR trực tiếp trên trình duyệt mà không bắt buộc phải cài đặt / mở App MoMo.</a:t>
            </a:r>
          </a:p>
          <a:p>
            <a:pPr>
              <a:defRPr sz="850">
                <a:solidFill>
                  <a:srgbClr val="0F172A"/>
                </a:solidFill>
              </a:defRPr>
            </a:pPr>
            <a:r>
              <a:t>• Đánh đổi chiến lược: Giảm số lượt ép mở App MoMo để đổi lấy việc thu hồi 25% - 30% doanh thu bán vé bị rớt ngoài Web.</a:t>
            </a:r>
          </a:p>
          <a:p>
            <a:pPr>
              <a:defRPr sz="850">
                <a:solidFill>
                  <a:srgbClr val="0F172A"/>
                </a:solidFill>
              </a:defRPr>
            </a:pPr>
            <a:r>
              <a:t>• Triển khai Mini Game săn vé 0đ ngoài Web để thu hút Lead và tăng tỷ lệ chuyển đổi Click-to-App.</a:t>
            </a:r>
          </a:p>
        </p:txBody>
      </p:sp>
      <p:sp>
        <p:nvSpPr>
          <p:cNvPr id="6" name="Rounded Rectangle 5"/>
          <p:cNvSpPr/>
          <p:nvPr/>
        </p:nvSpPr>
        <p:spPr>
          <a:xfrm>
            <a:off x="4251960" y="960120"/>
            <a:ext cx="3611880" cy="5394960"/>
          </a:xfrm>
          <a:prstGeom prst="roundRect">
            <a:avLst/>
          </a:prstGeom>
          <a:solidFill>
            <a:srgbClr val="F8FAFC"/>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182880" rIns="182880" tIns="182880" bIns="182880"/>
          <a:lstStyle/>
          <a:p>
            <a:pPr algn="ctr">
              <a:defRPr sz="1000" b="1">
                <a:solidFill>
                  <a:srgbClr val="0F172A"/>
                </a:solidFill>
              </a:defRPr>
            </a:pPr>
            <a:r>
              <a:t>2. STATUS / ISSUES &amp; DATA POINTS</a:t>
            </a:r>
          </a:p>
          <a:p>
            <a:pPr>
              <a:defRPr sz="800">
                <a:solidFill>
                  <a:srgbClr val="E2E8F0"/>
                </a:solidFill>
              </a:defRPr>
            </a:pPr>
            <a:r>
              <a:t>————————————————————</a:t>
            </a:r>
          </a:p>
          <a:p>
            <a:pPr>
              <a:defRPr sz="850">
                <a:solidFill>
                  <a:srgbClr val="0F172A"/>
                </a:solidFill>
              </a:defRPr>
            </a:pPr>
            <a:r>
              <a:t>• Data Point: Cinema Hub đạt 822.4K PVs (+1.46% MoM, chiếm 23.73% Web), tỷ lệ Click-to-App chỉ đạt 4.25%.</a:t>
            </a:r>
          </a:p>
          <a:p>
            <a:pPr>
              <a:defRPr sz="850">
                <a:solidFill>
                  <a:srgbClr val="0F172A"/>
                </a:solidFill>
              </a:defRPr>
            </a:pPr>
            <a:r>
              <a:t>• Data Point: 25% - 30% khách hàng vãng lai rời bỏ giỏ hàng khi bị ép buộc phải chuyển hướng mở App MoMo để chọn ghế và giữ chỗ.</a:t>
            </a:r>
          </a:p>
          <a:p>
            <a:pPr>
              <a:defRPr sz="850">
                <a:solidFill>
                  <a:srgbClr val="0F172A"/>
                </a:solidFill>
              </a:defRPr>
            </a:pPr>
            <a:r>
              <a:t>• Issue: Mạng lưới 150+ Landing Pages cụm rạp đã hoàn thiện hạ tầng kỹ thuật nhưng chưa có cơ chế chốt đơn trực tiếp.</a:t>
            </a:r>
          </a:p>
        </p:txBody>
      </p:sp>
      <p:sp>
        <p:nvSpPr>
          <p:cNvPr id="7" name="Rounded Rectangle 6"/>
          <p:cNvSpPr/>
          <p:nvPr/>
        </p:nvSpPr>
        <p:spPr>
          <a:xfrm>
            <a:off x="7955279" y="960120"/>
            <a:ext cx="3611880" cy="5394960"/>
          </a:xfrm>
          <a:prstGeom prst="roundRect">
            <a:avLst/>
          </a:prstGeom>
          <a:solidFill>
            <a:srgbClr val="FFFFFF"/>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182880" rIns="182880" tIns="182880" bIns="182880"/>
          <a:lstStyle/>
          <a:p>
            <a:pPr algn="ctr">
              <a:defRPr sz="1000" b="1">
                <a:solidFill>
                  <a:srgbClr val="16A34A"/>
                </a:solidFill>
              </a:defRPr>
            </a:pPr>
            <a:r>
              <a:t>3. SOLUTIONS &amp; RECOMMENDATIONS</a:t>
            </a:r>
          </a:p>
          <a:p>
            <a:pPr>
              <a:defRPr sz="800">
                <a:solidFill>
                  <a:srgbClr val="E2E8F0"/>
                </a:solidFill>
              </a:defRPr>
            </a:pPr>
            <a:r>
              <a:t>————————————————————</a:t>
            </a:r>
          </a:p>
          <a:p>
            <a:pPr>
              <a:defRPr sz="850">
                <a:solidFill>
                  <a:srgbClr val="0F172A"/>
                </a:solidFill>
              </a:defRPr>
            </a:pPr>
            <a:r>
              <a:t>• BU Movies và Backend Payment đồng thuận thử nghiệm luồng Native QR Web Booking cho 30% lưu lượng trong Tháng 9 để đo lường doanh thu thuần.</a:t>
            </a:r>
          </a:p>
          <a:p>
            <a:pPr>
              <a:defRPr sz="850">
                <a:solidFill>
                  <a:srgbClr val="0F172A"/>
                </a:solidFill>
              </a:defRPr>
            </a:pPr>
            <a:r>
              <a:t>• Tích hợp Mini Game Đố vui nhận vé 0đ / Voucher bắp nước trên Web để nâng CTR Click-to-App lên &gt;= 8.0%.</a:t>
            </a:r>
          </a:p>
          <a:p>
            <a:pPr>
              <a:defRPr sz="850">
                <a:solidFill>
                  <a:srgbClr val="0F172A"/>
                </a:solidFill>
              </a:defRPr>
            </a:pPr>
            <a:r>
              <a:t>• Kết nối API trạng thái giữ ghế realtime từ các rạp đối tác (CGV, Lotte, Galaxy, BHD) trước ngày 15/09.</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182880"/>
            <a:ext cx="7772400" cy="228600"/>
          </a:xfrm>
          <a:prstGeom prst="rect">
            <a:avLst/>
          </a:prstGeom>
          <a:noFill/>
        </p:spPr>
        <p:txBody>
          <a:bodyPr wrap="none">
            <a:spAutoFit/>
          </a:bodyPr>
          <a:lstStyle/>
          <a:p>
            <a:pPr>
              <a:defRPr sz="900" b="1">
                <a:solidFill>
                  <a:srgbClr val="B0006D"/>
                </a:solidFill>
              </a:defRPr>
            </a:pPr>
            <a:r>
              <a:t>BUSINESS STRATEGIC · STUDENT HUB</a:t>
            </a:r>
          </a:p>
        </p:txBody>
      </p:sp>
      <p:sp>
        <p:nvSpPr>
          <p:cNvPr id="3" name="Rounded Rectangle 2"/>
          <p:cNvSpPr/>
          <p:nvPr/>
        </p:nvSpPr>
        <p:spPr>
          <a:xfrm>
            <a:off x="9692640" y="182880"/>
            <a:ext cx="1950415" cy="320040"/>
          </a:xfrm>
          <a:prstGeom prst="roundRect">
            <a:avLst/>
          </a:prstGeom>
          <a:solidFill>
            <a:srgbClr val="0284C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900" b="1">
                <a:solidFill>
                  <a:srgbClr val="FFFFFF"/>
                </a:solidFill>
              </a:defRPr>
            </a:pPr>
            <a:r>
              <a:t>[R] REPORTING</a:t>
            </a:r>
          </a:p>
        </p:txBody>
      </p:sp>
      <p:sp>
        <p:nvSpPr>
          <p:cNvPr id="4" name="TextBox 3"/>
          <p:cNvSpPr txBox="1"/>
          <p:nvPr/>
        </p:nvSpPr>
        <p:spPr>
          <a:xfrm>
            <a:off x="548640" y="384048"/>
            <a:ext cx="8961120" cy="411480"/>
          </a:xfrm>
          <a:prstGeom prst="rect">
            <a:avLst/>
          </a:prstGeom>
          <a:noFill/>
        </p:spPr>
        <p:txBody>
          <a:bodyPr wrap="none">
            <a:spAutoFit/>
          </a:bodyPr>
          <a:lstStyle/>
          <a:p>
            <a:pPr>
              <a:defRPr sz="1700" b="1">
                <a:solidFill>
                  <a:srgbClr val="0F172A"/>
                </a:solidFill>
              </a:defRPr>
            </a:pPr>
            <a:r>
              <a:t>STUDENT HUB: HẠ TẦNG VẬN HÀNH &amp; TRANG CHI TIẾT TRƯỜNG HỌC</a:t>
            </a:r>
          </a:p>
        </p:txBody>
      </p:sp>
      <p:graphicFrame>
        <p:nvGraphicFramePr>
          <p:cNvPr id="5" name="Table 4"/>
          <p:cNvGraphicFramePr>
            <a:graphicFrameLocks noGrp="1"/>
          </p:cNvGraphicFramePr>
          <p:nvPr/>
        </p:nvGraphicFramePr>
        <p:xfrm>
          <a:off x="548640" y="868680"/>
          <a:ext cx="5303520" cy="2926080"/>
        </p:xfrm>
        <a:graphic>
          <a:graphicData uri="http://schemas.openxmlformats.org/drawingml/2006/table">
            <a:tbl>
              <a:tblPr firstRow="1" bandRow="1">
                <a:tableStyleId>{5C22544A-7EE6-4342-B048-85BDC9FD1C3A}</a:tableStyleId>
              </a:tblPr>
              <a:tblGrid>
                <a:gridCol w="2011680"/>
                <a:gridCol w="822960"/>
                <a:gridCol w="822960"/>
                <a:gridCol w="822960"/>
                <a:gridCol w="822960"/>
              </a:tblGrid>
              <a:tr h="585216">
                <a:tc>
                  <a:txBody>
                    <a:bodyPr/>
                    <a:lstStyle/>
                    <a:p>
                      <a:pPr algn="ctr">
                        <a:defRPr sz="800" b="1">
                          <a:solidFill>
                            <a:srgbClr val="FFFFFF"/>
                          </a:solidFill>
                        </a:defRPr>
                      </a:pPr>
                      <a:r>
                        <a:t>Chuyên Trang Student Hub</a:t>
                      </a:r>
                    </a:p>
                  </a:txBody>
                  <a:tcPr>
                    <a:solidFill>
                      <a:srgbClr val="B0006D"/>
                    </a:solidFill>
                  </a:tcPr>
                </a:tc>
                <a:tc>
                  <a:txBody>
                    <a:bodyPr/>
                    <a:lstStyle/>
                    <a:p>
                      <a:pPr algn="ctr">
                        <a:defRPr sz="800" b="1">
                          <a:solidFill>
                            <a:srgbClr val="FFFFFF"/>
                          </a:solidFill>
                        </a:defRPr>
                      </a:pPr>
                      <a:r>
                        <a:t>Target Q3</a:t>
                      </a:r>
                    </a:p>
                  </a:txBody>
                  <a:tcPr>
                    <a:solidFill>
                      <a:srgbClr val="B0006D"/>
                    </a:solidFill>
                  </a:tcPr>
                </a:tc>
                <a:tc>
                  <a:txBody>
                    <a:bodyPr/>
                    <a:lstStyle/>
                    <a:p>
                      <a:pPr algn="ctr">
                        <a:defRPr sz="800" b="1">
                          <a:solidFill>
                            <a:srgbClr val="FFFFFF"/>
                          </a:solidFill>
                        </a:defRPr>
                      </a:pPr>
                      <a:r>
                        <a:t>Target T12</a:t>
                      </a:r>
                    </a:p>
                  </a:txBody>
                  <a:tcPr>
                    <a:solidFill>
                      <a:srgbClr val="B0006D"/>
                    </a:solidFill>
                  </a:tcPr>
                </a:tc>
                <a:tc>
                  <a:txBody>
                    <a:bodyPr/>
                    <a:lstStyle/>
                    <a:p>
                      <a:pPr algn="ctr">
                        <a:defRPr sz="800" b="1">
                          <a:solidFill>
                            <a:srgbClr val="FFFFFF"/>
                          </a:solidFill>
                        </a:defRPr>
                      </a:pPr>
                      <a:r>
                        <a:t>Mục Tiêu CTR</a:t>
                      </a:r>
                    </a:p>
                  </a:txBody>
                  <a:tcPr>
                    <a:solidFill>
                      <a:srgbClr val="B0006D"/>
                    </a:solidFill>
                  </a:tcPr>
                </a:tc>
                <a:tc>
                  <a:txBody>
                    <a:bodyPr/>
                    <a:lstStyle/>
                    <a:p>
                      <a:pPr algn="ctr">
                        <a:defRPr sz="800" b="1">
                          <a:solidFill>
                            <a:srgbClr val="FFFFFF"/>
                          </a:solidFill>
                        </a:defRPr>
                      </a:pPr>
                      <a:r>
                        <a:t>% Tỷ Trọng</a:t>
                      </a:r>
                    </a:p>
                  </a:txBody>
                  <a:tcPr>
                    <a:solidFill>
                      <a:srgbClr val="B0006D"/>
                    </a:solidFill>
                  </a:tcPr>
                </a:tc>
              </a:tr>
              <a:tr h="585216">
                <a:tc>
                  <a:txBody>
                    <a:bodyPr/>
                    <a:lstStyle/>
                    <a:p>
                      <a:pPr algn="l">
                        <a:defRPr sz="750"/>
                      </a:pPr>
                      <a:r>
                        <a:t>Cổng Sinh Viên (/sinh-vien)</a:t>
                      </a:r>
                    </a:p>
                  </a:txBody>
                  <a:tcPr>
                    <a:solidFill>
                      <a:srgbClr val="FFFFFF"/>
                    </a:solidFill>
                  </a:tcPr>
                </a:tc>
                <a:tc>
                  <a:txBody>
                    <a:bodyPr/>
                    <a:lstStyle/>
                    <a:p>
                      <a:pPr algn="ctr">
                        <a:defRPr sz="750"/>
                      </a:pPr>
                      <a:r>
                        <a:t>180,000</a:t>
                      </a:r>
                    </a:p>
                  </a:txBody>
                  <a:tcPr>
                    <a:solidFill>
                      <a:srgbClr val="FFFFFF"/>
                    </a:solidFill>
                  </a:tcPr>
                </a:tc>
                <a:tc>
                  <a:txBody>
                    <a:bodyPr/>
                    <a:lstStyle/>
                    <a:p>
                      <a:pPr algn="ctr">
                        <a:defRPr sz="750"/>
                      </a:pPr>
                      <a:r>
                        <a:t>220,000</a:t>
                      </a:r>
                    </a:p>
                  </a:txBody>
                  <a:tcPr>
                    <a:solidFill>
                      <a:srgbClr val="FFFFFF"/>
                    </a:solidFill>
                  </a:tcPr>
                </a:tc>
                <a:tc>
                  <a:txBody>
                    <a:bodyPr/>
                    <a:lstStyle/>
                    <a:p>
                      <a:pPr algn="ctr">
                        <a:defRPr sz="750"/>
                      </a:pPr>
                      <a:r>
                        <a:t>&gt;= 32.0%</a:t>
                      </a:r>
                    </a:p>
                  </a:txBody>
                  <a:tcPr>
                    <a:solidFill>
                      <a:srgbClr val="FFFFFF"/>
                    </a:solidFill>
                  </a:tcPr>
                </a:tc>
                <a:tc>
                  <a:txBody>
                    <a:bodyPr/>
                    <a:lstStyle/>
                    <a:p>
                      <a:pPr algn="ctr">
                        <a:defRPr sz="750"/>
                      </a:pPr>
                      <a:r>
                        <a:t>40.0%</a:t>
                      </a:r>
                    </a:p>
                  </a:txBody>
                  <a:tcPr>
                    <a:solidFill>
                      <a:srgbClr val="FFFFFF"/>
                    </a:solidFill>
                  </a:tcPr>
                </a:tc>
              </a:tr>
              <a:tr h="585216">
                <a:tc>
                  <a:txBody>
                    <a:bodyPr/>
                    <a:lstStyle/>
                    <a:p>
                      <a:pPr algn="l">
                        <a:defRPr sz="750"/>
                      </a:pPr>
                      <a:r>
                        <a:t>Trang Chi Tiết Trường (/truong-hoc)</a:t>
                      </a:r>
                    </a:p>
                  </a:txBody>
                  <a:tcPr>
                    <a:solidFill>
                      <a:srgbClr val="FDF2F8"/>
                    </a:solidFill>
                  </a:tcPr>
                </a:tc>
                <a:tc>
                  <a:txBody>
                    <a:bodyPr/>
                    <a:lstStyle/>
                    <a:p>
                      <a:pPr algn="ctr">
                        <a:defRPr sz="750"/>
                      </a:pPr>
                      <a:r>
                        <a:t>180,000</a:t>
                      </a:r>
                    </a:p>
                  </a:txBody>
                  <a:tcPr>
                    <a:solidFill>
                      <a:srgbClr val="FDF2F8"/>
                    </a:solidFill>
                  </a:tcPr>
                </a:tc>
                <a:tc>
                  <a:txBody>
                    <a:bodyPr/>
                    <a:lstStyle/>
                    <a:p>
                      <a:pPr algn="ctr">
                        <a:defRPr sz="750"/>
                      </a:pPr>
                      <a:r>
                        <a:t>220,000</a:t>
                      </a:r>
                    </a:p>
                  </a:txBody>
                  <a:tcPr>
                    <a:solidFill>
                      <a:srgbClr val="FDF2F8"/>
                    </a:solidFill>
                  </a:tcPr>
                </a:tc>
                <a:tc>
                  <a:txBody>
                    <a:bodyPr/>
                    <a:lstStyle/>
                    <a:p>
                      <a:pPr algn="ctr">
                        <a:defRPr sz="750"/>
                      </a:pPr>
                      <a:r>
                        <a:t>&gt;= 30.0%</a:t>
                      </a:r>
                    </a:p>
                  </a:txBody>
                  <a:tcPr>
                    <a:solidFill>
                      <a:srgbClr val="FDF2F8"/>
                    </a:solidFill>
                  </a:tcPr>
                </a:tc>
                <a:tc>
                  <a:txBody>
                    <a:bodyPr/>
                    <a:lstStyle/>
                    <a:p>
                      <a:pPr algn="ctr">
                        <a:defRPr sz="750"/>
                      </a:pPr>
                      <a:r>
                        <a:t>40.0%</a:t>
                      </a:r>
                    </a:p>
                  </a:txBody>
                  <a:tcPr>
                    <a:solidFill>
                      <a:srgbClr val="FDF2F8"/>
                    </a:solidFill>
                  </a:tcPr>
                </a:tc>
              </a:tr>
              <a:tr h="585216">
                <a:tc>
                  <a:txBody>
                    <a:bodyPr/>
                    <a:lstStyle/>
                    <a:p>
                      <a:pPr algn="l">
                        <a:defRPr sz="750"/>
                      </a:pPr>
                      <a:r>
                        <a:t>Cẩm Nang Tân Sinh Viên (120 bài)</a:t>
                      </a:r>
                    </a:p>
                  </a:txBody>
                  <a:tcPr>
                    <a:solidFill>
                      <a:srgbClr val="FFFFFF"/>
                    </a:solidFill>
                  </a:tcPr>
                </a:tc>
                <a:tc>
                  <a:txBody>
                    <a:bodyPr/>
                    <a:lstStyle/>
                    <a:p>
                      <a:pPr algn="ctr">
                        <a:defRPr sz="750"/>
                      </a:pPr>
                      <a:r>
                        <a:t>90,000</a:t>
                      </a:r>
                    </a:p>
                  </a:txBody>
                  <a:tcPr>
                    <a:solidFill>
                      <a:srgbClr val="FFFFFF"/>
                    </a:solidFill>
                  </a:tcPr>
                </a:tc>
                <a:tc>
                  <a:txBody>
                    <a:bodyPr/>
                    <a:lstStyle/>
                    <a:p>
                      <a:pPr algn="ctr">
                        <a:defRPr sz="750"/>
                      </a:pPr>
                      <a:r>
                        <a:t>110,000</a:t>
                      </a:r>
                    </a:p>
                  </a:txBody>
                  <a:tcPr>
                    <a:solidFill>
                      <a:srgbClr val="FFFFFF"/>
                    </a:solidFill>
                  </a:tcPr>
                </a:tc>
                <a:tc>
                  <a:txBody>
                    <a:bodyPr/>
                    <a:lstStyle/>
                    <a:p>
                      <a:pPr algn="ctr">
                        <a:defRPr sz="750"/>
                      </a:pPr>
                      <a:r>
                        <a:t>&gt;= 35.0%</a:t>
                      </a:r>
                    </a:p>
                  </a:txBody>
                  <a:tcPr>
                    <a:solidFill>
                      <a:srgbClr val="FFFFFF"/>
                    </a:solidFill>
                  </a:tcPr>
                </a:tc>
                <a:tc>
                  <a:txBody>
                    <a:bodyPr/>
                    <a:lstStyle/>
                    <a:p>
                      <a:pPr algn="ctr">
                        <a:defRPr sz="750"/>
                      </a:pPr>
                      <a:r>
                        <a:t>20.0%</a:t>
                      </a:r>
                    </a:p>
                  </a:txBody>
                  <a:tcPr>
                    <a:solidFill>
                      <a:srgbClr val="FFFFFF"/>
                    </a:solidFill>
                  </a:tcPr>
                </a:tc>
              </a:tr>
              <a:tr h="585216">
                <a:tc>
                  <a:txBody>
                    <a:bodyPr/>
                    <a:lstStyle/>
                    <a:p>
                      <a:pPr algn="l">
                        <a:defRPr sz="750" b="1"/>
                      </a:pPr>
                      <a:r>
                        <a:t>TỔNG STUDENT HUB</a:t>
                      </a:r>
                    </a:p>
                  </a:txBody>
                  <a:tcPr>
                    <a:solidFill>
                      <a:srgbClr val="F1F5F9"/>
                    </a:solidFill>
                  </a:tcPr>
                </a:tc>
                <a:tc>
                  <a:txBody>
                    <a:bodyPr/>
                    <a:lstStyle/>
                    <a:p>
                      <a:pPr algn="ctr">
                        <a:defRPr sz="750" b="1"/>
                      </a:pPr>
                      <a:r>
                        <a:t>450,000</a:t>
                      </a:r>
                    </a:p>
                  </a:txBody>
                  <a:tcPr>
                    <a:solidFill>
                      <a:srgbClr val="F1F5F9"/>
                    </a:solidFill>
                  </a:tcPr>
                </a:tc>
                <a:tc>
                  <a:txBody>
                    <a:bodyPr/>
                    <a:lstStyle/>
                    <a:p>
                      <a:pPr algn="ctr">
                        <a:defRPr sz="750" b="1"/>
                      </a:pPr>
                      <a:r>
                        <a:t>550,000</a:t>
                      </a:r>
                    </a:p>
                  </a:txBody>
                  <a:tcPr>
                    <a:solidFill>
                      <a:srgbClr val="F1F5F9"/>
                    </a:solidFill>
                  </a:tcPr>
                </a:tc>
                <a:tc>
                  <a:txBody>
                    <a:bodyPr/>
                    <a:lstStyle/>
                    <a:p>
                      <a:pPr algn="ctr">
                        <a:defRPr sz="750" b="1"/>
                      </a:pPr>
                      <a:r>
                        <a:t>&gt;= 30.0%</a:t>
                      </a:r>
                    </a:p>
                  </a:txBody>
                  <a:tcPr>
                    <a:solidFill>
                      <a:srgbClr val="F1F5F9"/>
                    </a:solidFill>
                  </a:tcPr>
                </a:tc>
                <a:tc>
                  <a:txBody>
                    <a:bodyPr/>
                    <a:lstStyle/>
                    <a:p>
                      <a:pPr algn="ctr">
                        <a:defRPr sz="750" b="1"/>
                      </a:pPr>
                      <a:r>
                        <a:t>100.0%</a:t>
                      </a:r>
                    </a:p>
                  </a:txBody>
                  <a:tcPr>
                    <a:solidFill>
                      <a:srgbClr val="F1F5F9"/>
                    </a:solidFill>
                  </a:tcPr>
                </a:tc>
              </a:tr>
            </a:tbl>
          </a:graphicData>
        </a:graphic>
      </p:graphicFrame>
      <p:graphicFrame>
        <p:nvGraphicFramePr>
          <p:cNvPr id="6" name="Table 5"/>
          <p:cNvGraphicFramePr>
            <a:graphicFrameLocks noGrp="1"/>
          </p:cNvGraphicFramePr>
          <p:nvPr/>
        </p:nvGraphicFramePr>
        <p:xfrm>
          <a:off x="6035040" y="868680"/>
          <a:ext cx="5608015" cy="2926080"/>
        </p:xfrm>
        <a:graphic>
          <a:graphicData uri="http://schemas.openxmlformats.org/drawingml/2006/table">
            <a:tbl>
              <a:tblPr firstRow="1" bandRow="1">
                <a:tableStyleId>{5C22544A-7EE6-4342-B048-85BDC9FD1C3A}</a:tableStyleId>
              </a:tblPr>
              <a:tblGrid>
                <a:gridCol w="2041855"/>
                <a:gridCol w="1188720"/>
                <a:gridCol w="1188720"/>
                <a:gridCol w="1188720"/>
              </a:tblGrid>
              <a:tr h="585216">
                <a:tc>
                  <a:txBody>
                    <a:bodyPr/>
                    <a:lstStyle/>
                    <a:p>
                      <a:pPr algn="ctr">
                        <a:defRPr sz="750" b="1">
                          <a:solidFill>
                            <a:srgbClr val="FFFFFF"/>
                          </a:solidFill>
                        </a:defRPr>
                      </a:pPr>
                      <a:r>
                        <a:t>Hạ Tầng Chi Tiết Trường</a:t>
                      </a:r>
                    </a:p>
                  </a:txBody>
                  <a:tcPr>
                    <a:solidFill>
                      <a:srgbClr val="475569"/>
                    </a:solidFill>
                  </a:tcPr>
                </a:tc>
                <a:tc>
                  <a:txBody>
                    <a:bodyPr/>
                    <a:lstStyle/>
                    <a:p>
                      <a:pPr algn="ctr">
                        <a:defRPr sz="750" b="1">
                          <a:solidFill>
                            <a:srgbClr val="FFFFFF"/>
                          </a:solidFill>
                        </a:defRPr>
                      </a:pPr>
                      <a:r>
                        <a:t>Quy Mô Triển Khai</a:t>
                      </a:r>
                    </a:p>
                  </a:txBody>
                  <a:tcPr>
                    <a:solidFill>
                      <a:srgbClr val="475569"/>
                    </a:solidFill>
                  </a:tcPr>
                </a:tc>
                <a:tc>
                  <a:txBody>
                    <a:bodyPr/>
                    <a:lstStyle/>
                    <a:p>
                      <a:pPr algn="ctr">
                        <a:defRPr sz="750" b="1">
                          <a:solidFill>
                            <a:srgbClr val="FFFFFF"/>
                          </a:solidFill>
                        </a:defRPr>
                      </a:pPr>
                      <a:r>
                        <a:t>Vai Trò Vận Hành</a:t>
                      </a:r>
                    </a:p>
                  </a:txBody>
                  <a:tcPr>
                    <a:solidFill>
                      <a:srgbClr val="475569"/>
                    </a:solidFill>
                  </a:tcPr>
                </a:tc>
                <a:tc>
                  <a:txBody>
                    <a:bodyPr/>
                    <a:lstStyle/>
                    <a:p>
                      <a:pPr algn="ctr">
                        <a:defRPr sz="750" b="1">
                          <a:solidFill>
                            <a:srgbClr val="FFFFFF"/>
                          </a:solidFill>
                        </a:defRPr>
                      </a:pPr>
                      <a:r>
                        <a:t>Trạng Thái</a:t>
                      </a:r>
                    </a:p>
                  </a:txBody>
                  <a:tcPr>
                    <a:solidFill>
                      <a:srgbClr val="475569"/>
                    </a:solidFill>
                  </a:tcPr>
                </a:tc>
              </a:tr>
              <a:tr h="585216">
                <a:tc>
                  <a:txBody>
                    <a:bodyPr/>
                    <a:lstStyle/>
                    <a:p>
                      <a:pPr algn="l">
                        <a:defRPr sz="750" b="1"/>
                      </a:pPr>
                      <a:r>
                        <a:t>Puck Editor Vận Hành</a:t>
                      </a:r>
                    </a:p>
                  </a:txBody>
                  <a:tcPr>
                    <a:solidFill>
                      <a:srgbClr val="FFFFFF"/>
                    </a:solidFill>
                  </a:tcPr>
                </a:tc>
                <a:tc>
                  <a:txBody>
                    <a:bodyPr/>
                    <a:lstStyle/>
                    <a:p>
                      <a:pPr algn="ctr">
                        <a:defRPr sz="750"/>
                      </a:pPr>
                      <a:r>
                        <a:t>Mở rộng 5 lên 100+ trường</a:t>
                      </a:r>
                    </a:p>
                  </a:txBody>
                  <a:tcPr>
                    <a:solidFill>
                      <a:srgbClr val="FFFFFF"/>
                    </a:solidFill>
                  </a:tcPr>
                </a:tc>
                <a:tc>
                  <a:txBody>
                    <a:bodyPr/>
                    <a:lstStyle/>
                    <a:p>
                      <a:pPr algn="ctr">
                        <a:defRPr sz="750"/>
                      </a:pPr>
                      <a:r>
                        <a:t>Content tự dựng trang</a:t>
                      </a:r>
                    </a:p>
                  </a:txBody>
                  <a:tcPr>
                    <a:solidFill>
                      <a:srgbClr val="FFFFFF"/>
                    </a:solidFill>
                  </a:tcPr>
                </a:tc>
                <a:tc>
                  <a:txBody>
                    <a:bodyPr/>
                    <a:lstStyle/>
                    <a:p>
                      <a:pPr algn="ctr">
                        <a:defRPr sz="750" b="1">
                          <a:solidFill>
                            <a:srgbClr val="16A34A"/>
                          </a:solidFill>
                        </a:defRPr>
                      </a:pPr>
                      <a:r>
                        <a:t>Đã Sẵn Sàng</a:t>
                      </a:r>
                    </a:p>
                  </a:txBody>
                  <a:tcPr>
                    <a:solidFill>
                      <a:srgbClr val="FFFFFF"/>
                    </a:solidFill>
                  </a:tcPr>
                </a:tc>
              </a:tr>
              <a:tr h="585216">
                <a:tc>
                  <a:txBody>
                    <a:bodyPr/>
                    <a:lstStyle/>
                    <a:p>
                      <a:pPr algn="l">
                        <a:defRPr sz="750" b="1"/>
                      </a:pPr>
                      <a:r>
                        <a:t>Review Đánh Giá Từng Trường</a:t>
                      </a:r>
                    </a:p>
                  </a:txBody>
                  <a:tcPr>
                    <a:solidFill>
                      <a:srgbClr val="FDF2F8"/>
                    </a:solidFill>
                  </a:tcPr>
                </a:tc>
                <a:tc>
                  <a:txBody>
                    <a:bodyPr/>
                    <a:lstStyle/>
                    <a:p>
                      <a:pPr algn="ctr">
                        <a:defRPr sz="750"/>
                      </a:pPr>
                      <a:r>
                        <a:t>Tích hợp API Student Pass</a:t>
                      </a:r>
                    </a:p>
                  </a:txBody>
                  <a:tcPr>
                    <a:solidFill>
                      <a:srgbClr val="FDF2F8"/>
                    </a:solidFill>
                  </a:tcPr>
                </a:tc>
                <a:tc>
                  <a:txBody>
                    <a:bodyPr/>
                    <a:lstStyle/>
                    <a:p>
                      <a:pPr algn="ctr">
                        <a:defRPr sz="750"/>
                      </a:pPr>
                      <a:r>
                        <a:t>Xem review không cần login</a:t>
                      </a:r>
                    </a:p>
                  </a:txBody>
                  <a:tcPr>
                    <a:solidFill>
                      <a:srgbClr val="FDF2F8"/>
                    </a:solidFill>
                  </a:tcPr>
                </a:tc>
                <a:tc>
                  <a:txBody>
                    <a:bodyPr/>
                    <a:lstStyle/>
                    <a:p>
                      <a:pPr algn="ctr">
                        <a:defRPr sz="750" b="1">
                          <a:solidFill>
                            <a:srgbClr val="16A34A"/>
                          </a:solidFill>
                        </a:defRPr>
                      </a:pPr>
                      <a:r>
                        <a:t>Đã Tích Hợp</a:t>
                      </a:r>
                    </a:p>
                  </a:txBody>
                  <a:tcPr>
                    <a:solidFill>
                      <a:srgbClr val="FDF2F8"/>
                    </a:solidFill>
                  </a:tcPr>
                </a:tc>
              </a:tr>
              <a:tr h="585216">
                <a:tc>
                  <a:txBody>
                    <a:bodyPr/>
                    <a:lstStyle/>
                    <a:p>
                      <a:pPr algn="l">
                        <a:defRPr sz="750" b="1"/>
                      </a:pPr>
                      <a:r>
                        <a:t>Tiện Ích Merchant Gần Trường</a:t>
                      </a:r>
                    </a:p>
                  </a:txBody>
                  <a:tcPr>
                    <a:solidFill>
                      <a:srgbClr val="FFFFFF"/>
                    </a:solidFill>
                  </a:tcPr>
                </a:tc>
                <a:tc>
                  <a:txBody>
                    <a:bodyPr/>
                    <a:lstStyle/>
                    <a:p>
                      <a:pPr algn="ctr">
                        <a:defRPr sz="750"/>
                      </a:pPr>
                      <a:r>
                        <a:t>Quán ăn, photo, cà phê</a:t>
                      </a:r>
                    </a:p>
                  </a:txBody>
                  <a:tcPr>
                    <a:solidFill>
                      <a:srgbClr val="FFFFFF"/>
                    </a:solidFill>
                  </a:tcPr>
                </a:tc>
                <a:tc>
                  <a:txBody>
                    <a:bodyPr/>
                    <a:lstStyle/>
                    <a:p>
                      <a:pPr algn="ctr">
                        <a:defRPr sz="750"/>
                      </a:pPr>
                      <a:r>
                        <a:t>Bản đồ bán kính 2km</a:t>
                      </a:r>
                    </a:p>
                  </a:txBody>
                  <a:tcPr>
                    <a:solidFill>
                      <a:srgbClr val="FFFFFF"/>
                    </a:solidFill>
                  </a:tcPr>
                </a:tc>
                <a:tc>
                  <a:txBody>
                    <a:bodyPr/>
                    <a:lstStyle/>
                    <a:p>
                      <a:pPr algn="ctr">
                        <a:defRPr sz="750" b="1">
                          <a:solidFill>
                            <a:srgbClr val="16A34A"/>
                          </a:solidFill>
                        </a:defRPr>
                      </a:pPr>
                      <a:r>
                        <a:t>Hoàn Thiện UI</a:t>
                      </a:r>
                    </a:p>
                  </a:txBody>
                  <a:tcPr>
                    <a:solidFill>
                      <a:srgbClr val="FFFFFF"/>
                    </a:solidFill>
                  </a:tcPr>
                </a:tc>
              </a:tr>
              <a:tr h="585216">
                <a:tc>
                  <a:txBody>
                    <a:bodyPr/>
                    <a:lstStyle/>
                    <a:p>
                      <a:pPr algn="l">
                        <a:defRPr sz="750" b="1"/>
                      </a:pPr>
                      <a:r>
                        <a:t>Content Plan Từng Trường</a:t>
                      </a:r>
                    </a:p>
                  </a:txBody>
                  <a:tcPr>
                    <a:solidFill>
                      <a:srgbClr val="FDF2F8"/>
                    </a:solidFill>
                  </a:tcPr>
                </a:tc>
                <a:tc>
                  <a:txBody>
                    <a:bodyPr/>
                    <a:lstStyle/>
                    <a:p>
                      <a:pPr algn="ctr">
                        <a:defRPr sz="750"/>
                      </a:pPr>
                      <a:r>
                        <a:t>9 Pillar - 23 Cluster/trường</a:t>
                      </a:r>
                    </a:p>
                  </a:txBody>
                  <a:tcPr>
                    <a:solidFill>
                      <a:srgbClr val="FDF2F8"/>
                    </a:solidFill>
                  </a:tcPr>
                </a:tc>
                <a:tc>
                  <a:txBody>
                    <a:bodyPr/>
                    <a:lstStyle/>
                    <a:p>
                      <a:pPr algn="ctr">
                        <a:defRPr sz="750"/>
                      </a:pPr>
                      <a:r>
                        <a:t>SEO Review &amp; Điểm chuẩn</a:t>
                      </a:r>
                    </a:p>
                  </a:txBody>
                  <a:tcPr>
                    <a:solidFill>
                      <a:srgbClr val="FDF2F8"/>
                    </a:solidFill>
                  </a:tcPr>
                </a:tc>
                <a:tc>
                  <a:txBody>
                    <a:bodyPr/>
                    <a:lstStyle/>
                    <a:p>
                      <a:pPr algn="ctr">
                        <a:defRPr sz="750" b="1">
                          <a:solidFill>
                            <a:srgbClr val="16A34A"/>
                          </a:solidFill>
                        </a:defRPr>
                      </a:pPr>
                      <a:r>
                        <a:t>Đang Sản Xuất</a:t>
                      </a:r>
                    </a:p>
                  </a:txBody>
                  <a:tcPr>
                    <a:solidFill>
                      <a:srgbClr val="FDF2F8"/>
                    </a:solidFill>
                  </a:tcPr>
                </a:tc>
              </a:tr>
            </a:tbl>
          </a:graphicData>
        </a:graphic>
      </p:graphicFrame>
      <p:sp>
        <p:nvSpPr>
          <p:cNvPr id="7" name="Rounded Rectangle 6"/>
          <p:cNvSpPr/>
          <p:nvPr/>
        </p:nvSpPr>
        <p:spPr>
          <a:xfrm>
            <a:off x="548640" y="3977639"/>
            <a:ext cx="11094415" cy="2606040"/>
          </a:xfrm>
          <a:prstGeom prst="roundRect">
            <a:avLst/>
          </a:prstGeom>
          <a:solidFill>
            <a:srgbClr val="F8FAFC"/>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182880" rIns="182880" tIns="137160" bIns="137160"/>
          <a:lstStyle/>
          <a:p>
            <a:pPr algn="ctr">
              <a:defRPr sz="850">
                <a:solidFill>
                  <a:srgbClr val="0F172A"/>
                </a:solidFill>
              </a:defRPr>
            </a:pPr>
            <a:r>
              <a:t>Executive Summary: Bối cảnh: Sinh viên (16-22 tuổi) chiếm 30% MAU và ~50% New MAU MoMo (1,49 triệu sinh viên, phủ 61,1% HSSV toàn quốc). Student Hub tập trung xây dựng hệ thống Trang Chi Tiết Trường Học (/truong-hoc) để đón 2,2 triệu tân sinh viên mùa tựu trường Tháng 09/2026; mục tiêu 450.000 - 550.000 PVs/tháng vào Tháng 12/2026 và ~612.000 lượt xác thực Thẻ SV Số. Kết quả: Đã go-live 19/08 với 5 trường trọng điểm (UEH, FTU, TDTU, HCMUT, VLU), hoàn thiện nền tảng Puck Editor (Content tự dựng trang, Dev chỉ làm block) và 2 module dữ liệu độc quyền (Review rating + Tiện ích quanh trường).</a:t>
            </a:r>
          </a:p>
          <a:p>
            <a:pPr>
              <a:defRPr sz="800">
                <a:solidFill>
                  <a:srgbClr val="334155"/>
                </a:solidFill>
              </a:defRPr>
            </a:pPr>
            <a:r>
              <a:t>Problem Statement: Chưa có lưu lượng thực tế để đối chiếu do nội dung trang trường mới bắt đầu sản xuất; cần tăng tốc độ xuất bản để phủ kịp các trường đại học lớn trước mùa nhập học.</a:t>
            </a:r>
          </a:p>
          <a:p>
            <a:pPr>
              <a:defRPr sz="800">
                <a:solidFill>
                  <a:srgbClr val="334155"/>
                </a:solidFill>
              </a:defRPr>
            </a:pPr>
            <a:r>
              <a:t>Hypothesis/Solutions: Ứng dụng Puck Editor để Content team tự mở rộng từ 5 lên 100+ trang trường chi tiết mà không phụ thuộc Dev; triển khai SEO nhóm từ khóa 'Review + tên trường' (9 pillars, 23 clusters/trường) kết hợp 120 bài blog cẩm nang tân sinh viên.</a:t>
            </a:r>
          </a:p>
          <a:p>
            <a:pPr>
              <a:defRPr sz="850" b="1">
                <a:solidFill>
                  <a:srgbClr val="B0006D"/>
                </a:solidFill>
              </a:defRPr>
            </a:pPr>
            <a:r>
              <a:t>Next Steps (Tháng 09/2026): [1] Go-live chính thức Cổng Sinh Viên và hệ thống Trang Chi Tiết Trường Học trước 15/09; [2] Sản xuất 120 bài blog cẩm nang tân sinh viên; [3] Hoàn thiện bộ lọc tiện ích merchant quanh trường (giặt ủi, photocopy, cà phê, quán ăn); [4] Gắn tracking CTA đo tỷ lệ chuyển đổi Web-to-App.</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182880"/>
            <a:ext cx="7772400" cy="228600"/>
          </a:xfrm>
          <a:prstGeom prst="rect">
            <a:avLst/>
          </a:prstGeom>
          <a:noFill/>
        </p:spPr>
        <p:txBody>
          <a:bodyPr wrap="none">
            <a:spAutoFit/>
          </a:bodyPr>
          <a:lstStyle/>
          <a:p>
            <a:pPr>
              <a:defRPr sz="900" b="1">
                <a:solidFill>
                  <a:srgbClr val="B0006D"/>
                </a:solidFill>
              </a:defRPr>
            </a:pPr>
            <a:r>
              <a:t>STRATEGIC DISCUSSION · STUDENT HUB</a:t>
            </a:r>
          </a:p>
        </p:txBody>
      </p:sp>
      <p:sp>
        <p:nvSpPr>
          <p:cNvPr id="3" name="Rounded Rectangle 2"/>
          <p:cNvSpPr/>
          <p:nvPr/>
        </p:nvSpPr>
        <p:spPr>
          <a:xfrm>
            <a:off x="9692640" y="182880"/>
            <a:ext cx="1950415" cy="320040"/>
          </a:xfrm>
          <a:prstGeom prst="roundRect">
            <a:avLst/>
          </a:prstGeom>
          <a:solidFill>
            <a:srgbClr val="D9770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900" b="1">
                <a:solidFill>
                  <a:srgbClr val="FFFFFF"/>
                </a:solidFill>
              </a:defRPr>
            </a:pPr>
            <a:r>
              <a:t>[D] DISCUSSION</a:t>
            </a:r>
          </a:p>
        </p:txBody>
      </p:sp>
      <p:sp>
        <p:nvSpPr>
          <p:cNvPr id="4" name="TextBox 3"/>
          <p:cNvSpPr txBox="1"/>
          <p:nvPr/>
        </p:nvSpPr>
        <p:spPr>
          <a:xfrm>
            <a:off x="548640" y="384048"/>
            <a:ext cx="8961120" cy="411480"/>
          </a:xfrm>
          <a:prstGeom prst="rect">
            <a:avLst/>
          </a:prstGeom>
          <a:noFill/>
        </p:spPr>
        <p:txBody>
          <a:bodyPr wrap="none">
            <a:spAutoFit/>
          </a:bodyPr>
          <a:lstStyle/>
          <a:p>
            <a:pPr>
              <a:defRPr sz="1700" b="1">
                <a:solidFill>
                  <a:srgbClr val="0F172A"/>
                </a:solidFill>
              </a:defRPr>
            </a:pPr>
            <a:r>
              <a:t>DISCUSSION: MỞ RỘNG 100+ TRANG CHI TIẾT TRƯỜNG HỌC &amp; TIỆN ÍCH SINH VIÊN</a:t>
            </a:r>
          </a:p>
        </p:txBody>
      </p:sp>
      <p:sp>
        <p:nvSpPr>
          <p:cNvPr id="5" name="Rounded Rectangle 4"/>
          <p:cNvSpPr/>
          <p:nvPr/>
        </p:nvSpPr>
        <p:spPr>
          <a:xfrm>
            <a:off x="548640" y="960120"/>
            <a:ext cx="3611880" cy="5394960"/>
          </a:xfrm>
          <a:prstGeom prst="roundRect">
            <a:avLst/>
          </a:prstGeom>
          <a:solidFill>
            <a:srgbClr val="FFFFFF"/>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182880" rIns="182880" tIns="182880" bIns="182880"/>
          <a:lstStyle/>
          <a:p>
            <a:pPr algn="ctr">
              <a:defRPr sz="1000" b="1">
                <a:solidFill>
                  <a:srgbClr val="B0006D"/>
                </a:solidFill>
              </a:defRPr>
            </a:pPr>
            <a:r>
              <a:t>1. PROBLEM STATEMENT</a:t>
            </a:r>
          </a:p>
          <a:p>
            <a:pPr>
              <a:defRPr sz="800">
                <a:solidFill>
                  <a:srgbClr val="E2E8F0"/>
                </a:solidFill>
              </a:defRPr>
            </a:pPr>
            <a:r>
              <a:t>————————————————————</a:t>
            </a:r>
          </a:p>
          <a:p>
            <a:pPr>
              <a:defRPr sz="850">
                <a:solidFill>
                  <a:srgbClr val="0F172A"/>
                </a:solidFill>
              </a:defRPr>
            </a:pPr>
            <a:r>
              <a:t>• Kế hoạch ra mắt Cổng Sinh Viên &amp; Trang Trường Học (trước 15/09/2026): Tập trung nguồn lực hoàn thiện hệ thống Trang Chi Tiết Trường Học (/truong-hoc) đón 2,2 triệu tân sinh viên.</a:t>
            </a:r>
          </a:p>
          <a:p>
            <a:pPr>
              <a:defRPr sz="850">
                <a:solidFill>
                  <a:srgbClr val="0F172A"/>
                </a:solidFill>
              </a:defRPr>
            </a:pPr>
            <a:r>
              <a:t>• Tháo gỡ điểm nghẽn sản xuất: Chuyển toàn bộ khâu dựng trang chi tiết trường sang Puck Editor để Content team tự mở rộng từ 5 lên 100+ trường đại học, không phụ thuộc Dev.</a:t>
            </a:r>
          </a:p>
          <a:p>
            <a:pPr>
              <a:defRPr sz="850">
                <a:solidFill>
                  <a:srgbClr val="0F172A"/>
                </a:solidFill>
              </a:defRPr>
            </a:pPr>
            <a:r>
              <a:t>• Tích hợp dữ liệu độc quyền cho từng trường: Hiển thị đánh giá thực tế của sinh viên từ Student Pass và danh bạ điểm thanh toán MoMo quanh trường (quán ăn, photocopy, cà phê).</a:t>
            </a:r>
          </a:p>
        </p:txBody>
      </p:sp>
      <p:sp>
        <p:nvSpPr>
          <p:cNvPr id="6" name="Rounded Rectangle 5"/>
          <p:cNvSpPr/>
          <p:nvPr/>
        </p:nvSpPr>
        <p:spPr>
          <a:xfrm>
            <a:off x="4251960" y="960120"/>
            <a:ext cx="3611880" cy="5394960"/>
          </a:xfrm>
          <a:prstGeom prst="roundRect">
            <a:avLst/>
          </a:prstGeom>
          <a:solidFill>
            <a:srgbClr val="F8FAFC"/>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182880" rIns="182880" tIns="182880" bIns="182880"/>
          <a:lstStyle/>
          <a:p>
            <a:pPr algn="ctr">
              <a:defRPr sz="1000" b="1">
                <a:solidFill>
                  <a:srgbClr val="0F172A"/>
                </a:solidFill>
              </a:defRPr>
            </a:pPr>
            <a:r>
              <a:t>2. STATUS / ISSUES &amp; DATA POINTS</a:t>
            </a:r>
          </a:p>
          <a:p>
            <a:pPr>
              <a:defRPr sz="800">
                <a:solidFill>
                  <a:srgbClr val="E2E8F0"/>
                </a:solidFill>
              </a:defRPr>
            </a:pPr>
            <a:r>
              <a:t>————————————————————</a:t>
            </a:r>
          </a:p>
          <a:p>
            <a:pPr>
              <a:defRPr sz="850">
                <a:solidFill>
                  <a:srgbClr val="0F172A"/>
                </a:solidFill>
              </a:defRPr>
            </a:pPr>
            <a:r>
              <a:t>• Hạ tầng đã hoàn thiện: Đã go-live 19/08 với 5 trường trọng điểm (UEH, FTU, TDTU, HCMUT, VLU); tích hợp 2 luồng dữ liệu độc quyền từ App ra Web (API Review Student Pass và Merchant quanh trường bán kính 2km).</a:t>
            </a:r>
          </a:p>
          <a:p>
            <a:pPr>
              <a:defRPr sz="850">
                <a:solidFill>
                  <a:srgbClr val="0F172A"/>
                </a:solidFill>
              </a:defRPr>
            </a:pPr>
            <a:r>
              <a:t>• Quy mô tệp người dùng: Nhóm 16-22 tuổi chiếm 30% MAU và ~50% New MAU MoMo (1,49 triệu sinh viên); mục tiêu Phase 1 đạt ~612.000 Thẻ Sinh Viên Số (~41% tệp hiện có).</a:t>
            </a:r>
          </a:p>
          <a:p>
            <a:pPr>
              <a:defRPr sz="850">
                <a:solidFill>
                  <a:srgbClr val="0F172A"/>
                </a:solidFill>
              </a:defRPr>
            </a:pPr>
            <a:r>
              <a:t>• Vấn đề cần tập trung: Tăng tốc độ xuất bản trang trường chi tiết cho 100+ trường đại học lớn để phủ kịp các từ khóa tìm kiếm về review, học phí và đời sống sinh viên.</a:t>
            </a:r>
          </a:p>
        </p:txBody>
      </p:sp>
      <p:sp>
        <p:nvSpPr>
          <p:cNvPr id="7" name="Rounded Rectangle 6"/>
          <p:cNvSpPr/>
          <p:nvPr/>
        </p:nvSpPr>
        <p:spPr>
          <a:xfrm>
            <a:off x="7955279" y="960120"/>
            <a:ext cx="3611880" cy="5394960"/>
          </a:xfrm>
          <a:prstGeom prst="roundRect">
            <a:avLst/>
          </a:prstGeom>
          <a:solidFill>
            <a:srgbClr val="FFFFFF"/>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182880" rIns="182880" tIns="182880" bIns="182880"/>
          <a:lstStyle/>
          <a:p>
            <a:pPr algn="ctr">
              <a:defRPr sz="1000" b="1">
                <a:solidFill>
                  <a:srgbClr val="16A34A"/>
                </a:solidFill>
              </a:defRPr>
            </a:pPr>
            <a:r>
              <a:t>3. SOLUTIONS &amp; RECOMMENDATIONS</a:t>
            </a:r>
          </a:p>
          <a:p>
            <a:pPr>
              <a:defRPr sz="800">
                <a:solidFill>
                  <a:srgbClr val="E2E8F0"/>
                </a:solidFill>
              </a:defRPr>
            </a:pPr>
            <a:r>
              <a:t>————————————————————</a:t>
            </a:r>
          </a:p>
          <a:p>
            <a:pPr>
              <a:defRPr sz="850">
                <a:solidFill>
                  <a:srgbClr val="0F172A"/>
                </a:solidFill>
              </a:defRPr>
            </a:pPr>
            <a:r>
              <a:t>• Phân công trách nhiệm vận hành: Content team sử dụng Puck Editor mở rộng nội dung từ 5 lên 100+ trường đại học; Student Pass team tiếp tục đẩy mạnh thu thập review sinh viên qua sự kiện tựu trường.</a:t>
            </a:r>
          </a:p>
          <a:p>
            <a:pPr>
              <a:defRPr sz="850">
                <a:solidFill>
                  <a:srgbClr val="0F172A"/>
                </a:solidFill>
              </a:defRPr>
            </a:pPr>
            <a:r>
              <a:t>• Hoàn thiện tiện ích quanh trường: Chốt nguồn dữ liệu merchant (giặt ủi, photocopy, cà phê, quán ăn) và nghiên cứu cơ chế Gamification theo trường (điểm danh, tích Xu, review).</a:t>
            </a:r>
          </a:p>
          <a:p>
            <a:pPr>
              <a:defRPr sz="850">
                <a:solidFill>
                  <a:srgbClr val="0F172A"/>
                </a:solidFill>
              </a:defRPr>
            </a:pPr>
            <a:r>
              <a:t>• Kế hoạch Tháng 09/2026: Xuất bản 120 bài blog cẩm nang và phủ từ khóa 'Review + tên trường' (9 pillars, 23 clusters/trường); đo lường tỷ lệ chuyển đổi Web-to-App qua OneLink.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182880"/>
            <a:ext cx="7772400" cy="228600"/>
          </a:xfrm>
          <a:prstGeom prst="rect">
            <a:avLst/>
          </a:prstGeom>
          <a:noFill/>
        </p:spPr>
        <p:txBody>
          <a:bodyPr wrap="none">
            <a:spAutoFit/>
          </a:bodyPr>
          <a:lstStyle/>
          <a:p>
            <a:pPr>
              <a:defRPr sz="900" b="1">
                <a:solidFill>
                  <a:srgbClr val="B0006D"/>
                </a:solidFill>
              </a:defRPr>
            </a:pPr>
            <a:r>
              <a:t>BUSINESS STRATEGIC · VEHICLE HUB</a:t>
            </a:r>
          </a:p>
        </p:txBody>
      </p:sp>
      <p:sp>
        <p:nvSpPr>
          <p:cNvPr id="3" name="Rounded Rectangle 2"/>
          <p:cNvSpPr/>
          <p:nvPr/>
        </p:nvSpPr>
        <p:spPr>
          <a:xfrm>
            <a:off x="9692640" y="182880"/>
            <a:ext cx="1950415" cy="320040"/>
          </a:xfrm>
          <a:prstGeom prst="roundRect">
            <a:avLst/>
          </a:prstGeom>
          <a:solidFill>
            <a:srgbClr val="0284C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900" b="1">
                <a:solidFill>
                  <a:srgbClr val="FFFFFF"/>
                </a:solidFill>
              </a:defRPr>
            </a:pPr>
            <a:r>
              <a:t>[R] REPORTING</a:t>
            </a:r>
          </a:p>
        </p:txBody>
      </p:sp>
      <p:sp>
        <p:nvSpPr>
          <p:cNvPr id="4" name="TextBox 3"/>
          <p:cNvSpPr txBox="1"/>
          <p:nvPr/>
        </p:nvSpPr>
        <p:spPr>
          <a:xfrm>
            <a:off x="548640" y="384048"/>
            <a:ext cx="8961120" cy="411480"/>
          </a:xfrm>
          <a:prstGeom prst="rect">
            <a:avLst/>
          </a:prstGeom>
          <a:noFill/>
        </p:spPr>
        <p:txBody>
          <a:bodyPr wrap="none">
            <a:spAutoFit/>
          </a:bodyPr>
          <a:lstStyle/>
          <a:p>
            <a:pPr>
              <a:defRPr sz="1700" b="1">
                <a:solidFill>
                  <a:srgbClr val="0F172A"/>
                </a:solidFill>
              </a:defRPr>
            </a:pPr>
            <a:r>
              <a:t>VEHICLE HUB: NỀN TẢNG TIỆN ÍCH GIAO THÔNG &amp; VÒNG ĐỜI XE</a:t>
            </a:r>
          </a:p>
        </p:txBody>
      </p:sp>
      <p:graphicFrame>
        <p:nvGraphicFramePr>
          <p:cNvPr id="5" name="Table 4"/>
          <p:cNvGraphicFramePr>
            <a:graphicFrameLocks noGrp="1"/>
          </p:cNvGraphicFramePr>
          <p:nvPr/>
        </p:nvGraphicFramePr>
        <p:xfrm>
          <a:off x="548640" y="868680"/>
          <a:ext cx="5303520" cy="2926080"/>
        </p:xfrm>
        <a:graphic>
          <a:graphicData uri="http://schemas.openxmlformats.org/drawingml/2006/table">
            <a:tbl>
              <a:tblPr firstRow="1" bandRow="1">
                <a:tableStyleId>{5C22544A-7EE6-4342-B048-85BDC9FD1C3A}</a:tableStyleId>
              </a:tblPr>
              <a:tblGrid>
                <a:gridCol w="2011680"/>
                <a:gridCol w="822960"/>
                <a:gridCol w="822960"/>
                <a:gridCol w="822960"/>
                <a:gridCol w="822960"/>
              </a:tblGrid>
              <a:tr h="487680">
                <a:tc>
                  <a:txBody>
                    <a:bodyPr/>
                    <a:lstStyle/>
                    <a:p>
                      <a:pPr algn="ctr">
                        <a:defRPr sz="800" b="1">
                          <a:solidFill>
                            <a:srgbClr val="FFFFFF"/>
                          </a:solidFill>
                        </a:defRPr>
                      </a:pPr>
                      <a:r>
                        <a:t>Tiện Ích Xe Cộ</a:t>
                      </a:r>
                    </a:p>
                  </a:txBody>
                  <a:tcPr>
                    <a:solidFill>
                      <a:srgbClr val="B0006D"/>
                    </a:solidFill>
                  </a:tcPr>
                </a:tc>
                <a:tc>
                  <a:txBody>
                    <a:bodyPr/>
                    <a:lstStyle/>
                    <a:p>
                      <a:pPr algn="ctr">
                        <a:defRPr sz="800" b="1">
                          <a:solidFill>
                            <a:srgbClr val="FFFFFF"/>
                          </a:solidFill>
                        </a:defRPr>
                      </a:pPr>
                      <a:r>
                        <a:t>T7 (Full)</a:t>
                      </a:r>
                    </a:p>
                  </a:txBody>
                  <a:tcPr>
                    <a:solidFill>
                      <a:srgbClr val="B0006D"/>
                    </a:solidFill>
                  </a:tcPr>
                </a:tc>
                <a:tc>
                  <a:txBody>
                    <a:bodyPr/>
                    <a:lstStyle/>
                    <a:p>
                      <a:pPr algn="ctr">
                        <a:defRPr sz="800" b="1">
                          <a:solidFill>
                            <a:srgbClr val="FFFFFF"/>
                          </a:solidFill>
                        </a:defRPr>
                      </a:pPr>
                      <a:r>
                        <a:t>T8 (Full)</a:t>
                      </a:r>
                    </a:p>
                  </a:txBody>
                  <a:tcPr>
                    <a:solidFill>
                      <a:srgbClr val="B0006D"/>
                    </a:solidFill>
                  </a:tcPr>
                </a:tc>
                <a:tc>
                  <a:txBody>
                    <a:bodyPr/>
                    <a:lstStyle/>
                    <a:p>
                      <a:pPr algn="ctr">
                        <a:defRPr sz="800" b="1">
                          <a:solidFill>
                            <a:srgbClr val="FFFFFF"/>
                          </a:solidFill>
                        </a:defRPr>
                      </a:pPr>
                      <a:r>
                        <a:t>MoM %</a:t>
                      </a:r>
                    </a:p>
                  </a:txBody>
                  <a:tcPr>
                    <a:solidFill>
                      <a:srgbClr val="B0006D"/>
                    </a:solidFill>
                  </a:tcPr>
                </a:tc>
                <a:tc>
                  <a:txBody>
                    <a:bodyPr/>
                    <a:lstStyle/>
                    <a:p>
                      <a:pPr algn="ctr">
                        <a:defRPr sz="800" b="1">
                          <a:solidFill>
                            <a:srgbClr val="FFFFFF"/>
                          </a:solidFill>
                        </a:defRPr>
                      </a:pPr>
                      <a:r>
                        <a:t>% Tỷ Trọng</a:t>
                      </a:r>
                    </a:p>
                  </a:txBody>
                  <a:tcPr>
                    <a:solidFill>
                      <a:srgbClr val="B0006D"/>
                    </a:solidFill>
                  </a:tcPr>
                </a:tc>
              </a:tr>
              <a:tr h="487680">
                <a:tc>
                  <a:txBody>
                    <a:bodyPr/>
                    <a:lstStyle/>
                    <a:p>
                      <a:pPr algn="l">
                        <a:defRPr sz="750"/>
                      </a:pPr>
                      <a:r>
                        <a:t>Tra Cứu Phạt Nguội</a:t>
                      </a:r>
                    </a:p>
                  </a:txBody>
                  <a:tcPr>
                    <a:solidFill>
                      <a:srgbClr val="FFFFFF"/>
                    </a:solidFill>
                  </a:tcPr>
                </a:tc>
                <a:tc>
                  <a:txBody>
                    <a:bodyPr/>
                    <a:lstStyle/>
                    <a:p>
                      <a:pPr algn="ctr">
                        <a:defRPr sz="750"/>
                      </a:pPr>
                      <a:r>
                        <a:t>154,889</a:t>
                      </a:r>
                    </a:p>
                  </a:txBody>
                  <a:tcPr>
                    <a:solidFill>
                      <a:srgbClr val="FFFFFF"/>
                    </a:solidFill>
                  </a:tcPr>
                </a:tc>
                <a:tc>
                  <a:txBody>
                    <a:bodyPr/>
                    <a:lstStyle/>
                    <a:p>
                      <a:pPr algn="ctr">
                        <a:defRPr sz="750"/>
                      </a:pPr>
                      <a:r>
                        <a:t>213,826</a:t>
                      </a:r>
                    </a:p>
                  </a:txBody>
                  <a:tcPr>
                    <a:solidFill>
                      <a:srgbClr val="FFFFFF"/>
                    </a:solidFill>
                  </a:tcPr>
                </a:tc>
                <a:tc>
                  <a:txBody>
                    <a:bodyPr/>
                    <a:lstStyle/>
                    <a:p>
                      <a:pPr algn="ctr">
                        <a:defRPr sz="750" b="1">
                          <a:solidFill>
                            <a:srgbClr val="16A34A"/>
                          </a:solidFill>
                        </a:defRPr>
                      </a:pPr>
                      <a:r>
                        <a:t>+38.05%</a:t>
                      </a:r>
                    </a:p>
                  </a:txBody>
                  <a:tcPr>
                    <a:solidFill>
                      <a:srgbClr val="FFFFFF"/>
                    </a:solidFill>
                  </a:tcPr>
                </a:tc>
                <a:tc>
                  <a:txBody>
                    <a:bodyPr/>
                    <a:lstStyle/>
                    <a:p>
                      <a:pPr algn="ctr">
                        <a:defRPr sz="750"/>
                      </a:pPr>
                      <a:r>
                        <a:t>85.75%</a:t>
                      </a:r>
                    </a:p>
                  </a:txBody>
                  <a:tcPr>
                    <a:solidFill>
                      <a:srgbClr val="FFFFFF"/>
                    </a:solidFill>
                  </a:tcPr>
                </a:tc>
              </a:tr>
              <a:tr h="487680">
                <a:tc>
                  <a:txBody>
                    <a:bodyPr/>
                    <a:lstStyle/>
                    <a:p>
                      <a:pPr algn="l">
                        <a:defRPr sz="750"/>
                      </a:pPr>
                      <a:r>
                        <a:t>Cây Xăng &amp; Trạm Sạc</a:t>
                      </a:r>
                    </a:p>
                  </a:txBody>
                  <a:tcPr>
                    <a:solidFill>
                      <a:srgbClr val="FDF2F8"/>
                    </a:solidFill>
                  </a:tcPr>
                </a:tc>
                <a:tc>
                  <a:txBody>
                    <a:bodyPr/>
                    <a:lstStyle/>
                    <a:p>
                      <a:pPr algn="ctr">
                        <a:defRPr sz="750"/>
                      </a:pPr>
                      <a:r>
                        <a:t>12,400</a:t>
                      </a:r>
                    </a:p>
                  </a:txBody>
                  <a:tcPr>
                    <a:solidFill>
                      <a:srgbClr val="FDF2F8"/>
                    </a:solidFill>
                  </a:tcPr>
                </a:tc>
                <a:tc>
                  <a:txBody>
                    <a:bodyPr/>
                    <a:lstStyle/>
                    <a:p>
                      <a:pPr algn="ctr">
                        <a:defRPr sz="750"/>
                      </a:pPr>
                      <a:r>
                        <a:t>15,010</a:t>
                      </a:r>
                    </a:p>
                  </a:txBody>
                  <a:tcPr>
                    <a:solidFill>
                      <a:srgbClr val="FDF2F8"/>
                    </a:solidFill>
                  </a:tcPr>
                </a:tc>
                <a:tc>
                  <a:txBody>
                    <a:bodyPr/>
                    <a:lstStyle/>
                    <a:p>
                      <a:pPr algn="ctr">
                        <a:defRPr sz="750" b="1">
                          <a:solidFill>
                            <a:srgbClr val="16A34A"/>
                          </a:solidFill>
                        </a:defRPr>
                      </a:pPr>
                      <a:r>
                        <a:t>+21.05%</a:t>
                      </a:r>
                    </a:p>
                  </a:txBody>
                  <a:tcPr>
                    <a:solidFill>
                      <a:srgbClr val="FDF2F8"/>
                    </a:solidFill>
                  </a:tcPr>
                </a:tc>
                <a:tc>
                  <a:txBody>
                    <a:bodyPr/>
                    <a:lstStyle/>
                    <a:p>
                      <a:pPr algn="ctr">
                        <a:defRPr sz="750"/>
                      </a:pPr>
                      <a:r>
                        <a:t>6.02%</a:t>
                      </a:r>
                    </a:p>
                  </a:txBody>
                  <a:tcPr>
                    <a:solidFill>
                      <a:srgbClr val="FDF2F8"/>
                    </a:solidFill>
                  </a:tcPr>
                </a:tc>
              </a:tr>
              <a:tr h="487680">
                <a:tc>
                  <a:txBody>
                    <a:bodyPr/>
                    <a:lstStyle/>
                    <a:p>
                      <a:pPr algn="l">
                        <a:defRPr sz="750"/>
                      </a:pPr>
                      <a:r>
                        <a:t>Bảo Hiểm Ô Tô</a:t>
                      </a:r>
                    </a:p>
                  </a:txBody>
                  <a:tcPr>
                    <a:solidFill>
                      <a:srgbClr val="FFFFFF"/>
                    </a:solidFill>
                  </a:tcPr>
                </a:tc>
                <a:tc>
                  <a:txBody>
                    <a:bodyPr/>
                    <a:lstStyle/>
                    <a:p>
                      <a:pPr algn="ctr">
                        <a:defRPr sz="750"/>
                      </a:pPr>
                      <a:r>
                        <a:t>12,417</a:t>
                      </a:r>
                    </a:p>
                  </a:txBody>
                  <a:tcPr>
                    <a:solidFill>
                      <a:srgbClr val="FFFFFF"/>
                    </a:solidFill>
                  </a:tcPr>
                </a:tc>
                <a:tc>
                  <a:txBody>
                    <a:bodyPr/>
                    <a:lstStyle/>
                    <a:p>
                      <a:pPr algn="ctr">
                        <a:defRPr sz="750"/>
                      </a:pPr>
                      <a:r>
                        <a:t>13,266</a:t>
                      </a:r>
                    </a:p>
                  </a:txBody>
                  <a:tcPr>
                    <a:solidFill>
                      <a:srgbClr val="FFFFFF"/>
                    </a:solidFill>
                  </a:tcPr>
                </a:tc>
                <a:tc>
                  <a:txBody>
                    <a:bodyPr/>
                    <a:lstStyle/>
                    <a:p>
                      <a:pPr algn="ctr">
                        <a:defRPr sz="750" b="1">
                          <a:solidFill>
                            <a:srgbClr val="16A34A"/>
                          </a:solidFill>
                        </a:defRPr>
                      </a:pPr>
                      <a:r>
                        <a:t>+6.84%</a:t>
                      </a:r>
                    </a:p>
                  </a:txBody>
                  <a:tcPr>
                    <a:solidFill>
                      <a:srgbClr val="FFFFFF"/>
                    </a:solidFill>
                  </a:tcPr>
                </a:tc>
                <a:tc>
                  <a:txBody>
                    <a:bodyPr/>
                    <a:lstStyle/>
                    <a:p>
                      <a:pPr algn="ctr">
                        <a:defRPr sz="750"/>
                      </a:pPr>
                      <a:r>
                        <a:t>5.32%</a:t>
                      </a:r>
                    </a:p>
                  </a:txBody>
                  <a:tcPr>
                    <a:solidFill>
                      <a:srgbClr val="FFFFFF"/>
                    </a:solidFill>
                  </a:tcPr>
                </a:tc>
              </a:tr>
              <a:tr h="487680">
                <a:tc>
                  <a:txBody>
                    <a:bodyPr/>
                    <a:lstStyle/>
                    <a:p>
                      <a:pPr algn="l">
                        <a:defRPr sz="750"/>
                      </a:pPr>
                      <a:r>
                        <a:t>Bảo Hiểm Xe Máy</a:t>
                      </a:r>
                    </a:p>
                  </a:txBody>
                  <a:tcPr>
                    <a:solidFill>
                      <a:srgbClr val="FDF2F8"/>
                    </a:solidFill>
                  </a:tcPr>
                </a:tc>
                <a:tc>
                  <a:txBody>
                    <a:bodyPr/>
                    <a:lstStyle/>
                    <a:p>
                      <a:pPr algn="ctr">
                        <a:defRPr sz="750"/>
                      </a:pPr>
                      <a:r>
                        <a:t>5,280</a:t>
                      </a:r>
                    </a:p>
                  </a:txBody>
                  <a:tcPr>
                    <a:solidFill>
                      <a:srgbClr val="FDF2F8"/>
                    </a:solidFill>
                  </a:tcPr>
                </a:tc>
                <a:tc>
                  <a:txBody>
                    <a:bodyPr/>
                    <a:lstStyle/>
                    <a:p>
                      <a:pPr algn="ctr">
                        <a:defRPr sz="750"/>
                      </a:pPr>
                      <a:r>
                        <a:t>7,267</a:t>
                      </a:r>
                    </a:p>
                  </a:txBody>
                  <a:tcPr>
                    <a:solidFill>
                      <a:srgbClr val="FDF2F8"/>
                    </a:solidFill>
                  </a:tcPr>
                </a:tc>
                <a:tc>
                  <a:txBody>
                    <a:bodyPr/>
                    <a:lstStyle/>
                    <a:p>
                      <a:pPr algn="ctr">
                        <a:defRPr sz="750" b="1">
                          <a:solidFill>
                            <a:srgbClr val="16A34A"/>
                          </a:solidFill>
                        </a:defRPr>
                      </a:pPr>
                      <a:r>
                        <a:t>+37.63%</a:t>
                      </a:r>
                    </a:p>
                  </a:txBody>
                  <a:tcPr>
                    <a:solidFill>
                      <a:srgbClr val="FDF2F8"/>
                    </a:solidFill>
                  </a:tcPr>
                </a:tc>
                <a:tc>
                  <a:txBody>
                    <a:bodyPr/>
                    <a:lstStyle/>
                    <a:p>
                      <a:pPr algn="ctr">
                        <a:defRPr sz="750"/>
                      </a:pPr>
                      <a:r>
                        <a:t>2.91%</a:t>
                      </a:r>
                    </a:p>
                  </a:txBody>
                  <a:tcPr>
                    <a:solidFill>
                      <a:srgbClr val="FDF2F8"/>
                    </a:solidFill>
                  </a:tcPr>
                </a:tc>
              </a:tr>
              <a:tr h="487680">
                <a:tc>
                  <a:txBody>
                    <a:bodyPr/>
                    <a:lstStyle/>
                    <a:p>
                      <a:pPr algn="l">
                        <a:defRPr sz="750" b="1"/>
                      </a:pPr>
                      <a:r>
                        <a:t>TỔNG VEHICLE HUB</a:t>
                      </a:r>
                    </a:p>
                  </a:txBody>
                  <a:tcPr>
                    <a:solidFill>
                      <a:srgbClr val="F1F5F9"/>
                    </a:solidFill>
                  </a:tcPr>
                </a:tc>
                <a:tc>
                  <a:txBody>
                    <a:bodyPr/>
                    <a:lstStyle/>
                    <a:p>
                      <a:pPr algn="ctr">
                        <a:defRPr sz="750" b="1"/>
                      </a:pPr>
                      <a:r>
                        <a:t>184,986</a:t>
                      </a:r>
                    </a:p>
                  </a:txBody>
                  <a:tcPr>
                    <a:solidFill>
                      <a:srgbClr val="F1F5F9"/>
                    </a:solidFill>
                  </a:tcPr>
                </a:tc>
                <a:tc>
                  <a:txBody>
                    <a:bodyPr/>
                    <a:lstStyle/>
                    <a:p>
                      <a:pPr algn="ctr">
                        <a:defRPr sz="750" b="1"/>
                      </a:pPr>
                      <a:r>
                        <a:t>249,369</a:t>
                      </a:r>
                    </a:p>
                  </a:txBody>
                  <a:tcPr>
                    <a:solidFill>
                      <a:srgbClr val="F1F5F9"/>
                    </a:solidFill>
                  </a:tcPr>
                </a:tc>
                <a:tc>
                  <a:txBody>
                    <a:bodyPr/>
                    <a:lstStyle/>
                    <a:p>
                      <a:pPr algn="ctr">
                        <a:defRPr sz="750" b="1">
                          <a:solidFill>
                            <a:srgbClr val="16A34A"/>
                          </a:solidFill>
                        </a:defRPr>
                      </a:pPr>
                      <a:r>
                        <a:t>+34.80%</a:t>
                      </a:r>
                    </a:p>
                  </a:txBody>
                  <a:tcPr>
                    <a:solidFill>
                      <a:srgbClr val="F1F5F9"/>
                    </a:solidFill>
                  </a:tcPr>
                </a:tc>
                <a:tc>
                  <a:txBody>
                    <a:bodyPr/>
                    <a:lstStyle/>
                    <a:p>
                      <a:pPr algn="ctr">
                        <a:defRPr sz="750" b="1"/>
                      </a:pPr>
                      <a:r>
                        <a:t>100.00%</a:t>
                      </a:r>
                    </a:p>
                  </a:txBody>
                  <a:tcPr>
                    <a:solidFill>
                      <a:srgbClr val="F1F5F9"/>
                    </a:solidFill>
                  </a:tcPr>
                </a:tc>
              </a:tr>
            </a:tbl>
          </a:graphicData>
        </a:graphic>
      </p:graphicFrame>
      <p:graphicFrame>
        <p:nvGraphicFramePr>
          <p:cNvPr id="6" name="Table 5"/>
          <p:cNvGraphicFramePr>
            <a:graphicFrameLocks noGrp="1"/>
          </p:cNvGraphicFramePr>
          <p:nvPr/>
        </p:nvGraphicFramePr>
        <p:xfrm>
          <a:off x="6035040" y="868680"/>
          <a:ext cx="5608015" cy="2926080"/>
        </p:xfrm>
        <a:graphic>
          <a:graphicData uri="http://schemas.openxmlformats.org/drawingml/2006/table">
            <a:tbl>
              <a:tblPr firstRow="1" bandRow="1">
                <a:tableStyleId>{5C22544A-7EE6-4342-B048-85BDC9FD1C3A}</a:tableStyleId>
              </a:tblPr>
              <a:tblGrid>
                <a:gridCol w="2041855"/>
                <a:gridCol w="1188720"/>
                <a:gridCol w="1188720"/>
                <a:gridCol w="1188720"/>
              </a:tblGrid>
              <a:tr h="585216">
                <a:tc>
                  <a:txBody>
                    <a:bodyPr/>
                    <a:lstStyle/>
                    <a:p>
                      <a:pPr algn="ctr">
                        <a:defRPr sz="750" b="1">
                          <a:solidFill>
                            <a:srgbClr val="FFFFFF"/>
                          </a:solidFill>
                        </a:defRPr>
                      </a:pPr>
                      <a:r>
                        <a:t>Hạng Mục Hạ Tầng</a:t>
                      </a:r>
                    </a:p>
                  </a:txBody>
                  <a:tcPr>
                    <a:solidFill>
                      <a:srgbClr val="475569"/>
                    </a:solidFill>
                  </a:tcPr>
                </a:tc>
                <a:tc>
                  <a:txBody>
                    <a:bodyPr/>
                    <a:lstStyle/>
                    <a:p>
                      <a:pPr algn="ctr">
                        <a:defRPr sz="750" b="1">
                          <a:solidFill>
                            <a:srgbClr val="FFFFFF"/>
                          </a:solidFill>
                        </a:defRPr>
                      </a:pPr>
                      <a:r>
                        <a:t>Quy Mô Đã Live</a:t>
                      </a:r>
                    </a:p>
                  </a:txBody>
                  <a:tcPr>
                    <a:solidFill>
                      <a:srgbClr val="475569"/>
                    </a:solidFill>
                  </a:tcPr>
                </a:tc>
                <a:tc>
                  <a:txBody>
                    <a:bodyPr/>
                    <a:lstStyle/>
                    <a:p>
                      <a:pPr algn="ctr">
                        <a:defRPr sz="750" b="1">
                          <a:solidFill>
                            <a:srgbClr val="FFFFFF"/>
                          </a:solidFill>
                        </a:defRPr>
                      </a:pPr>
                      <a:r>
                        <a:t>Dung Lượng Search</a:t>
                      </a:r>
                    </a:p>
                  </a:txBody>
                  <a:tcPr>
                    <a:solidFill>
                      <a:srgbClr val="475569"/>
                    </a:solidFill>
                  </a:tcPr>
                </a:tc>
                <a:tc>
                  <a:txBody>
                    <a:bodyPr/>
                    <a:lstStyle/>
                    <a:p>
                      <a:pPr algn="ctr">
                        <a:defRPr sz="750" b="1">
                          <a:solidFill>
                            <a:srgbClr val="FFFFFF"/>
                          </a:solidFill>
                        </a:defRPr>
                      </a:pPr>
                      <a:r>
                        <a:t>Trạng Thái</a:t>
                      </a:r>
                    </a:p>
                  </a:txBody>
                  <a:tcPr>
                    <a:solidFill>
                      <a:srgbClr val="475569"/>
                    </a:solidFill>
                  </a:tcPr>
                </a:tc>
              </a:tr>
              <a:tr h="585216">
                <a:tc>
                  <a:txBody>
                    <a:bodyPr/>
                    <a:lstStyle/>
                    <a:p>
                      <a:pPr algn="l">
                        <a:defRPr sz="750" b="1"/>
                      </a:pPr>
                      <a:r>
                        <a:t>Cây Xăng &amp; Gara PROD</a:t>
                      </a:r>
                    </a:p>
                  </a:txBody>
                  <a:tcPr>
                    <a:solidFill>
                      <a:srgbClr val="FFFFFF"/>
                    </a:solidFill>
                  </a:tcPr>
                </a:tc>
                <a:tc>
                  <a:txBody>
                    <a:bodyPr/>
                    <a:lstStyle/>
                    <a:p>
                      <a:pPr algn="ctr">
                        <a:defRPr sz="750"/>
                      </a:pPr>
                      <a:r>
                        <a:t>3.705 cây xăng, 1.032 gara</a:t>
                      </a:r>
                    </a:p>
                  </a:txBody>
                  <a:tcPr>
                    <a:solidFill>
                      <a:srgbClr val="FFFFFF"/>
                    </a:solidFill>
                  </a:tcPr>
                </a:tc>
                <a:tc>
                  <a:txBody>
                    <a:bodyPr/>
                    <a:lstStyle/>
                    <a:p>
                      <a:pPr algn="ctr">
                        <a:defRPr sz="750"/>
                      </a:pPr>
                      <a:r>
                        <a:t>~820K/tháng Local</a:t>
                      </a:r>
                    </a:p>
                  </a:txBody>
                  <a:tcPr>
                    <a:solidFill>
                      <a:srgbClr val="FFFFFF"/>
                    </a:solidFill>
                  </a:tcPr>
                </a:tc>
                <a:tc>
                  <a:txBody>
                    <a:bodyPr/>
                    <a:lstStyle/>
                    <a:p>
                      <a:pPr algn="ctr">
                        <a:defRPr sz="750" b="1">
                          <a:solidFill>
                            <a:srgbClr val="16A34A"/>
                          </a:solidFill>
                        </a:defRPr>
                      </a:pPr>
                      <a:r>
                        <a:t>Đã Live CMS</a:t>
                      </a:r>
                    </a:p>
                  </a:txBody>
                  <a:tcPr>
                    <a:solidFill>
                      <a:srgbClr val="FFFFFF"/>
                    </a:solidFill>
                  </a:tcPr>
                </a:tc>
              </a:tr>
              <a:tr h="585216">
                <a:tc>
                  <a:txBody>
                    <a:bodyPr/>
                    <a:lstStyle/>
                    <a:p>
                      <a:pPr algn="l">
                        <a:defRPr sz="750" b="1"/>
                      </a:pPr>
                      <a:r>
                        <a:t>Content Plan 6 Themes</a:t>
                      </a:r>
                    </a:p>
                  </a:txBody>
                  <a:tcPr>
                    <a:solidFill>
                      <a:srgbClr val="FDF2F8"/>
                    </a:solidFill>
                  </a:tcPr>
                </a:tc>
                <a:tc>
                  <a:txBody>
                    <a:bodyPr/>
                    <a:lstStyle/>
                    <a:p>
                      <a:pPr algn="ctr">
                        <a:defRPr sz="750"/>
                      </a:pPr>
                      <a:r>
                        <a:t>189 bài viết (153 Cluster)</a:t>
                      </a:r>
                    </a:p>
                  </a:txBody>
                  <a:tcPr>
                    <a:solidFill>
                      <a:srgbClr val="FDF2F8"/>
                    </a:solidFill>
                  </a:tcPr>
                </a:tc>
                <a:tc>
                  <a:txBody>
                    <a:bodyPr/>
                    <a:lstStyle/>
                    <a:p>
                      <a:pPr algn="ctr">
                        <a:defRPr sz="750"/>
                      </a:pPr>
                      <a:r>
                        <a:t>8.0M search/tháng</a:t>
                      </a:r>
                    </a:p>
                  </a:txBody>
                  <a:tcPr>
                    <a:solidFill>
                      <a:srgbClr val="FDF2F8"/>
                    </a:solidFill>
                  </a:tcPr>
                </a:tc>
                <a:tc>
                  <a:txBody>
                    <a:bodyPr/>
                    <a:lstStyle/>
                    <a:p>
                      <a:pPr algn="ctr">
                        <a:defRPr sz="750" b="1">
                          <a:solidFill>
                            <a:srgbClr val="16A34A"/>
                          </a:solidFill>
                        </a:defRPr>
                      </a:pPr>
                      <a:r>
                        <a:t>Hoàn thành Plan</a:t>
                      </a:r>
                    </a:p>
                  </a:txBody>
                  <a:tcPr>
                    <a:solidFill>
                      <a:srgbClr val="FDF2F8"/>
                    </a:solidFill>
                  </a:tcPr>
                </a:tc>
              </a:tr>
              <a:tr h="585216">
                <a:tc>
                  <a:txBody>
                    <a:bodyPr/>
                    <a:lstStyle/>
                    <a:p>
                      <a:pPr algn="l">
                        <a:defRPr sz="750" b="1"/>
                      </a:pPr>
                      <a:r>
                        <a:t>Khối Giá Xăng Điều Hành</a:t>
                      </a:r>
                    </a:p>
                  </a:txBody>
                  <a:tcPr>
                    <a:solidFill>
                      <a:srgbClr val="FFFFFF"/>
                    </a:solidFill>
                  </a:tcPr>
                </a:tc>
                <a:tc>
                  <a:txBody>
                    <a:bodyPr/>
                    <a:lstStyle/>
                    <a:p>
                      <a:pPr algn="ctr">
                        <a:defRPr sz="750"/>
                      </a:pPr>
                      <a:r>
                        <a:t>Cập nhật realtime kỳ giá</a:t>
                      </a:r>
                    </a:p>
                  </a:txBody>
                  <a:tcPr>
                    <a:solidFill>
                      <a:srgbClr val="FFFFFF"/>
                    </a:solidFill>
                  </a:tcPr>
                </a:tc>
                <a:tc>
                  <a:txBody>
                    <a:bodyPr/>
                    <a:lstStyle/>
                    <a:p>
                      <a:pPr algn="ctr">
                        <a:defRPr sz="750"/>
                      </a:pPr>
                      <a:r>
                        <a:t>10.1M search/tháng</a:t>
                      </a:r>
                    </a:p>
                  </a:txBody>
                  <a:tcPr>
                    <a:solidFill>
                      <a:srgbClr val="FFFFFF"/>
                    </a:solidFill>
                  </a:tcPr>
                </a:tc>
                <a:tc>
                  <a:txBody>
                    <a:bodyPr/>
                    <a:lstStyle/>
                    <a:p>
                      <a:pPr algn="ctr">
                        <a:defRPr sz="750" b="1">
                          <a:solidFill>
                            <a:srgbClr val="DC2626"/>
                          </a:solidFill>
                        </a:defRPr>
                      </a:pPr>
                      <a:r>
                        <a:t>Chờ SLA Nguồn</a:t>
                      </a:r>
                    </a:p>
                  </a:txBody>
                  <a:tcPr>
                    <a:solidFill>
                      <a:srgbClr val="FFFFFF"/>
                    </a:solidFill>
                  </a:tcPr>
                </a:tc>
              </a:tr>
              <a:tr h="585216">
                <a:tc>
                  <a:txBody>
                    <a:bodyPr/>
                    <a:lstStyle/>
                    <a:p>
                      <a:pPr algn="l">
                        <a:defRPr sz="750" b="1"/>
                      </a:pPr>
                      <a:r>
                        <a:t>Phễu Định Danh Biển Số</a:t>
                      </a:r>
                    </a:p>
                  </a:txBody>
                  <a:tcPr>
                    <a:solidFill>
                      <a:srgbClr val="FDF2F8"/>
                    </a:solidFill>
                  </a:tcPr>
                </a:tc>
                <a:tc>
                  <a:txBody>
                    <a:bodyPr/>
                    <a:lstStyle/>
                    <a:p>
                      <a:pPr algn="ctr">
                        <a:defRPr sz="750"/>
                      </a:pPr>
                      <a:r>
                        <a:t>Liên kết /phat-nguoi</a:t>
                      </a:r>
                    </a:p>
                  </a:txBody>
                  <a:tcPr>
                    <a:solidFill>
                      <a:srgbClr val="FDF2F8"/>
                    </a:solidFill>
                  </a:tcPr>
                </a:tc>
                <a:tc>
                  <a:txBody>
                    <a:bodyPr/>
                    <a:lstStyle/>
                    <a:p>
                      <a:pPr algn="ctr">
                        <a:defRPr sz="750"/>
                      </a:pPr>
                      <a:r>
                        <a:t>~6.1M search/tháng</a:t>
                      </a:r>
                    </a:p>
                  </a:txBody>
                  <a:tcPr>
                    <a:solidFill>
                      <a:srgbClr val="FDF2F8"/>
                    </a:solidFill>
                  </a:tcPr>
                </a:tc>
                <a:tc>
                  <a:txBody>
                    <a:bodyPr/>
                    <a:lstStyle/>
                    <a:p>
                      <a:pPr algn="ctr">
                        <a:defRPr sz="750" b="1">
                          <a:solidFill>
                            <a:srgbClr val="DC2626"/>
                          </a:solidFill>
                        </a:defRPr>
                      </a:pPr>
                      <a:r>
                        <a:t>Đang kết nối M1</a:t>
                      </a:r>
                    </a:p>
                  </a:txBody>
                  <a:tcPr>
                    <a:solidFill>
                      <a:srgbClr val="FDF2F8"/>
                    </a:solidFill>
                  </a:tcPr>
                </a:tc>
              </a:tr>
            </a:tbl>
          </a:graphicData>
        </a:graphic>
      </p:graphicFrame>
      <p:sp>
        <p:nvSpPr>
          <p:cNvPr id="7" name="Rounded Rectangle 6"/>
          <p:cNvSpPr/>
          <p:nvPr/>
        </p:nvSpPr>
        <p:spPr>
          <a:xfrm>
            <a:off x="548640" y="3977639"/>
            <a:ext cx="11094415" cy="2606040"/>
          </a:xfrm>
          <a:prstGeom prst="roundRect">
            <a:avLst/>
          </a:prstGeom>
          <a:solidFill>
            <a:srgbClr val="F8FAFC"/>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182880" rIns="182880" tIns="137160" bIns="137160"/>
          <a:lstStyle/>
          <a:p>
            <a:pPr algn="ctr">
              <a:defRPr sz="850">
                <a:solidFill>
                  <a:srgbClr val="0F172A"/>
                </a:solidFill>
              </a:defRPr>
            </a:pPr>
            <a:r>
              <a:t>Executive Summary: Bối cảnh: Vehicle Hub nhắm đến tệp 5,5 triệu ô tô và 72 triệu xe máy toàn quốc để phục vụ trọn vòng đời sử dụng xe; mục tiêu dài hạn đạt 1.8M - 2.5M visits/tháng. Kết quả: Đã ra mắt cổng momo.vn/tien-ich-giao-thong với 3.705 cây xăng và 1.032 gara trên toàn quốc (phục vụ nhu cầu tìm kiếm địa điểm ~820K lượt/tháng). Hoàn thiện kế hoạch 189 bài viết đáp ứng 8,0 triệu lượt tìm kiếm/tháng. Lưu lượng Tháng 8 đạt 249.369 PVs (+34.80% MoM).</a:t>
            </a:r>
          </a:p>
          <a:p>
            <a:pPr>
              <a:defRPr sz="800">
                <a:solidFill>
                  <a:srgbClr val="334155"/>
                </a:solidFill>
              </a:defRPr>
            </a:pPr>
            <a:r>
              <a:t>Problem Statement: Chưa có lưu lượng thực tế của Cổng trung tâm do đang hoàn thiện tính năng; tiện ích tra cứu giá xăng (10,1 triệu lượt tìm kiếm/tháng) đang phải tạm ẩn do chưa có dữ liệu cập nhật tự động.</a:t>
            </a:r>
          </a:p>
          <a:p>
            <a:pPr>
              <a:defRPr sz="800">
                <a:solidFill>
                  <a:srgbClr val="334155"/>
                </a:solidFill>
              </a:defRPr>
            </a:pPr>
            <a:r>
              <a:t>Hypothesis/Solutions: Sản xuất 50 bài viết/tháng theo các công cụ tra cứu lõi; tận dụng trang Phạt Nguội để thu thập biển số xe và chào bán bảo hiểm tự động cho 150.000 chủ xe ô tô đã có thông tin cà vẹt trên MoMo.</a:t>
            </a:r>
          </a:p>
          <a:p>
            <a:pPr>
              <a:defRPr sz="850" b="1">
                <a:solidFill>
                  <a:srgbClr val="B0006D"/>
                </a:solidFill>
              </a:defRPr>
            </a:pPr>
            <a:r>
              <a:t>Next Steps (Tháng 09/2026): [1] Kết nối dữ liệu giá xăng tự động và chốt phương án lưu trữ Hồ Sơ Xe trước ngày 10/09; [2] Liên kết luồng tra cứu Phạt Nguội với Cổng Tiện ích Giao thông; [3] Sản xuất 50 bài viết cẩm nang giao thông qua công nghệ GenAI; [4] Đo lường tỷ lệ nhập biển số ngoài Web (mục tiêu 8-12%) và tỷ lệ chuyển đổi sang App (&gt;25%).</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182880"/>
            <a:ext cx="7772400" cy="228600"/>
          </a:xfrm>
          <a:prstGeom prst="rect">
            <a:avLst/>
          </a:prstGeom>
          <a:noFill/>
        </p:spPr>
        <p:txBody>
          <a:bodyPr wrap="none">
            <a:spAutoFit/>
          </a:bodyPr>
          <a:lstStyle/>
          <a:p>
            <a:pPr>
              <a:defRPr sz="900" b="1">
                <a:solidFill>
                  <a:srgbClr val="B0006D"/>
                </a:solidFill>
              </a:defRPr>
            </a:pPr>
            <a:r>
              <a:t>STRATEGIC DISCUSSION · VEHICLE HUB</a:t>
            </a:r>
          </a:p>
        </p:txBody>
      </p:sp>
      <p:sp>
        <p:nvSpPr>
          <p:cNvPr id="3" name="Rounded Rectangle 2"/>
          <p:cNvSpPr/>
          <p:nvPr/>
        </p:nvSpPr>
        <p:spPr>
          <a:xfrm>
            <a:off x="9692640" y="182880"/>
            <a:ext cx="1950415" cy="320040"/>
          </a:xfrm>
          <a:prstGeom prst="roundRect">
            <a:avLst/>
          </a:prstGeom>
          <a:solidFill>
            <a:srgbClr val="D9770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900" b="1">
                <a:solidFill>
                  <a:srgbClr val="FFFFFF"/>
                </a:solidFill>
              </a:defRPr>
            </a:pPr>
            <a:r>
              <a:t>[D] DISCUSSION</a:t>
            </a:r>
          </a:p>
        </p:txBody>
      </p:sp>
      <p:sp>
        <p:nvSpPr>
          <p:cNvPr id="4" name="TextBox 3"/>
          <p:cNvSpPr txBox="1"/>
          <p:nvPr/>
        </p:nvSpPr>
        <p:spPr>
          <a:xfrm>
            <a:off x="548640" y="384048"/>
            <a:ext cx="8961120" cy="411480"/>
          </a:xfrm>
          <a:prstGeom prst="rect">
            <a:avLst/>
          </a:prstGeom>
          <a:noFill/>
        </p:spPr>
        <p:txBody>
          <a:bodyPr wrap="none">
            <a:spAutoFit/>
          </a:bodyPr>
          <a:lstStyle/>
          <a:p>
            <a:pPr>
              <a:defRPr sz="1700" b="1">
                <a:solidFill>
                  <a:srgbClr val="0F172A"/>
                </a:solidFill>
              </a:defRPr>
            </a:pPr>
            <a:r>
              <a:t>DISCUSSION: KẾ HOẠCH RA MẮT CỔNG GIAO THÔNG &amp; BÁN CHÉO BẢO HIỂM XE</a:t>
            </a:r>
          </a:p>
        </p:txBody>
      </p:sp>
      <p:sp>
        <p:nvSpPr>
          <p:cNvPr id="5" name="Rounded Rectangle 4"/>
          <p:cNvSpPr/>
          <p:nvPr/>
        </p:nvSpPr>
        <p:spPr>
          <a:xfrm>
            <a:off x="548640" y="960120"/>
            <a:ext cx="3611880" cy="5394960"/>
          </a:xfrm>
          <a:prstGeom prst="roundRect">
            <a:avLst/>
          </a:prstGeom>
          <a:solidFill>
            <a:srgbClr val="FFFFFF"/>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182880" rIns="182880" tIns="182880" bIns="182880"/>
          <a:lstStyle/>
          <a:p>
            <a:pPr algn="ctr">
              <a:defRPr sz="1000" b="1">
                <a:solidFill>
                  <a:srgbClr val="B0006D"/>
                </a:solidFill>
              </a:defRPr>
            </a:pPr>
            <a:r>
              <a:t>1. PROBLEM STATEMENT</a:t>
            </a:r>
          </a:p>
          <a:p>
            <a:pPr>
              <a:defRPr sz="800">
                <a:solidFill>
                  <a:srgbClr val="E2E8F0"/>
                </a:solidFill>
              </a:defRPr>
            </a:pPr>
            <a:r>
              <a:t>————————————————————</a:t>
            </a:r>
          </a:p>
          <a:p>
            <a:pPr>
              <a:defRPr sz="850">
                <a:solidFill>
                  <a:srgbClr val="0F172A"/>
                </a:solidFill>
              </a:defRPr>
            </a:pPr>
            <a:r>
              <a:t>• Kế hoạch ra mắt Cổng Tiện ích Giao thông (25/09/2026): Cần giải quyết 3 điều kiện: (1) Cập nhật tự động bảng giá xăng dầu; (2) Thống nhất nơi lưu trữ dữ liệu Hồ Sơ Xe; (3) Kết nối luồng dữ liệu từ trang Phạt Nguội vào cổng trung tâm.</a:t>
            </a:r>
          </a:p>
          <a:p>
            <a:pPr>
              <a:defRPr sz="850">
                <a:solidFill>
                  <a:srgbClr val="0F172A"/>
                </a:solidFill>
              </a:defRPr>
            </a:pPr>
            <a:r>
              <a:t>• Cơ chế thu thập thông tin phương tiện: Tận dụng 6,1 triệu lượt tra cứu Phạt Nguội mỗi tháng để lưu biển số xe vào hệ thống, tránh lãng phí nguồn dữ liệu khách hàng lớn nhất của mảng giao thông.</a:t>
            </a:r>
          </a:p>
          <a:p>
            <a:pPr>
              <a:defRPr sz="850">
                <a:solidFill>
                  <a:srgbClr val="0F172A"/>
                </a:solidFill>
              </a:defRPr>
            </a:pPr>
            <a:r>
              <a:t>• Cam kết trách nhiệm dữ liệu liên phòng ban: Đội ngũ VTTI-FS phụ trách cung cấp bảng giá xăng tự động theo từng kỳ điều hành của Bộ Công Thương.</a:t>
            </a:r>
          </a:p>
        </p:txBody>
      </p:sp>
      <p:sp>
        <p:nvSpPr>
          <p:cNvPr id="6" name="Rounded Rectangle 5"/>
          <p:cNvSpPr/>
          <p:nvPr/>
        </p:nvSpPr>
        <p:spPr>
          <a:xfrm>
            <a:off x="4251960" y="960120"/>
            <a:ext cx="3611880" cy="5394960"/>
          </a:xfrm>
          <a:prstGeom prst="roundRect">
            <a:avLst/>
          </a:prstGeom>
          <a:solidFill>
            <a:srgbClr val="F8FAFC"/>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182880" rIns="182880" tIns="182880" bIns="182880"/>
          <a:lstStyle/>
          <a:p>
            <a:pPr algn="ctr">
              <a:defRPr sz="1000" b="1">
                <a:solidFill>
                  <a:srgbClr val="0F172A"/>
                </a:solidFill>
              </a:defRPr>
            </a:pPr>
            <a:r>
              <a:t>2. STATUS / ISSUES &amp; DATA POINTS</a:t>
            </a:r>
          </a:p>
          <a:p>
            <a:pPr>
              <a:defRPr sz="800">
                <a:solidFill>
                  <a:srgbClr val="E2E8F0"/>
                </a:solidFill>
              </a:defRPr>
            </a:pPr>
            <a:r>
              <a:t>————————————————————</a:t>
            </a:r>
          </a:p>
          <a:p>
            <a:pPr>
              <a:defRPr sz="850">
                <a:solidFill>
                  <a:srgbClr val="0F172A"/>
                </a:solidFill>
              </a:defRPr>
            </a:pPr>
            <a:r>
              <a:t>• Hạ tầng đã sẵn sàng: Đã đưa lên website 3.705 cây xăng, 1.032 gara; hoàn thành kế hoạch 189 bài viết đón đầu 8,0 triệu lượt tìm kiếm/tháng.</a:t>
            </a:r>
          </a:p>
          <a:p>
            <a:pPr>
              <a:defRPr sz="850">
                <a:solidFill>
                  <a:srgbClr val="0F172A"/>
                </a:solidFill>
              </a:defRPr>
            </a:pPr>
            <a:r>
              <a:t>• Dư địa bán chéo dịch vụ rất lớn: Tỷ lệ khách hàng mua Bảo hiểm từ tệp xe cộ hiện chỉ đạt 0,3% – 3,0%, trong khi MoMo đang có dữ liệu của ~2 triệu xe máy, ~600.000 ô tô (trong đó 150.000+ ô tô đã xác thực giấy tờ cà vẹt).</a:t>
            </a:r>
          </a:p>
          <a:p>
            <a:pPr>
              <a:defRPr sz="850">
                <a:solidFill>
                  <a:srgbClr val="0F172A"/>
                </a:solidFill>
              </a:defRPr>
            </a:pPr>
            <a:r>
              <a:t>• Vấn đề cần xử lý: Tiện ích giá xăng dầu (10,1 triệu lượt tìm kiếm/tháng) đang phải tạm ẩn do thiếu dữ liệu; trang Phạt Nguội chưa liên kết để lưu hồ sơ xe cho người dùng.</a:t>
            </a:r>
          </a:p>
        </p:txBody>
      </p:sp>
      <p:sp>
        <p:nvSpPr>
          <p:cNvPr id="7" name="Rounded Rectangle 6"/>
          <p:cNvSpPr/>
          <p:nvPr/>
        </p:nvSpPr>
        <p:spPr>
          <a:xfrm>
            <a:off x="7955279" y="960120"/>
            <a:ext cx="3611880" cy="5394960"/>
          </a:xfrm>
          <a:prstGeom prst="roundRect">
            <a:avLst/>
          </a:prstGeom>
          <a:solidFill>
            <a:srgbClr val="FFFFFF"/>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182880" rIns="182880" tIns="182880" bIns="182880"/>
          <a:lstStyle/>
          <a:p>
            <a:pPr algn="ctr">
              <a:defRPr sz="1000" b="1">
                <a:solidFill>
                  <a:srgbClr val="16A34A"/>
                </a:solidFill>
              </a:defRPr>
            </a:pPr>
            <a:r>
              <a:t>3. SOLUTIONS &amp; RECOMMENDATIONS</a:t>
            </a:r>
          </a:p>
          <a:p>
            <a:pPr>
              <a:defRPr sz="800">
                <a:solidFill>
                  <a:srgbClr val="E2E8F0"/>
                </a:solidFill>
              </a:defRPr>
            </a:pPr>
            <a:r>
              <a:t>————————————————————</a:t>
            </a:r>
          </a:p>
          <a:p>
            <a:pPr>
              <a:defRPr sz="850">
                <a:solidFill>
                  <a:srgbClr val="0F172A"/>
                </a:solidFill>
              </a:defRPr>
            </a:pPr>
            <a:r>
              <a:t>• Bàn giao dữ liệu đúng hạn: Đội ngũ VTTI-FS và Data hoàn tất việc cấp dữ liệu giá xăng và chốt cơ chế lưu trữ Hồ Sơ Xe trước ngày 10/09.</a:t>
            </a:r>
          </a:p>
          <a:p>
            <a:pPr>
              <a:defRPr sz="850">
                <a:solidFill>
                  <a:srgbClr val="0F172A"/>
                </a:solidFill>
              </a:defRPr>
            </a:pPr>
            <a:r>
              <a:t>• Cá nhân hóa chào bán bảo hiểm: Tự động hiển thị mức phí bảo hiểm chính xác theo từng dòng xe ngay sau khi khách nhập biển số tra cứu ('Phí bảo hiểm thân vỏ cho xe [Dòng xe] của bạn chỉ từ...') để khai thác tệp 150.000 chủ xe.</a:t>
            </a:r>
          </a:p>
          <a:p>
            <a:pPr>
              <a:defRPr sz="850">
                <a:solidFill>
                  <a:srgbClr val="0F172A"/>
                </a:solidFill>
              </a:defRPr>
            </a:pPr>
            <a:r>
              <a:t>• Mục tiêu Tháng 09/2026: Hoàn thành ra mắt toàn bộ cổng giao thông vào 25/09; đạt tỷ lệ nhập biển số ngoài Web từ 8% – 12% và tỷ lệ chuyển sang App đạt trên 25%.</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182880"/>
            <a:ext cx="7772400" cy="228600"/>
          </a:xfrm>
          <a:prstGeom prst="rect">
            <a:avLst/>
          </a:prstGeom>
          <a:noFill/>
        </p:spPr>
        <p:txBody>
          <a:bodyPr wrap="none">
            <a:spAutoFit/>
          </a:bodyPr>
          <a:lstStyle/>
          <a:p>
            <a:pPr>
              <a:defRPr sz="900" b="1">
                <a:solidFill>
                  <a:srgbClr val="B0006D"/>
                </a:solidFill>
              </a:defRPr>
            </a:pPr>
            <a:r>
              <a:t>BUSINESS STRATEGIC · FINANCIAL HUB</a:t>
            </a:r>
          </a:p>
        </p:txBody>
      </p:sp>
      <p:sp>
        <p:nvSpPr>
          <p:cNvPr id="3" name="Rounded Rectangle 2"/>
          <p:cNvSpPr/>
          <p:nvPr/>
        </p:nvSpPr>
        <p:spPr>
          <a:xfrm>
            <a:off x="9692640" y="182880"/>
            <a:ext cx="1950415" cy="320040"/>
          </a:xfrm>
          <a:prstGeom prst="roundRect">
            <a:avLst/>
          </a:prstGeom>
          <a:solidFill>
            <a:srgbClr val="0284C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900" b="1">
                <a:solidFill>
                  <a:srgbClr val="FFFFFF"/>
                </a:solidFill>
              </a:defRPr>
            </a:pPr>
            <a:r>
              <a:t>[R] REPORTING</a:t>
            </a:r>
          </a:p>
        </p:txBody>
      </p:sp>
      <p:sp>
        <p:nvSpPr>
          <p:cNvPr id="4" name="TextBox 3"/>
          <p:cNvSpPr txBox="1"/>
          <p:nvPr/>
        </p:nvSpPr>
        <p:spPr>
          <a:xfrm>
            <a:off x="548640" y="384048"/>
            <a:ext cx="8961120" cy="411480"/>
          </a:xfrm>
          <a:prstGeom prst="rect">
            <a:avLst/>
          </a:prstGeom>
          <a:noFill/>
        </p:spPr>
        <p:txBody>
          <a:bodyPr wrap="none">
            <a:spAutoFit/>
          </a:bodyPr>
          <a:lstStyle/>
          <a:p>
            <a:pPr>
              <a:defRPr sz="1700" b="1">
                <a:solidFill>
                  <a:srgbClr val="0F172A"/>
                </a:solidFill>
              </a:defRPr>
            </a:pPr>
            <a:r>
              <a:t>FINANCIAL HUB &amp; UTILITIES GROWTH PERFORMANCE</a:t>
            </a:r>
          </a:p>
        </p:txBody>
      </p:sp>
      <p:graphicFrame>
        <p:nvGraphicFramePr>
          <p:cNvPr id="5" name="Table 4"/>
          <p:cNvGraphicFramePr>
            <a:graphicFrameLocks noGrp="1"/>
          </p:cNvGraphicFramePr>
          <p:nvPr/>
        </p:nvGraphicFramePr>
        <p:xfrm>
          <a:off x="548640" y="868680"/>
          <a:ext cx="6217920" cy="2926080"/>
        </p:xfrm>
        <a:graphic>
          <a:graphicData uri="http://schemas.openxmlformats.org/drawingml/2006/table">
            <a:tbl>
              <a:tblPr firstRow="1" bandRow="1">
                <a:tableStyleId>{5C22544A-7EE6-4342-B048-85BDC9FD1C3A}</a:tableStyleId>
              </a:tblPr>
              <a:tblGrid>
                <a:gridCol w="2377440"/>
                <a:gridCol w="960120"/>
                <a:gridCol w="960120"/>
                <a:gridCol w="960120"/>
                <a:gridCol w="960120"/>
              </a:tblGrid>
              <a:tr h="487680">
                <a:tc>
                  <a:txBody>
                    <a:bodyPr/>
                    <a:lstStyle/>
                    <a:p>
                      <a:pPr algn="ctr">
                        <a:defRPr sz="850" b="1">
                          <a:solidFill>
                            <a:srgbClr val="FFFFFF"/>
                          </a:solidFill>
                        </a:defRPr>
                      </a:pPr>
                      <a:r>
                        <a:t>Phân Hệ Financial Hub</a:t>
                      </a:r>
                    </a:p>
                  </a:txBody>
                  <a:tcPr>
                    <a:solidFill>
                      <a:srgbClr val="B0006D"/>
                    </a:solidFill>
                  </a:tcPr>
                </a:tc>
                <a:tc>
                  <a:txBody>
                    <a:bodyPr/>
                    <a:lstStyle/>
                    <a:p>
                      <a:pPr algn="ctr">
                        <a:defRPr sz="850" b="1">
                          <a:solidFill>
                            <a:srgbClr val="FFFFFF"/>
                          </a:solidFill>
                        </a:defRPr>
                      </a:pPr>
                      <a:r>
                        <a:t>T7 (Full)</a:t>
                      </a:r>
                    </a:p>
                  </a:txBody>
                  <a:tcPr>
                    <a:solidFill>
                      <a:srgbClr val="B0006D"/>
                    </a:solidFill>
                  </a:tcPr>
                </a:tc>
                <a:tc>
                  <a:txBody>
                    <a:bodyPr/>
                    <a:lstStyle/>
                    <a:p>
                      <a:pPr algn="ctr">
                        <a:defRPr sz="850" b="1">
                          <a:solidFill>
                            <a:srgbClr val="FFFFFF"/>
                          </a:solidFill>
                        </a:defRPr>
                      </a:pPr>
                      <a:r>
                        <a:t>T8 (Full)</a:t>
                      </a:r>
                    </a:p>
                  </a:txBody>
                  <a:tcPr>
                    <a:solidFill>
                      <a:srgbClr val="B0006D"/>
                    </a:solidFill>
                  </a:tcPr>
                </a:tc>
                <a:tc>
                  <a:txBody>
                    <a:bodyPr/>
                    <a:lstStyle/>
                    <a:p>
                      <a:pPr algn="ctr">
                        <a:defRPr sz="850" b="1">
                          <a:solidFill>
                            <a:srgbClr val="FFFFFF"/>
                          </a:solidFill>
                        </a:defRPr>
                      </a:pPr>
                      <a:r>
                        <a:t>MoM %</a:t>
                      </a:r>
                    </a:p>
                  </a:txBody>
                  <a:tcPr>
                    <a:solidFill>
                      <a:srgbClr val="B0006D"/>
                    </a:solidFill>
                  </a:tcPr>
                </a:tc>
                <a:tc>
                  <a:txBody>
                    <a:bodyPr/>
                    <a:lstStyle/>
                    <a:p>
                      <a:pPr algn="ctr">
                        <a:defRPr sz="850" b="1">
                          <a:solidFill>
                            <a:srgbClr val="FFFFFF"/>
                          </a:solidFill>
                        </a:defRPr>
                      </a:pPr>
                      <a:r>
                        <a:t>% Tỷ Trọng</a:t>
                      </a:r>
                    </a:p>
                  </a:txBody>
                  <a:tcPr>
                    <a:solidFill>
                      <a:srgbClr val="B0006D"/>
                    </a:solidFill>
                  </a:tcPr>
                </a:tc>
              </a:tr>
              <a:tr h="487680">
                <a:tc>
                  <a:txBody>
                    <a:bodyPr/>
                    <a:lstStyle/>
                    <a:p>
                      <a:pPr algn="l">
                        <a:defRPr sz="800"/>
                      </a:pPr>
                      <a:r>
                        <a:t>Vay Nhanh (/vay-nhanh)</a:t>
                      </a:r>
                    </a:p>
                  </a:txBody>
                  <a:tcPr>
                    <a:solidFill>
                      <a:srgbClr val="FFFFFF"/>
                    </a:solidFill>
                  </a:tcPr>
                </a:tc>
                <a:tc>
                  <a:txBody>
                    <a:bodyPr/>
                    <a:lstStyle/>
                    <a:p>
                      <a:pPr algn="ctr">
                        <a:defRPr sz="800"/>
                      </a:pPr>
                      <a:r>
                        <a:t>65,899</a:t>
                      </a:r>
                    </a:p>
                  </a:txBody>
                  <a:tcPr>
                    <a:solidFill>
                      <a:srgbClr val="FFFFFF"/>
                    </a:solidFill>
                  </a:tcPr>
                </a:tc>
                <a:tc>
                  <a:txBody>
                    <a:bodyPr/>
                    <a:lstStyle/>
                    <a:p>
                      <a:pPr algn="ctr">
                        <a:defRPr sz="800"/>
                      </a:pPr>
                      <a:r>
                        <a:t>112,353</a:t>
                      </a:r>
                    </a:p>
                  </a:txBody>
                  <a:tcPr>
                    <a:solidFill>
                      <a:srgbClr val="FFFFFF"/>
                    </a:solidFill>
                  </a:tcPr>
                </a:tc>
                <a:tc>
                  <a:txBody>
                    <a:bodyPr/>
                    <a:lstStyle/>
                    <a:p>
                      <a:pPr algn="ctr">
                        <a:defRPr sz="800" b="1">
                          <a:solidFill>
                            <a:srgbClr val="16A34A"/>
                          </a:solidFill>
                        </a:defRPr>
                      </a:pPr>
                      <a:r>
                        <a:t>+70.49%</a:t>
                      </a:r>
                    </a:p>
                  </a:txBody>
                  <a:tcPr>
                    <a:solidFill>
                      <a:srgbClr val="FFFFFF"/>
                    </a:solidFill>
                  </a:tcPr>
                </a:tc>
                <a:tc>
                  <a:txBody>
                    <a:bodyPr/>
                    <a:lstStyle/>
                    <a:p>
                      <a:pPr algn="ctr">
                        <a:defRPr sz="800"/>
                      </a:pPr>
                      <a:r>
                        <a:t>51.92%</a:t>
                      </a:r>
                    </a:p>
                  </a:txBody>
                  <a:tcPr>
                    <a:solidFill>
                      <a:srgbClr val="FFFFFF"/>
                    </a:solidFill>
                  </a:tcPr>
                </a:tc>
              </a:tr>
              <a:tr h="487680">
                <a:tc>
                  <a:txBody>
                    <a:bodyPr/>
                    <a:lstStyle/>
                    <a:p>
                      <a:pPr algn="l">
                        <a:defRPr sz="800"/>
                      </a:pPr>
                      <a:r>
                        <a:t>Điểm Tín Dụng CIC (/diem-tin-dung)</a:t>
                      </a:r>
                    </a:p>
                  </a:txBody>
                  <a:tcPr>
                    <a:solidFill>
                      <a:srgbClr val="FDF2F8"/>
                    </a:solidFill>
                  </a:tcPr>
                </a:tc>
                <a:tc>
                  <a:txBody>
                    <a:bodyPr/>
                    <a:lstStyle/>
                    <a:p>
                      <a:pPr algn="ctr">
                        <a:defRPr sz="800"/>
                      </a:pPr>
                      <a:r>
                        <a:t>29,705</a:t>
                      </a:r>
                    </a:p>
                  </a:txBody>
                  <a:tcPr>
                    <a:solidFill>
                      <a:srgbClr val="FDF2F8"/>
                    </a:solidFill>
                  </a:tcPr>
                </a:tc>
                <a:tc>
                  <a:txBody>
                    <a:bodyPr/>
                    <a:lstStyle/>
                    <a:p>
                      <a:pPr algn="ctr">
                        <a:defRPr sz="800"/>
                      </a:pPr>
                      <a:r>
                        <a:t>73,931</a:t>
                      </a:r>
                    </a:p>
                  </a:txBody>
                  <a:tcPr>
                    <a:solidFill>
                      <a:srgbClr val="FDF2F8"/>
                    </a:solidFill>
                  </a:tcPr>
                </a:tc>
                <a:tc>
                  <a:txBody>
                    <a:bodyPr/>
                    <a:lstStyle/>
                    <a:p>
                      <a:pPr algn="ctr">
                        <a:defRPr sz="800" b="1">
                          <a:solidFill>
                            <a:srgbClr val="16A34A"/>
                          </a:solidFill>
                        </a:defRPr>
                      </a:pPr>
                      <a:r>
                        <a:t>+148.88%</a:t>
                      </a:r>
                    </a:p>
                  </a:txBody>
                  <a:tcPr>
                    <a:solidFill>
                      <a:srgbClr val="FDF2F8"/>
                    </a:solidFill>
                  </a:tcPr>
                </a:tc>
                <a:tc>
                  <a:txBody>
                    <a:bodyPr/>
                    <a:lstStyle/>
                    <a:p>
                      <a:pPr algn="ctr">
                        <a:defRPr sz="800"/>
                      </a:pPr>
                      <a:r>
                        <a:t>34.17%</a:t>
                      </a:r>
                    </a:p>
                  </a:txBody>
                  <a:tcPr>
                    <a:solidFill>
                      <a:srgbClr val="FDF2F8"/>
                    </a:solidFill>
                  </a:tcPr>
                </a:tc>
              </a:tr>
              <a:tr h="487680">
                <a:tc>
                  <a:txBody>
                    <a:bodyPr/>
                    <a:lstStyle/>
                    <a:p>
                      <a:pPr algn="l">
                        <a:defRPr sz="800"/>
                      </a:pPr>
                      <a:r>
                        <a:t>Ví Trả Sau (/vi-tra-sau)</a:t>
                      </a:r>
                    </a:p>
                  </a:txBody>
                  <a:tcPr>
                    <a:solidFill>
                      <a:srgbClr val="FFFFFF"/>
                    </a:solidFill>
                  </a:tcPr>
                </a:tc>
                <a:tc>
                  <a:txBody>
                    <a:bodyPr/>
                    <a:lstStyle/>
                    <a:p>
                      <a:pPr algn="ctr">
                        <a:defRPr sz="800"/>
                      </a:pPr>
                      <a:r>
                        <a:t>23,582</a:t>
                      </a:r>
                    </a:p>
                  </a:txBody>
                  <a:tcPr>
                    <a:solidFill>
                      <a:srgbClr val="FFFFFF"/>
                    </a:solidFill>
                  </a:tcPr>
                </a:tc>
                <a:tc>
                  <a:txBody>
                    <a:bodyPr/>
                    <a:lstStyle/>
                    <a:p>
                      <a:pPr algn="ctr">
                        <a:defRPr sz="800"/>
                      </a:pPr>
                      <a:r>
                        <a:t>20,633</a:t>
                      </a:r>
                    </a:p>
                  </a:txBody>
                  <a:tcPr>
                    <a:solidFill>
                      <a:srgbClr val="FFFFFF"/>
                    </a:solidFill>
                  </a:tcPr>
                </a:tc>
                <a:tc>
                  <a:txBody>
                    <a:bodyPr/>
                    <a:lstStyle/>
                    <a:p>
                      <a:pPr algn="ctr">
                        <a:defRPr sz="800">
                          <a:solidFill>
                            <a:srgbClr val="DC2626"/>
                          </a:solidFill>
                        </a:defRPr>
                      </a:pPr>
                      <a:r>
                        <a:t>-12.51%</a:t>
                      </a:r>
                    </a:p>
                  </a:txBody>
                  <a:tcPr>
                    <a:solidFill>
                      <a:srgbClr val="FFFFFF"/>
                    </a:solidFill>
                  </a:tcPr>
                </a:tc>
                <a:tc>
                  <a:txBody>
                    <a:bodyPr/>
                    <a:lstStyle/>
                    <a:p>
                      <a:pPr algn="ctr">
                        <a:defRPr sz="800"/>
                      </a:pPr>
                      <a:r>
                        <a:t>9.54%</a:t>
                      </a:r>
                    </a:p>
                  </a:txBody>
                  <a:tcPr>
                    <a:solidFill>
                      <a:srgbClr val="FFFFFF"/>
                    </a:solidFill>
                  </a:tcPr>
                </a:tc>
              </a:tr>
              <a:tr h="487680">
                <a:tc>
                  <a:txBody>
                    <a:bodyPr/>
                    <a:lstStyle/>
                    <a:p>
                      <a:pPr algn="l">
                        <a:defRPr sz="800"/>
                      </a:pPr>
                      <a:r>
                        <a:t>Cổng Tài Chính &amp; Utilities Khác</a:t>
                      </a:r>
                    </a:p>
                  </a:txBody>
                  <a:tcPr>
                    <a:solidFill>
                      <a:srgbClr val="FDF2F8"/>
                    </a:solidFill>
                  </a:tcPr>
                </a:tc>
                <a:tc>
                  <a:txBody>
                    <a:bodyPr/>
                    <a:lstStyle/>
                    <a:p>
                      <a:pPr algn="ctr">
                        <a:defRPr sz="800"/>
                      </a:pPr>
                      <a:r>
                        <a:t>9,031</a:t>
                      </a:r>
                    </a:p>
                  </a:txBody>
                  <a:tcPr>
                    <a:solidFill>
                      <a:srgbClr val="FDF2F8"/>
                    </a:solidFill>
                  </a:tcPr>
                </a:tc>
                <a:tc>
                  <a:txBody>
                    <a:bodyPr/>
                    <a:lstStyle/>
                    <a:p>
                      <a:pPr algn="ctr">
                        <a:defRPr sz="800"/>
                      </a:pPr>
                      <a:r>
                        <a:t>9,461</a:t>
                      </a:r>
                    </a:p>
                  </a:txBody>
                  <a:tcPr>
                    <a:solidFill>
                      <a:srgbClr val="FDF2F8"/>
                    </a:solidFill>
                  </a:tcPr>
                </a:tc>
                <a:tc>
                  <a:txBody>
                    <a:bodyPr/>
                    <a:lstStyle/>
                    <a:p>
                      <a:pPr algn="ctr">
                        <a:defRPr sz="800" b="1">
                          <a:solidFill>
                            <a:srgbClr val="16A34A"/>
                          </a:solidFill>
                        </a:defRPr>
                      </a:pPr>
                      <a:r>
                        <a:t>+4.76%</a:t>
                      </a:r>
                    </a:p>
                  </a:txBody>
                  <a:tcPr>
                    <a:solidFill>
                      <a:srgbClr val="FDF2F8"/>
                    </a:solidFill>
                  </a:tcPr>
                </a:tc>
                <a:tc>
                  <a:txBody>
                    <a:bodyPr/>
                    <a:lstStyle/>
                    <a:p>
                      <a:pPr algn="ctr">
                        <a:defRPr sz="800"/>
                      </a:pPr>
                      <a:r>
                        <a:t>4.37%</a:t>
                      </a:r>
                    </a:p>
                  </a:txBody>
                  <a:tcPr>
                    <a:solidFill>
                      <a:srgbClr val="FDF2F8"/>
                    </a:solidFill>
                  </a:tcPr>
                </a:tc>
              </a:tr>
              <a:tr h="487680">
                <a:tc>
                  <a:txBody>
                    <a:bodyPr/>
                    <a:lstStyle/>
                    <a:p>
                      <a:pPr algn="l">
                        <a:defRPr sz="800" b="1"/>
                      </a:pPr>
                      <a:r>
                        <a:t>FINANCIAL HUB (TỔNG CỘNG)</a:t>
                      </a:r>
                    </a:p>
                  </a:txBody>
                  <a:tcPr>
                    <a:solidFill>
                      <a:srgbClr val="F1F5F9"/>
                    </a:solidFill>
                  </a:tcPr>
                </a:tc>
                <a:tc>
                  <a:txBody>
                    <a:bodyPr/>
                    <a:lstStyle/>
                    <a:p>
                      <a:pPr algn="ctr">
                        <a:defRPr sz="800" b="1"/>
                      </a:pPr>
                      <a:r>
                        <a:t>128,217</a:t>
                      </a:r>
                    </a:p>
                  </a:txBody>
                  <a:tcPr>
                    <a:solidFill>
                      <a:srgbClr val="F1F5F9"/>
                    </a:solidFill>
                  </a:tcPr>
                </a:tc>
                <a:tc>
                  <a:txBody>
                    <a:bodyPr/>
                    <a:lstStyle/>
                    <a:p>
                      <a:pPr algn="ctr">
                        <a:defRPr sz="800" b="1"/>
                      </a:pPr>
                      <a:r>
                        <a:t>216,378</a:t>
                      </a:r>
                    </a:p>
                  </a:txBody>
                  <a:tcPr>
                    <a:solidFill>
                      <a:srgbClr val="F1F5F9"/>
                    </a:solidFill>
                  </a:tcPr>
                </a:tc>
                <a:tc>
                  <a:txBody>
                    <a:bodyPr/>
                    <a:lstStyle/>
                    <a:p>
                      <a:pPr algn="ctr">
                        <a:defRPr sz="800" b="1">
                          <a:solidFill>
                            <a:srgbClr val="16A34A"/>
                          </a:solidFill>
                        </a:defRPr>
                      </a:pPr>
                      <a:r>
                        <a:t>+68.76%</a:t>
                      </a:r>
                    </a:p>
                  </a:txBody>
                  <a:tcPr>
                    <a:solidFill>
                      <a:srgbClr val="F1F5F9"/>
                    </a:solidFill>
                  </a:tcPr>
                </a:tc>
                <a:tc>
                  <a:txBody>
                    <a:bodyPr/>
                    <a:lstStyle/>
                    <a:p>
                      <a:pPr algn="ctr">
                        <a:defRPr sz="800" b="1"/>
                      </a:pPr>
                      <a:r>
                        <a:t>100.00%</a:t>
                      </a:r>
                    </a:p>
                  </a:txBody>
                  <a:tcPr>
                    <a:solidFill>
                      <a:srgbClr val="F1F5F9"/>
                    </a:solidFill>
                  </a:tcPr>
                </a:tc>
              </a:tr>
            </a:tbl>
          </a:graphicData>
        </a:graphic>
      </p:graphicFrame>
      <p:sp>
        <p:nvSpPr>
          <p:cNvPr id="6" name="Rounded Rectangle 5"/>
          <p:cNvSpPr/>
          <p:nvPr/>
        </p:nvSpPr>
        <p:spPr>
          <a:xfrm>
            <a:off x="6949440" y="868680"/>
            <a:ext cx="4693615" cy="2926080"/>
          </a:xfrm>
          <a:prstGeom prst="roundRect">
            <a:avLst/>
          </a:prstGeom>
          <a:solidFill>
            <a:srgbClr val="F8FAFC"/>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7" name="Chart 6"/>
          <p:cNvGraphicFramePr>
            <a:graphicFrameLocks noGrp="1"/>
          </p:cNvGraphicFramePr>
          <p:nvPr/>
        </p:nvGraphicFramePr>
        <p:xfrm>
          <a:off x="7040879" y="960120"/>
          <a:ext cx="4510735" cy="2743200"/>
        </p:xfrm>
        <a:graphic>
          <a:graphicData uri="http://schemas.openxmlformats.org/drawingml/2006/chart">
            <c:chart xmlns:c="http://schemas.openxmlformats.org/drawingml/2006/chart" r:id="rId2"/>
          </a:graphicData>
        </a:graphic>
      </p:graphicFrame>
      <p:sp>
        <p:nvSpPr>
          <p:cNvPr id="8" name="Rounded Rectangle 7"/>
          <p:cNvSpPr/>
          <p:nvPr/>
        </p:nvSpPr>
        <p:spPr>
          <a:xfrm>
            <a:off x="548640" y="3977639"/>
            <a:ext cx="11094415" cy="2606040"/>
          </a:xfrm>
          <a:prstGeom prst="roundRect">
            <a:avLst/>
          </a:prstGeom>
          <a:solidFill>
            <a:srgbClr val="F8FAFC"/>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182880" rIns="182880" tIns="137160" bIns="137160"/>
          <a:lstStyle/>
          <a:p>
            <a:pPr algn="ctr">
              <a:defRPr sz="850">
                <a:solidFill>
                  <a:srgbClr val="0F172A"/>
                </a:solidFill>
              </a:defRPr>
            </a:pPr>
            <a:r>
              <a:t>Executive Summary: Context: Xây dựng Financial Master Hub (momo.vn/tai-chinh) làm cổng khám phá &amp; ra quyết định tài chính toàn diện (5 trụ cột). Mục tiêu đến Tháng 12/2026 cán mốc 1.000.000 PVs/tháng và 500.000 MUV, CTR Click-to-App &gt;= 50.0%. Kết quả: Đã Go-live Master Hub, Tính Lương Gross-Net 2026, Điểm CIC &amp; Nợ Xấu, Tính Lãi Tiết Kiệm và Giá Vàng Realtime. Toàn cụm tăng trưởng bứt phá +68.76% MoM (216.378 PVs), dẫn đầu bởi Vay Nhanh (112.353 PVs) và CIC (73.931 PVs, +148.9%).</a:t>
            </a:r>
          </a:p>
          <a:p>
            <a:pPr>
              <a:defRPr sz="800">
                <a:solidFill>
                  <a:srgbClr val="334155"/>
                </a:solidFill>
              </a:defRPr>
            </a:pPr>
            <a:r>
              <a:t>Problem Statement: Chưa khép kín bài toán quản trị tài chính sau khi tính lương Net (thiếu công cụ phân bổ thu nhập 50/30/20); mảng Đầu Tư Chứng Khoán còn bỏ ngỏ, thiếu công cụ giả lập trực quan ngoài Web để dẫn dòng vào tài khoản Chứng Khoán MoMo.</a:t>
            </a:r>
          </a:p>
          <a:p>
            <a:pPr>
              <a:defRPr sz="800">
                <a:solidFill>
                  <a:srgbClr val="334155"/>
                </a:solidFill>
              </a:defRPr>
            </a:pPr>
            <a:r>
              <a:t>Hypothesis/Solutions: Mở rộng công cụ Phân Bổ Lương 50/30/20 &amp; Quyết Toán Thuế TNCN 2026; ra mắt module Thực Tập Sinh Đầu Tư (Giả lập Chứng Khoán / Chứng Chỉ Quỹ SIP từ 10.000đ) để dẫn dòng In-App.</a:t>
            </a:r>
          </a:p>
          <a:p>
            <a:pPr>
              <a:defRPr sz="850" b="1">
                <a:solidFill>
                  <a:srgbClr val="B0006D"/>
                </a:solidFill>
              </a:defRPr>
            </a:pPr>
            <a:r>
              <a:t>Next Steps (Tháng 09/2026): [1] Go-live Bộ công cụ Phân Bổ Lương (50/30/20 &amp; Lập Kế Hoạch Tài Chính) và Quyết Toán Thuế TNCN 2026 trước ngày 15/09; [2] Triển khai module Thực Tập Sinh Đầu Tư (Tra Cứu &amp; Giả Lập Chứng Khoán/SIP) trước ngày 20/09; [3] Tập trung sản xuất 50+ bài cẩm nang tài chính chuyên sâu qua MoSpark GenAI.</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182880"/>
            <a:ext cx="7772400" cy="228600"/>
          </a:xfrm>
          <a:prstGeom prst="rect">
            <a:avLst/>
          </a:prstGeom>
          <a:noFill/>
        </p:spPr>
        <p:txBody>
          <a:bodyPr wrap="none">
            <a:spAutoFit/>
          </a:bodyPr>
          <a:lstStyle/>
          <a:p>
            <a:pPr>
              <a:defRPr sz="900" b="1">
                <a:solidFill>
                  <a:srgbClr val="B0006D"/>
                </a:solidFill>
              </a:defRPr>
            </a:pPr>
            <a:r>
              <a:t>STRATEGIC DISCUSSION · FINANCIAL HUB</a:t>
            </a:r>
          </a:p>
        </p:txBody>
      </p:sp>
      <p:sp>
        <p:nvSpPr>
          <p:cNvPr id="3" name="Rounded Rectangle 2"/>
          <p:cNvSpPr/>
          <p:nvPr/>
        </p:nvSpPr>
        <p:spPr>
          <a:xfrm>
            <a:off x="9692640" y="182880"/>
            <a:ext cx="1950415" cy="320040"/>
          </a:xfrm>
          <a:prstGeom prst="roundRect">
            <a:avLst/>
          </a:prstGeom>
          <a:solidFill>
            <a:srgbClr val="D9770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900" b="1">
                <a:solidFill>
                  <a:srgbClr val="FFFFFF"/>
                </a:solidFill>
              </a:defRPr>
            </a:pPr>
            <a:r>
              <a:t>[D] DISCUSSION</a:t>
            </a:r>
          </a:p>
        </p:txBody>
      </p:sp>
      <p:sp>
        <p:nvSpPr>
          <p:cNvPr id="4" name="TextBox 3"/>
          <p:cNvSpPr txBox="1"/>
          <p:nvPr/>
        </p:nvSpPr>
        <p:spPr>
          <a:xfrm>
            <a:off x="548640" y="384048"/>
            <a:ext cx="8961120" cy="411480"/>
          </a:xfrm>
          <a:prstGeom prst="rect">
            <a:avLst/>
          </a:prstGeom>
          <a:noFill/>
        </p:spPr>
        <p:txBody>
          <a:bodyPr wrap="none">
            <a:spAutoFit/>
          </a:bodyPr>
          <a:lstStyle/>
          <a:p>
            <a:pPr>
              <a:defRPr sz="1700" b="1">
                <a:solidFill>
                  <a:srgbClr val="0F172A"/>
                </a:solidFill>
              </a:defRPr>
            </a:pPr>
            <a:r>
              <a:t>DISCUSSION: LỘ TRÌNH UTILITIES TÀI CHÍNH &amp; PHÊ DUYỆT NGHIỆP VỤ</a:t>
            </a:r>
          </a:p>
        </p:txBody>
      </p:sp>
      <p:sp>
        <p:nvSpPr>
          <p:cNvPr id="5" name="Rounded Rectangle 4"/>
          <p:cNvSpPr/>
          <p:nvPr/>
        </p:nvSpPr>
        <p:spPr>
          <a:xfrm>
            <a:off x="548640" y="960120"/>
            <a:ext cx="3611880" cy="5394960"/>
          </a:xfrm>
          <a:prstGeom prst="roundRect">
            <a:avLst/>
          </a:prstGeom>
          <a:solidFill>
            <a:srgbClr val="FFFFFF"/>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182880" rIns="182880" tIns="182880" bIns="182880"/>
          <a:lstStyle/>
          <a:p>
            <a:pPr algn="ctr">
              <a:defRPr sz="1000" b="1">
                <a:solidFill>
                  <a:srgbClr val="B0006D"/>
                </a:solidFill>
              </a:defRPr>
            </a:pPr>
            <a:r>
              <a:t>1. PROBLEM STATEMENT</a:t>
            </a:r>
          </a:p>
          <a:p>
            <a:pPr>
              <a:defRPr sz="800">
                <a:solidFill>
                  <a:srgbClr val="E2E8F0"/>
                </a:solidFill>
              </a:defRPr>
            </a:pPr>
            <a:r>
              <a:t>————————————————————</a:t>
            </a:r>
          </a:p>
          <a:p>
            <a:pPr>
              <a:defRPr sz="850">
                <a:solidFill>
                  <a:srgbClr val="0F172A"/>
                </a:solidFill>
              </a:defRPr>
            </a:pPr>
            <a:r>
              <a:t>• Thống nhất lộ trình mở rộng hệ sinh thái công cụ tài chính (Financial Utilities) nhằm hiện thực hóa mục tiêu 1.000.000 PVs/tháng cho Financial Hub vào Tháng 12/2026.</a:t>
            </a:r>
          </a:p>
          <a:p>
            <a:pPr>
              <a:defRPr sz="850">
                <a:solidFill>
                  <a:srgbClr val="0F172A"/>
                </a:solidFill>
              </a:defRPr>
            </a:pPr>
            <a:r>
              <a:t>• Phê duyệt danh mục triển khai ngay trong Tháng 9 (P0 Quick Wins) và xin chỉ thị của CEO về các mảng tiện ích mở rộng trong Q4 (Thẻ tín dụng, Vay mua nhà/xe).</a:t>
            </a:r>
          </a:p>
          <a:p>
            <a:pPr>
              <a:defRPr sz="850">
                <a:solidFill>
                  <a:srgbClr val="0F172A"/>
                </a:solidFill>
              </a:defRPr>
            </a:pPr>
            <a:r>
              <a:t>• Thiết lập cơ chế kiểm duyệt công thức nghiệp vụ và miễn trừ trách nhiệm pháp lý (Disclaimer) giữa Web Platform, FS Team và Legal/Risk.</a:t>
            </a:r>
          </a:p>
        </p:txBody>
      </p:sp>
      <p:sp>
        <p:nvSpPr>
          <p:cNvPr id="6" name="Rounded Rectangle 5"/>
          <p:cNvSpPr/>
          <p:nvPr/>
        </p:nvSpPr>
        <p:spPr>
          <a:xfrm>
            <a:off x="4251960" y="960120"/>
            <a:ext cx="3611880" cy="5394960"/>
          </a:xfrm>
          <a:prstGeom prst="roundRect">
            <a:avLst/>
          </a:prstGeom>
          <a:solidFill>
            <a:srgbClr val="F8FAFC"/>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182880" rIns="182880" tIns="182880" bIns="182880"/>
          <a:lstStyle/>
          <a:p>
            <a:pPr algn="ctr">
              <a:defRPr sz="1000" b="1">
                <a:solidFill>
                  <a:srgbClr val="0F172A"/>
                </a:solidFill>
              </a:defRPr>
            </a:pPr>
            <a:r>
              <a:t>2. STATUS / ISSUES &amp; DATA POINTS</a:t>
            </a:r>
          </a:p>
          <a:p>
            <a:pPr>
              <a:defRPr sz="800">
                <a:solidFill>
                  <a:srgbClr val="E2E8F0"/>
                </a:solidFill>
              </a:defRPr>
            </a:pPr>
            <a:r>
              <a:t>————————————————————</a:t>
            </a:r>
          </a:p>
          <a:p>
            <a:pPr>
              <a:defRPr sz="850">
                <a:solidFill>
                  <a:srgbClr val="0F172A"/>
                </a:solidFill>
              </a:defRPr>
            </a:pPr>
            <a:r>
              <a:t>• Data Point: Financial Hub tăng trưởng bứt phá +68.76% MoM (216.4K PVs); các trang công cụ (Điểm CIC +148.9%, Vay Nhanh +70.5%) chứng minh khả năng kéo Traffic và on-site cao gấp 3 lần bài viết tĩnh.</a:t>
            </a:r>
          </a:p>
          <a:p>
            <a:pPr>
              <a:defRPr sz="850">
                <a:solidFill>
                  <a:srgbClr val="0F172A"/>
                </a:solidFill>
              </a:defRPr>
            </a:pPr>
            <a:r>
              <a:t>• Data Point: Đã hoàn tất Go-live Master Hub và bộ 5 công cụ cơ bản trong Tháng 8/2026.</a:t>
            </a:r>
          </a:p>
          <a:p>
            <a:pPr>
              <a:defRPr sz="850">
                <a:solidFill>
                  <a:srgbClr val="0F172A"/>
                </a:solidFill>
              </a:defRPr>
            </a:pPr>
            <a:r>
              <a:t>• Issue: Nhu cầu tìm kiếm về Quyết toán thuế TNCN, Phân bổ thu nhập và Đầu tư chứng khoán tăng mạnh dịp cuối năm nhưng Web MoMo chưa có công cụ dẫn dòng In-App.</a:t>
            </a:r>
          </a:p>
        </p:txBody>
      </p:sp>
      <p:sp>
        <p:nvSpPr>
          <p:cNvPr id="7" name="Rounded Rectangle 6"/>
          <p:cNvSpPr/>
          <p:nvPr/>
        </p:nvSpPr>
        <p:spPr>
          <a:xfrm>
            <a:off x="7955279" y="960120"/>
            <a:ext cx="3611880" cy="5394960"/>
          </a:xfrm>
          <a:prstGeom prst="roundRect">
            <a:avLst/>
          </a:prstGeom>
          <a:solidFill>
            <a:srgbClr val="FFFFFF"/>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182880" rIns="182880" tIns="182880" bIns="182880"/>
          <a:lstStyle/>
          <a:p>
            <a:pPr algn="ctr">
              <a:defRPr sz="1000" b="1">
                <a:solidFill>
                  <a:srgbClr val="16A34A"/>
                </a:solidFill>
              </a:defRPr>
            </a:pPr>
            <a:r>
              <a:t>3. SOLUTIONS &amp; RECOMMENDATIONS</a:t>
            </a:r>
          </a:p>
          <a:p>
            <a:pPr>
              <a:defRPr sz="800">
                <a:solidFill>
                  <a:srgbClr val="E2E8F0"/>
                </a:solidFill>
              </a:defRPr>
            </a:pPr>
            <a:r>
              <a:t>————————————————————</a:t>
            </a:r>
          </a:p>
          <a:p>
            <a:pPr>
              <a:defRPr sz="850">
                <a:solidFill>
                  <a:srgbClr val="0F172A"/>
                </a:solidFill>
              </a:defRPr>
            </a:pPr>
            <a:r>
              <a:t>• Kế hoạch Tháng 09/2026 (Triển khai ngay): Go-live bộ công cụ Phân Bổ Lương 50/30/20 &amp; Quyết Toán Thuế TNCN 2026 (trước 15/09) và module Thực Tập Sinh Đầu Tư (trước 20/09).</a:t>
            </a:r>
          </a:p>
          <a:p>
            <a:pPr>
              <a:defRPr sz="850">
                <a:solidFill>
                  <a:srgbClr val="0F172A"/>
                </a:solidFill>
              </a:defRPr>
            </a:pPr>
            <a:r>
              <a:t>• Kiểm duyệt nghiệp vụ &amp; Pháp lý: FS Team và Risk/Legal phê duyệt bảng công thức và gắn điều khoản miễn trừ trách nhiệm chuẩn (Disclaimer) trước ngày 15/09.</a:t>
            </a:r>
          </a:p>
          <a:p>
            <a:pPr>
              <a:defRPr sz="850">
                <a:solidFill>
                  <a:srgbClr val="0F172A"/>
                </a:solidFill>
              </a:defRPr>
            </a:pPr>
            <a:r>
              <a:t>• Xin định hướng CEO cho Q4/2026: Trình CEO xem xét định hướng ưu tiên mở rộng 2 cụm tiện ích mới: (1) Cổng So Sánh Thẻ Tín Dụng Đối Tác; (2) Công Cụ Tính Lãi Vay Mua Nhà / Ô Tô Trả Góp.</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182880"/>
            <a:ext cx="7772400" cy="228600"/>
          </a:xfrm>
          <a:prstGeom prst="rect">
            <a:avLst/>
          </a:prstGeom>
          <a:noFill/>
        </p:spPr>
        <p:txBody>
          <a:bodyPr wrap="none">
            <a:spAutoFit/>
          </a:bodyPr>
          <a:lstStyle/>
          <a:p>
            <a:pPr>
              <a:defRPr sz="900" b="1">
                <a:solidFill>
                  <a:srgbClr val="B0006D"/>
                </a:solidFill>
              </a:defRPr>
            </a:pPr>
            <a:r>
              <a:t>BUSINESS STRATEGIC · MERCHANT HUB</a:t>
            </a:r>
          </a:p>
        </p:txBody>
      </p:sp>
      <p:sp>
        <p:nvSpPr>
          <p:cNvPr id="3" name="Rounded Rectangle 2"/>
          <p:cNvSpPr/>
          <p:nvPr/>
        </p:nvSpPr>
        <p:spPr>
          <a:xfrm>
            <a:off x="9692640" y="182880"/>
            <a:ext cx="1950415" cy="320040"/>
          </a:xfrm>
          <a:prstGeom prst="roundRect">
            <a:avLst/>
          </a:prstGeom>
          <a:solidFill>
            <a:srgbClr val="0284C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900" b="1">
                <a:solidFill>
                  <a:srgbClr val="FFFFFF"/>
                </a:solidFill>
              </a:defRPr>
            </a:pPr>
            <a:r>
              <a:t>[R] REPORTING</a:t>
            </a:r>
          </a:p>
        </p:txBody>
      </p:sp>
      <p:sp>
        <p:nvSpPr>
          <p:cNvPr id="4" name="TextBox 3"/>
          <p:cNvSpPr txBox="1"/>
          <p:nvPr/>
        </p:nvSpPr>
        <p:spPr>
          <a:xfrm>
            <a:off x="548640" y="384048"/>
            <a:ext cx="8961120" cy="411480"/>
          </a:xfrm>
          <a:prstGeom prst="rect">
            <a:avLst/>
          </a:prstGeom>
          <a:noFill/>
        </p:spPr>
        <p:txBody>
          <a:bodyPr wrap="none">
            <a:spAutoFit/>
          </a:bodyPr>
          <a:lstStyle/>
          <a:p>
            <a:pPr>
              <a:defRPr sz="1700" b="1">
                <a:solidFill>
                  <a:srgbClr val="0F172A"/>
                </a:solidFill>
              </a:defRPr>
            </a:pPr>
            <a:r>
              <a:t>MERCHANT HUB &amp; SOUNDBOX MSME STRATEGY</a:t>
            </a:r>
          </a:p>
        </p:txBody>
      </p:sp>
      <p:graphicFrame>
        <p:nvGraphicFramePr>
          <p:cNvPr id="5" name="Table 4"/>
          <p:cNvGraphicFramePr>
            <a:graphicFrameLocks noGrp="1"/>
          </p:cNvGraphicFramePr>
          <p:nvPr/>
        </p:nvGraphicFramePr>
        <p:xfrm>
          <a:off x="548640" y="868680"/>
          <a:ext cx="6217920" cy="2926080"/>
        </p:xfrm>
        <a:graphic>
          <a:graphicData uri="http://schemas.openxmlformats.org/drawingml/2006/table">
            <a:tbl>
              <a:tblPr firstRow="1" bandRow="1">
                <a:tableStyleId>{5C22544A-7EE6-4342-B048-85BDC9FD1C3A}</a:tableStyleId>
              </a:tblPr>
              <a:tblGrid>
                <a:gridCol w="2377440"/>
                <a:gridCol w="960120"/>
                <a:gridCol w="960120"/>
                <a:gridCol w="960120"/>
                <a:gridCol w="960120"/>
              </a:tblGrid>
              <a:tr h="487680">
                <a:tc>
                  <a:txBody>
                    <a:bodyPr/>
                    <a:lstStyle/>
                    <a:p>
                      <a:pPr algn="ctr">
                        <a:defRPr sz="850" b="1">
                          <a:solidFill>
                            <a:srgbClr val="FFFFFF"/>
                          </a:solidFill>
                        </a:defRPr>
                      </a:pPr>
                      <a:r>
                        <a:t>Phân Hệ Merchant Hub</a:t>
                      </a:r>
                    </a:p>
                  </a:txBody>
                  <a:tcPr>
                    <a:solidFill>
                      <a:srgbClr val="B0006D"/>
                    </a:solidFill>
                  </a:tcPr>
                </a:tc>
                <a:tc>
                  <a:txBody>
                    <a:bodyPr/>
                    <a:lstStyle/>
                    <a:p>
                      <a:pPr algn="ctr">
                        <a:defRPr sz="850" b="1">
                          <a:solidFill>
                            <a:srgbClr val="FFFFFF"/>
                          </a:solidFill>
                        </a:defRPr>
                      </a:pPr>
                      <a:r>
                        <a:t>T7 (Full)</a:t>
                      </a:r>
                    </a:p>
                  </a:txBody>
                  <a:tcPr>
                    <a:solidFill>
                      <a:srgbClr val="B0006D"/>
                    </a:solidFill>
                  </a:tcPr>
                </a:tc>
                <a:tc>
                  <a:txBody>
                    <a:bodyPr/>
                    <a:lstStyle/>
                    <a:p>
                      <a:pPr algn="ctr">
                        <a:defRPr sz="850" b="1">
                          <a:solidFill>
                            <a:srgbClr val="FFFFFF"/>
                          </a:solidFill>
                        </a:defRPr>
                      </a:pPr>
                      <a:r>
                        <a:t>T8 (Full)</a:t>
                      </a:r>
                    </a:p>
                  </a:txBody>
                  <a:tcPr>
                    <a:solidFill>
                      <a:srgbClr val="B0006D"/>
                    </a:solidFill>
                  </a:tcPr>
                </a:tc>
                <a:tc>
                  <a:txBody>
                    <a:bodyPr/>
                    <a:lstStyle/>
                    <a:p>
                      <a:pPr algn="ctr">
                        <a:defRPr sz="850" b="1">
                          <a:solidFill>
                            <a:srgbClr val="FFFFFF"/>
                          </a:solidFill>
                        </a:defRPr>
                      </a:pPr>
                      <a:r>
                        <a:t>MoM %</a:t>
                      </a:r>
                    </a:p>
                  </a:txBody>
                  <a:tcPr>
                    <a:solidFill>
                      <a:srgbClr val="B0006D"/>
                    </a:solidFill>
                  </a:tcPr>
                </a:tc>
                <a:tc>
                  <a:txBody>
                    <a:bodyPr/>
                    <a:lstStyle/>
                    <a:p>
                      <a:pPr algn="ctr">
                        <a:defRPr sz="850" b="1">
                          <a:solidFill>
                            <a:srgbClr val="FFFFFF"/>
                          </a:solidFill>
                        </a:defRPr>
                      </a:pPr>
                      <a:r>
                        <a:t>% Tỷ Trọng</a:t>
                      </a:r>
                    </a:p>
                  </a:txBody>
                  <a:tcPr>
                    <a:solidFill>
                      <a:srgbClr val="B0006D"/>
                    </a:solidFill>
                  </a:tcPr>
                </a:tc>
              </a:tr>
              <a:tr h="487680">
                <a:tc>
                  <a:txBody>
                    <a:bodyPr/>
                    <a:lstStyle/>
                    <a:p>
                      <a:pPr algn="l">
                        <a:defRPr sz="800"/>
                      </a:pPr>
                      <a:r>
                        <a:t>Official Account (OA MoMo)</a:t>
                      </a:r>
                    </a:p>
                  </a:txBody>
                  <a:tcPr>
                    <a:solidFill>
                      <a:srgbClr val="FFFFFF"/>
                    </a:solidFill>
                  </a:tcPr>
                </a:tc>
                <a:tc>
                  <a:txBody>
                    <a:bodyPr/>
                    <a:lstStyle/>
                    <a:p>
                      <a:pPr algn="ctr">
                        <a:defRPr sz="800"/>
                      </a:pPr>
                      <a:r>
                        <a:t>54,906</a:t>
                      </a:r>
                    </a:p>
                  </a:txBody>
                  <a:tcPr>
                    <a:solidFill>
                      <a:srgbClr val="FFFFFF"/>
                    </a:solidFill>
                  </a:tcPr>
                </a:tc>
                <a:tc>
                  <a:txBody>
                    <a:bodyPr/>
                    <a:lstStyle/>
                    <a:p>
                      <a:pPr algn="ctr">
                        <a:defRPr sz="800"/>
                      </a:pPr>
                      <a:r>
                        <a:t>57,152</a:t>
                      </a:r>
                    </a:p>
                  </a:txBody>
                  <a:tcPr>
                    <a:solidFill>
                      <a:srgbClr val="FFFFFF"/>
                    </a:solidFill>
                  </a:tcPr>
                </a:tc>
                <a:tc>
                  <a:txBody>
                    <a:bodyPr/>
                    <a:lstStyle/>
                    <a:p>
                      <a:pPr algn="ctr">
                        <a:defRPr sz="800" b="1">
                          <a:solidFill>
                            <a:srgbClr val="16A34A"/>
                          </a:solidFill>
                        </a:defRPr>
                      </a:pPr>
                      <a:r>
                        <a:t>+4.09%</a:t>
                      </a:r>
                    </a:p>
                  </a:txBody>
                  <a:tcPr>
                    <a:solidFill>
                      <a:srgbClr val="FFFFFF"/>
                    </a:solidFill>
                  </a:tcPr>
                </a:tc>
                <a:tc>
                  <a:txBody>
                    <a:bodyPr/>
                    <a:lstStyle/>
                    <a:p>
                      <a:pPr algn="ctr">
                        <a:defRPr sz="800"/>
                      </a:pPr>
                      <a:r>
                        <a:t>57.71%</a:t>
                      </a:r>
                    </a:p>
                  </a:txBody>
                  <a:tcPr>
                    <a:solidFill>
                      <a:srgbClr val="FFFFFF"/>
                    </a:solidFill>
                  </a:tcPr>
                </a:tc>
              </a:tr>
              <a:tr h="487680">
                <a:tc>
                  <a:txBody>
                    <a:bodyPr/>
                    <a:lstStyle/>
                    <a:p>
                      <a:pPr algn="l">
                        <a:defRPr sz="800"/>
                      </a:pPr>
                      <a:r>
                        <a:t>Mã QR Đa Năng Điểm Bán</a:t>
                      </a:r>
                    </a:p>
                  </a:txBody>
                  <a:tcPr>
                    <a:solidFill>
                      <a:srgbClr val="FDF2F8"/>
                    </a:solidFill>
                  </a:tcPr>
                </a:tc>
                <a:tc>
                  <a:txBody>
                    <a:bodyPr/>
                    <a:lstStyle/>
                    <a:p>
                      <a:pPr algn="ctr">
                        <a:defRPr sz="800"/>
                      </a:pPr>
                      <a:r>
                        <a:t>18,200</a:t>
                      </a:r>
                    </a:p>
                  </a:txBody>
                  <a:tcPr>
                    <a:solidFill>
                      <a:srgbClr val="FDF2F8"/>
                    </a:solidFill>
                  </a:tcPr>
                </a:tc>
                <a:tc>
                  <a:txBody>
                    <a:bodyPr/>
                    <a:lstStyle/>
                    <a:p>
                      <a:pPr algn="ctr">
                        <a:defRPr sz="800"/>
                      </a:pPr>
                      <a:r>
                        <a:t>21,000</a:t>
                      </a:r>
                    </a:p>
                  </a:txBody>
                  <a:tcPr>
                    <a:solidFill>
                      <a:srgbClr val="FDF2F8"/>
                    </a:solidFill>
                  </a:tcPr>
                </a:tc>
                <a:tc>
                  <a:txBody>
                    <a:bodyPr/>
                    <a:lstStyle/>
                    <a:p>
                      <a:pPr algn="ctr">
                        <a:defRPr sz="800" b="1">
                          <a:solidFill>
                            <a:srgbClr val="16A34A"/>
                          </a:solidFill>
                        </a:defRPr>
                      </a:pPr>
                      <a:r>
                        <a:t>+15.38%</a:t>
                      </a:r>
                    </a:p>
                  </a:txBody>
                  <a:tcPr>
                    <a:solidFill>
                      <a:srgbClr val="FDF2F8"/>
                    </a:solidFill>
                  </a:tcPr>
                </a:tc>
                <a:tc>
                  <a:txBody>
                    <a:bodyPr/>
                    <a:lstStyle/>
                    <a:p>
                      <a:pPr algn="ctr">
                        <a:defRPr sz="800"/>
                      </a:pPr>
                      <a:r>
                        <a:t>21.21%</a:t>
                      </a:r>
                    </a:p>
                  </a:txBody>
                  <a:tcPr>
                    <a:solidFill>
                      <a:srgbClr val="FDF2F8"/>
                    </a:solidFill>
                  </a:tcPr>
                </a:tc>
              </a:tr>
              <a:tr h="487680">
                <a:tc>
                  <a:txBody>
                    <a:bodyPr/>
                    <a:lstStyle/>
                    <a:p>
                      <a:pPr algn="l">
                        <a:defRPr sz="800"/>
                      </a:pPr>
                      <a:r>
                        <a:t>Cẩm Nang &amp; Merchant Academy</a:t>
                      </a:r>
                    </a:p>
                  </a:txBody>
                  <a:tcPr>
                    <a:solidFill>
                      <a:srgbClr val="FFFFFF"/>
                    </a:solidFill>
                  </a:tcPr>
                </a:tc>
                <a:tc>
                  <a:txBody>
                    <a:bodyPr/>
                    <a:lstStyle/>
                    <a:p>
                      <a:pPr algn="ctr">
                        <a:defRPr sz="800"/>
                      </a:pPr>
                      <a:r>
                        <a:t>10,500</a:t>
                      </a:r>
                    </a:p>
                  </a:txBody>
                  <a:tcPr>
                    <a:solidFill>
                      <a:srgbClr val="FFFFFF"/>
                    </a:solidFill>
                  </a:tcPr>
                </a:tc>
                <a:tc>
                  <a:txBody>
                    <a:bodyPr/>
                    <a:lstStyle/>
                    <a:p>
                      <a:pPr algn="ctr">
                        <a:defRPr sz="800"/>
                      </a:pPr>
                      <a:r>
                        <a:t>11,500</a:t>
                      </a:r>
                    </a:p>
                  </a:txBody>
                  <a:tcPr>
                    <a:solidFill>
                      <a:srgbClr val="FFFFFF"/>
                    </a:solidFill>
                  </a:tcPr>
                </a:tc>
                <a:tc>
                  <a:txBody>
                    <a:bodyPr/>
                    <a:lstStyle/>
                    <a:p>
                      <a:pPr algn="ctr">
                        <a:defRPr sz="800" b="1">
                          <a:solidFill>
                            <a:srgbClr val="16A34A"/>
                          </a:solidFill>
                        </a:defRPr>
                      </a:pPr>
                      <a:r>
                        <a:t>+9.52%</a:t>
                      </a:r>
                    </a:p>
                  </a:txBody>
                  <a:tcPr>
                    <a:solidFill>
                      <a:srgbClr val="FFFFFF"/>
                    </a:solidFill>
                  </a:tcPr>
                </a:tc>
                <a:tc>
                  <a:txBody>
                    <a:bodyPr/>
                    <a:lstStyle/>
                    <a:p>
                      <a:pPr algn="ctr">
                        <a:defRPr sz="800"/>
                      </a:pPr>
                      <a:r>
                        <a:t>11.61%</a:t>
                      </a:r>
                    </a:p>
                  </a:txBody>
                  <a:tcPr>
                    <a:solidFill>
                      <a:srgbClr val="FFFFFF"/>
                    </a:solidFill>
                  </a:tcPr>
                </a:tc>
              </a:tr>
              <a:tr h="487680">
                <a:tc>
                  <a:txBody>
                    <a:bodyPr/>
                    <a:lstStyle/>
                    <a:p>
                      <a:pPr algn="l">
                        <a:defRPr sz="800"/>
                      </a:pPr>
                      <a:r>
                        <a:t>Soundbox Loa Báo Tiền</a:t>
                      </a:r>
                    </a:p>
                  </a:txBody>
                  <a:tcPr>
                    <a:solidFill>
                      <a:srgbClr val="FDF2F8"/>
                    </a:solidFill>
                  </a:tcPr>
                </a:tc>
                <a:tc>
                  <a:txBody>
                    <a:bodyPr/>
                    <a:lstStyle/>
                    <a:p>
                      <a:pPr algn="ctr">
                        <a:defRPr sz="800"/>
                      </a:pPr>
                      <a:r>
                        <a:t>8,912</a:t>
                      </a:r>
                    </a:p>
                  </a:txBody>
                  <a:tcPr>
                    <a:solidFill>
                      <a:srgbClr val="FDF2F8"/>
                    </a:solidFill>
                  </a:tcPr>
                </a:tc>
                <a:tc>
                  <a:txBody>
                    <a:bodyPr/>
                    <a:lstStyle/>
                    <a:p>
                      <a:pPr algn="ctr">
                        <a:defRPr sz="800"/>
                      </a:pPr>
                      <a:r>
                        <a:t>9,377</a:t>
                      </a:r>
                    </a:p>
                  </a:txBody>
                  <a:tcPr>
                    <a:solidFill>
                      <a:srgbClr val="FDF2F8"/>
                    </a:solidFill>
                  </a:tcPr>
                </a:tc>
                <a:tc>
                  <a:txBody>
                    <a:bodyPr/>
                    <a:lstStyle/>
                    <a:p>
                      <a:pPr algn="ctr">
                        <a:defRPr sz="800" b="1">
                          <a:solidFill>
                            <a:srgbClr val="16A34A"/>
                          </a:solidFill>
                        </a:defRPr>
                      </a:pPr>
                      <a:r>
                        <a:t>+5.22%</a:t>
                      </a:r>
                    </a:p>
                  </a:txBody>
                  <a:tcPr>
                    <a:solidFill>
                      <a:srgbClr val="FDF2F8"/>
                    </a:solidFill>
                  </a:tcPr>
                </a:tc>
                <a:tc>
                  <a:txBody>
                    <a:bodyPr/>
                    <a:lstStyle/>
                    <a:p>
                      <a:pPr algn="ctr">
                        <a:defRPr sz="800"/>
                      </a:pPr>
                      <a:r>
                        <a:t>9.47%</a:t>
                      </a:r>
                    </a:p>
                  </a:txBody>
                  <a:tcPr>
                    <a:solidFill>
                      <a:srgbClr val="FDF2F8"/>
                    </a:solidFill>
                  </a:tcPr>
                </a:tc>
              </a:tr>
              <a:tr h="487680">
                <a:tc>
                  <a:txBody>
                    <a:bodyPr/>
                    <a:lstStyle/>
                    <a:p>
                      <a:pPr algn="l">
                        <a:defRPr sz="800" b="1"/>
                      </a:pPr>
                      <a:r>
                        <a:t>MERCHANT HUB (TỔNG CỘNG)</a:t>
                      </a:r>
                    </a:p>
                  </a:txBody>
                  <a:tcPr>
                    <a:solidFill>
                      <a:srgbClr val="F1F5F9"/>
                    </a:solidFill>
                  </a:tcPr>
                </a:tc>
                <a:tc>
                  <a:txBody>
                    <a:bodyPr/>
                    <a:lstStyle/>
                    <a:p>
                      <a:pPr algn="ctr">
                        <a:defRPr sz="800" b="1"/>
                      </a:pPr>
                      <a:r>
                        <a:t>92,518</a:t>
                      </a:r>
                    </a:p>
                  </a:txBody>
                  <a:tcPr>
                    <a:solidFill>
                      <a:srgbClr val="F1F5F9"/>
                    </a:solidFill>
                  </a:tcPr>
                </a:tc>
                <a:tc>
                  <a:txBody>
                    <a:bodyPr/>
                    <a:lstStyle/>
                    <a:p>
                      <a:pPr algn="ctr">
                        <a:defRPr sz="800" b="1"/>
                      </a:pPr>
                      <a:r>
                        <a:t>99,029</a:t>
                      </a:r>
                    </a:p>
                  </a:txBody>
                  <a:tcPr>
                    <a:solidFill>
                      <a:srgbClr val="F1F5F9"/>
                    </a:solidFill>
                  </a:tcPr>
                </a:tc>
                <a:tc>
                  <a:txBody>
                    <a:bodyPr/>
                    <a:lstStyle/>
                    <a:p>
                      <a:pPr algn="ctr">
                        <a:defRPr sz="800" b="1">
                          <a:solidFill>
                            <a:srgbClr val="16A34A"/>
                          </a:solidFill>
                        </a:defRPr>
                      </a:pPr>
                      <a:r>
                        <a:t>+7.04%</a:t>
                      </a:r>
                    </a:p>
                  </a:txBody>
                  <a:tcPr>
                    <a:solidFill>
                      <a:srgbClr val="F1F5F9"/>
                    </a:solidFill>
                  </a:tcPr>
                </a:tc>
                <a:tc>
                  <a:txBody>
                    <a:bodyPr/>
                    <a:lstStyle/>
                    <a:p>
                      <a:pPr algn="ctr">
                        <a:defRPr sz="800" b="1"/>
                      </a:pPr>
                      <a:r>
                        <a:t>100.00%</a:t>
                      </a:r>
                    </a:p>
                  </a:txBody>
                  <a:tcPr>
                    <a:solidFill>
                      <a:srgbClr val="F1F5F9"/>
                    </a:solidFill>
                  </a:tcPr>
                </a:tc>
              </a:tr>
            </a:tbl>
          </a:graphicData>
        </a:graphic>
      </p:graphicFrame>
      <p:sp>
        <p:nvSpPr>
          <p:cNvPr id="6" name="Rounded Rectangle 5"/>
          <p:cNvSpPr/>
          <p:nvPr/>
        </p:nvSpPr>
        <p:spPr>
          <a:xfrm>
            <a:off x="6949440" y="868680"/>
            <a:ext cx="4693615" cy="2926080"/>
          </a:xfrm>
          <a:prstGeom prst="roundRect">
            <a:avLst/>
          </a:prstGeom>
          <a:solidFill>
            <a:srgbClr val="F8FAFC"/>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7" name="Chart 6"/>
          <p:cNvGraphicFramePr>
            <a:graphicFrameLocks noGrp="1"/>
          </p:cNvGraphicFramePr>
          <p:nvPr/>
        </p:nvGraphicFramePr>
        <p:xfrm>
          <a:off x="7040879" y="960120"/>
          <a:ext cx="4510735" cy="2743200"/>
        </p:xfrm>
        <a:graphic>
          <a:graphicData uri="http://schemas.openxmlformats.org/drawingml/2006/chart">
            <c:chart xmlns:c="http://schemas.openxmlformats.org/drawingml/2006/chart" r:id="rId2"/>
          </a:graphicData>
        </a:graphic>
      </p:graphicFrame>
      <p:sp>
        <p:nvSpPr>
          <p:cNvPr id="8" name="Rounded Rectangle 7"/>
          <p:cNvSpPr/>
          <p:nvPr/>
        </p:nvSpPr>
        <p:spPr>
          <a:xfrm>
            <a:off x="548640" y="3977639"/>
            <a:ext cx="11094415" cy="2606040"/>
          </a:xfrm>
          <a:prstGeom prst="roundRect">
            <a:avLst/>
          </a:prstGeom>
          <a:solidFill>
            <a:srgbClr val="F8FAFC"/>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182880" rIns="182880" tIns="137160" bIns="137160"/>
          <a:lstStyle/>
          <a:p>
            <a:pPr algn="ctr">
              <a:defRPr sz="850">
                <a:solidFill>
                  <a:srgbClr val="0F172A"/>
                </a:solidFill>
              </a:defRPr>
            </a:pPr>
            <a:r>
              <a:t>Executive Summary: Context: Merchant Hub là kênh tiếp cận MSME và hộ kinh doanh cá thể. Kết quả: Đạt 99.029 PVs full tháng 8 (+7.04% MoM); nhu cầu tìm hiểu Soundbox (9.377 PVs) và QR Đa Năng (21.000 PVs) tăng trưởng vững chắc. Mục tiêu đạt 150.000 PVs/tháng và 1.500+ Leads điểm bán/tháng vào Tháng 12/2026.</a:t>
            </a:r>
          </a:p>
          <a:p>
            <a:pPr>
              <a:defRPr sz="800">
                <a:solidFill>
                  <a:srgbClr val="334155"/>
                </a:solidFill>
              </a:defRPr>
            </a:pPr>
            <a:r>
              <a:t>Problem Statement: Luồng đăng ký Merchant ngoài Web yêu cầu KYC doanh nghiệp rườm rà khiến 85% người dùng bỏ dở ngoài Web (CR chỉ 2.1%); Lead tồn đọng chưa kết nối Sales tức thì.</a:t>
            </a:r>
          </a:p>
          <a:p>
            <a:pPr>
              <a:defRPr sz="800">
                <a:solidFill>
                  <a:srgbClr val="334155"/>
                </a:solidFill>
              </a:defRPr>
            </a:pPr>
            <a:r>
              <a:t>Hypothesis/Solutions: Tối giản Form Lead Gen 3 trường và kết nối API Telesales xử lý trong 15 phút.</a:t>
            </a:r>
          </a:p>
          <a:p>
            <a:pPr>
              <a:defRPr sz="850" b="1">
                <a:solidFill>
                  <a:srgbClr val="B0006D"/>
                </a:solidFill>
              </a:defRPr>
            </a:pPr>
            <a:r>
              <a:t>Next Steps (Tháng 09/2026): [1] Go-live Form Lead Gen 3 trường (Tên, SĐT, Địa chỉ) đẩy CRM Sales gọi lại trong 15 phút trước ngày 20/09; [2] Đóng gói combo Soundbox + QR Đa Năng; [3] Xuất bản SEO Academy chống giả bill.</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182880"/>
            <a:ext cx="7772400" cy="228600"/>
          </a:xfrm>
          <a:prstGeom prst="rect">
            <a:avLst/>
          </a:prstGeom>
          <a:noFill/>
        </p:spPr>
        <p:txBody>
          <a:bodyPr wrap="none">
            <a:spAutoFit/>
          </a:bodyPr>
          <a:lstStyle/>
          <a:p>
            <a:pPr>
              <a:defRPr sz="900" b="1">
                <a:solidFill>
                  <a:srgbClr val="B0006D"/>
                </a:solidFill>
              </a:defRPr>
            </a:pPr>
            <a:r>
              <a:t>STRATEGIC DISCUSSION · MERCHANT HUB</a:t>
            </a:r>
          </a:p>
        </p:txBody>
      </p:sp>
      <p:sp>
        <p:nvSpPr>
          <p:cNvPr id="3" name="Rounded Rectangle 2"/>
          <p:cNvSpPr/>
          <p:nvPr/>
        </p:nvSpPr>
        <p:spPr>
          <a:xfrm>
            <a:off x="9692640" y="182880"/>
            <a:ext cx="1950415" cy="320040"/>
          </a:xfrm>
          <a:prstGeom prst="roundRect">
            <a:avLst/>
          </a:prstGeom>
          <a:solidFill>
            <a:srgbClr val="D9770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900" b="1">
                <a:solidFill>
                  <a:srgbClr val="FFFFFF"/>
                </a:solidFill>
              </a:defRPr>
            </a:pPr>
            <a:r>
              <a:t>[D] DISCUSSION</a:t>
            </a:r>
          </a:p>
        </p:txBody>
      </p:sp>
      <p:sp>
        <p:nvSpPr>
          <p:cNvPr id="4" name="TextBox 3"/>
          <p:cNvSpPr txBox="1"/>
          <p:nvPr/>
        </p:nvSpPr>
        <p:spPr>
          <a:xfrm>
            <a:off x="548640" y="384048"/>
            <a:ext cx="8961120" cy="411480"/>
          </a:xfrm>
          <a:prstGeom prst="rect">
            <a:avLst/>
          </a:prstGeom>
          <a:noFill/>
        </p:spPr>
        <p:txBody>
          <a:bodyPr wrap="none">
            <a:spAutoFit/>
          </a:bodyPr>
          <a:lstStyle/>
          <a:p>
            <a:pPr>
              <a:defRPr sz="1700" b="1">
                <a:solidFill>
                  <a:srgbClr val="0F172A"/>
                </a:solidFill>
              </a:defRPr>
            </a:pPr>
            <a:r>
              <a:t>DISCUSSION: THÁO GỠ ĐIỂM NGHẼN ĐĂNG KÝ &amp; SLA TELESALES 15 PHÚT</a:t>
            </a:r>
          </a:p>
        </p:txBody>
      </p:sp>
      <p:sp>
        <p:nvSpPr>
          <p:cNvPr id="5" name="Rounded Rectangle 4"/>
          <p:cNvSpPr/>
          <p:nvPr/>
        </p:nvSpPr>
        <p:spPr>
          <a:xfrm>
            <a:off x="548640" y="960120"/>
            <a:ext cx="3611880" cy="5394960"/>
          </a:xfrm>
          <a:prstGeom prst="roundRect">
            <a:avLst/>
          </a:prstGeom>
          <a:solidFill>
            <a:srgbClr val="FFFFFF"/>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182880" rIns="182880" tIns="182880" bIns="182880"/>
          <a:lstStyle/>
          <a:p>
            <a:pPr algn="ctr">
              <a:defRPr sz="1000" b="1">
                <a:solidFill>
                  <a:srgbClr val="B0006D"/>
                </a:solidFill>
              </a:defRPr>
            </a:pPr>
            <a:r>
              <a:t>1. PROBLEM STATEMENT</a:t>
            </a:r>
          </a:p>
          <a:p>
            <a:pPr>
              <a:defRPr sz="800">
                <a:solidFill>
                  <a:srgbClr val="E2E8F0"/>
                </a:solidFill>
              </a:defRPr>
            </a:pPr>
            <a:r>
              <a:t>————————————————————</a:t>
            </a:r>
          </a:p>
          <a:p>
            <a:pPr>
              <a:defRPr sz="850">
                <a:solidFill>
                  <a:srgbClr val="0F172A"/>
                </a:solidFill>
              </a:defRPr>
            </a:pPr>
            <a:r>
              <a:t>• Phá vỡ rào cản luồng Merchant: Cho phép chủ quán để lại thông tin rút gọn (3 trường) ngoài Web thay vì bắt buộc tải App eKYC doanh nghiệp rườm rà.</a:t>
            </a:r>
          </a:p>
          <a:p>
            <a:pPr>
              <a:defRPr sz="850">
                <a:solidFill>
                  <a:srgbClr val="0F172A"/>
                </a:solidFill>
              </a:defRPr>
            </a:pPr>
            <a:r>
              <a:t>• Cần đội ngũ Merchant Sales cam kết SLA liên hệ tư vấn trong 15 phút sau khi nhận Lead từ Web.</a:t>
            </a:r>
          </a:p>
          <a:p>
            <a:pPr>
              <a:defRPr sz="850">
                <a:solidFill>
                  <a:srgbClr val="0F172A"/>
                </a:solidFill>
              </a:defRPr>
            </a:pPr>
            <a:r>
              <a:t>• Đóng gói combo thiết bị Soundbox và QR Đa Năng nâng cao tỷ lệ chốt điểm bán.</a:t>
            </a:r>
          </a:p>
        </p:txBody>
      </p:sp>
      <p:sp>
        <p:nvSpPr>
          <p:cNvPr id="6" name="Rounded Rectangle 5"/>
          <p:cNvSpPr/>
          <p:nvPr/>
        </p:nvSpPr>
        <p:spPr>
          <a:xfrm>
            <a:off x="4251960" y="960120"/>
            <a:ext cx="3611880" cy="5394960"/>
          </a:xfrm>
          <a:prstGeom prst="roundRect">
            <a:avLst/>
          </a:prstGeom>
          <a:solidFill>
            <a:srgbClr val="F8FAFC"/>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182880" rIns="182880" tIns="182880" bIns="182880"/>
          <a:lstStyle/>
          <a:p>
            <a:pPr algn="ctr">
              <a:defRPr sz="1000" b="1">
                <a:solidFill>
                  <a:srgbClr val="0F172A"/>
                </a:solidFill>
              </a:defRPr>
            </a:pPr>
            <a:r>
              <a:t>2. STATUS / ISSUES &amp; DATA POINTS</a:t>
            </a:r>
          </a:p>
          <a:p>
            <a:pPr>
              <a:defRPr sz="800">
                <a:solidFill>
                  <a:srgbClr val="E2E8F0"/>
                </a:solidFill>
              </a:defRPr>
            </a:pPr>
            <a:r>
              <a:t>————————————————————</a:t>
            </a:r>
          </a:p>
          <a:p>
            <a:pPr>
              <a:defRPr sz="850">
                <a:solidFill>
                  <a:srgbClr val="0F172A"/>
                </a:solidFill>
              </a:defRPr>
            </a:pPr>
            <a:r>
              <a:t>• Data Point: Merchant Hub đạt 99.029 PVs/tháng; OA MoMo đạt 57.2K PVs, QR Đa Năng đạt 21.0K PVs, Soundbox đạt 9.4K PVs.</a:t>
            </a:r>
          </a:p>
          <a:p>
            <a:pPr>
              <a:defRPr sz="850">
                <a:solidFill>
                  <a:srgbClr val="0F172A"/>
                </a:solidFill>
              </a:defRPr>
            </a:pPr>
            <a:r>
              <a:t>• Data Point: 85% chủ quán rời bỏ trang vì form đăng ký bắt nộp giấy phép kinh doanh (GPKD) ngay từ đầu; thời gian Sales liên hệ lại trước đây mất 2-3 ngày khiến CR chỉ đạt 2.1%.</a:t>
            </a:r>
          </a:p>
          <a:p>
            <a:pPr>
              <a:defRPr sz="850">
                <a:solidFill>
                  <a:srgbClr val="0F172A"/>
                </a:solidFill>
              </a:defRPr>
            </a:pPr>
            <a:r>
              <a:t>• Issue: Đối thủ cạnh tranh đang cung cấp dịch vụ giao và lắp đặt thiết bị Soundbox trong vòng 24 giờ.</a:t>
            </a:r>
          </a:p>
        </p:txBody>
      </p:sp>
      <p:sp>
        <p:nvSpPr>
          <p:cNvPr id="7" name="Rounded Rectangle 6"/>
          <p:cNvSpPr/>
          <p:nvPr/>
        </p:nvSpPr>
        <p:spPr>
          <a:xfrm>
            <a:off x="7955279" y="960120"/>
            <a:ext cx="3611880" cy="5394960"/>
          </a:xfrm>
          <a:prstGeom prst="roundRect">
            <a:avLst/>
          </a:prstGeom>
          <a:solidFill>
            <a:srgbClr val="FFFFFF"/>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182880" rIns="182880" tIns="182880" bIns="182880"/>
          <a:lstStyle/>
          <a:p>
            <a:pPr algn="ctr">
              <a:defRPr sz="1000" b="1">
                <a:solidFill>
                  <a:srgbClr val="16A34A"/>
                </a:solidFill>
              </a:defRPr>
            </a:pPr>
            <a:r>
              <a:t>3. SOLUTIONS &amp; RECOMMENDATIONS</a:t>
            </a:r>
          </a:p>
          <a:p>
            <a:pPr>
              <a:defRPr sz="800">
                <a:solidFill>
                  <a:srgbClr val="E2E8F0"/>
                </a:solidFill>
              </a:defRPr>
            </a:pPr>
            <a:r>
              <a:t>————————————————————</a:t>
            </a:r>
          </a:p>
          <a:p>
            <a:pPr>
              <a:defRPr sz="850">
                <a:solidFill>
                  <a:srgbClr val="0F172A"/>
                </a:solidFill>
              </a:defRPr>
            </a:pPr>
            <a:r>
              <a:t>• Phê duyệt Form Lead Gen 3 trường (Tên chủ quán, Số điện thoại, Địa chỉ quán) ngoài Web; Web Platform chịu trách nhiệm xác thực OTP số điện thoại.</a:t>
            </a:r>
          </a:p>
          <a:p>
            <a:pPr>
              <a:defRPr sz="850">
                <a:solidFill>
                  <a:srgbClr val="0F172A"/>
                </a:solidFill>
              </a:defRPr>
            </a:pPr>
            <a:r>
              <a:t>• Merchant Sales Team cam kết SLA gọi lại tư vấn trong vòng 15 phút để nâng tỷ lệ chốt đơn điểm bán lên &gt;= 15%.</a:t>
            </a:r>
          </a:p>
          <a:p>
            <a:pPr>
              <a:defRPr sz="850">
                <a:solidFill>
                  <a:srgbClr val="0F172A"/>
                </a:solidFill>
              </a:defRPr>
            </a:pPr>
            <a:r>
              <a:t>• Đóng gói combo truyền thông: Soundbox + QR Đa Năng + Thấu chi kinh doanh để chốt đơn trọn gói.</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182880"/>
            <a:ext cx="7772400" cy="228600"/>
          </a:xfrm>
          <a:prstGeom prst="rect">
            <a:avLst/>
          </a:prstGeom>
          <a:noFill/>
        </p:spPr>
        <p:txBody>
          <a:bodyPr wrap="none">
            <a:spAutoFit/>
          </a:bodyPr>
          <a:lstStyle/>
          <a:p>
            <a:pPr>
              <a:defRPr sz="900" b="1">
                <a:solidFill>
                  <a:srgbClr val="B0006D"/>
                </a:solidFill>
              </a:defRPr>
            </a:pPr>
            <a:r>
              <a:t>PLATFORM CAPABILITIES · MOSPARK GENAI</a:t>
            </a:r>
          </a:p>
        </p:txBody>
      </p:sp>
      <p:sp>
        <p:nvSpPr>
          <p:cNvPr id="3" name="Rounded Rectangle 2"/>
          <p:cNvSpPr/>
          <p:nvPr/>
        </p:nvSpPr>
        <p:spPr>
          <a:xfrm>
            <a:off x="9692640" y="182880"/>
            <a:ext cx="1950415" cy="320040"/>
          </a:xfrm>
          <a:prstGeom prst="roundRect">
            <a:avLst/>
          </a:prstGeom>
          <a:solidFill>
            <a:srgbClr val="0284C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900" b="1">
                <a:solidFill>
                  <a:srgbClr val="FFFFFF"/>
                </a:solidFill>
              </a:defRPr>
            </a:pPr>
            <a:r>
              <a:t>[R] REPORTING</a:t>
            </a:r>
          </a:p>
        </p:txBody>
      </p:sp>
      <p:sp>
        <p:nvSpPr>
          <p:cNvPr id="4" name="TextBox 3"/>
          <p:cNvSpPr txBox="1"/>
          <p:nvPr/>
        </p:nvSpPr>
        <p:spPr>
          <a:xfrm>
            <a:off x="548640" y="384048"/>
            <a:ext cx="8961120" cy="411480"/>
          </a:xfrm>
          <a:prstGeom prst="rect">
            <a:avLst/>
          </a:prstGeom>
          <a:noFill/>
        </p:spPr>
        <p:txBody>
          <a:bodyPr wrap="none">
            <a:spAutoFit/>
          </a:bodyPr>
          <a:lstStyle/>
          <a:p>
            <a:pPr>
              <a:defRPr sz="1700" b="1">
                <a:solidFill>
                  <a:srgbClr val="0F172A"/>
                </a:solidFill>
              </a:defRPr>
            </a:pPr>
            <a:r>
              <a:t>PLATFORM PROJECT: MOSPARK GENAI CONTENT ENGINE</a:t>
            </a:r>
          </a:p>
        </p:txBody>
      </p:sp>
      <p:sp>
        <p:nvSpPr>
          <p:cNvPr id="5" name="Rounded Rectangle 4"/>
          <p:cNvSpPr/>
          <p:nvPr/>
        </p:nvSpPr>
        <p:spPr>
          <a:xfrm>
            <a:off x="548640" y="960120"/>
            <a:ext cx="2651760" cy="5394960"/>
          </a:xfrm>
          <a:prstGeom prst="roundRect">
            <a:avLst/>
          </a:prstGeom>
          <a:solidFill>
            <a:srgbClr val="FFFFFF"/>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137160" rIns="137160" tIns="182880"/>
          <a:lstStyle/>
          <a:p>
            <a:pPr algn="ctr">
              <a:defRPr sz="1000" b="1">
                <a:solidFill>
                  <a:srgbClr val="B0006D"/>
                </a:solidFill>
              </a:defRPr>
            </a:pPr>
            <a:r>
              <a:t>EXECUTIVE SUMMARY</a:t>
            </a:r>
          </a:p>
          <a:p>
            <a:pPr>
              <a:defRPr sz="800">
                <a:solidFill>
                  <a:srgbClr val="E2E8F0"/>
                </a:solidFill>
              </a:defRPr>
            </a:pPr>
            <a:r>
              <a:t>———————————————</a:t>
            </a:r>
          </a:p>
          <a:p>
            <a:pPr>
              <a:defRPr sz="850">
                <a:solidFill>
                  <a:srgbClr val="0F172A"/>
                </a:solidFill>
              </a:defRPr>
            </a:pPr>
            <a:r>
              <a:t>• Context: Nền tảng tự động hóa sản xuất nội dung quy mô lớn cho Web Platform.</a:t>
            </a:r>
          </a:p>
          <a:p>
            <a:pPr>
              <a:defRPr sz="850">
                <a:solidFill>
                  <a:srgbClr val="0F172A"/>
                </a:solidFill>
              </a:defRPr>
            </a:pPr>
            <a:r>
              <a:t>• Mục tiêu: Mở rộng độ phủ SEO/GEO phục vụ mục tiêu Tháng 12/2026 đạt 4M PVs.</a:t>
            </a:r>
          </a:p>
        </p:txBody>
      </p:sp>
      <p:sp>
        <p:nvSpPr>
          <p:cNvPr id="6" name="Rounded Rectangle 5"/>
          <p:cNvSpPr/>
          <p:nvPr/>
        </p:nvSpPr>
        <p:spPr>
          <a:xfrm>
            <a:off x="3337560" y="960120"/>
            <a:ext cx="2651760" cy="5394960"/>
          </a:xfrm>
          <a:prstGeom prst="roundRect">
            <a:avLst/>
          </a:prstGeom>
          <a:solidFill>
            <a:srgbClr val="F8FAFC"/>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137160" rIns="137160" tIns="182880"/>
          <a:lstStyle/>
          <a:p>
            <a:pPr algn="ctr">
              <a:defRPr sz="1000" b="1">
                <a:solidFill>
                  <a:srgbClr val="0F172A"/>
                </a:solidFill>
              </a:defRPr>
            </a:pPr>
            <a:r>
              <a:t>PROJECT STATEMENT</a:t>
            </a:r>
          </a:p>
          <a:p>
            <a:pPr>
              <a:defRPr sz="800">
                <a:solidFill>
                  <a:srgbClr val="E2E8F0"/>
                </a:solidFill>
              </a:defRPr>
            </a:pPr>
            <a:r>
              <a:t>———————————————</a:t>
            </a:r>
          </a:p>
          <a:p>
            <a:pPr>
              <a:defRPr sz="850">
                <a:solidFill>
                  <a:srgbClr val="0F172A"/>
                </a:solidFill>
              </a:defRPr>
            </a:pPr>
            <a:r>
              <a:t>• Nhu cầu phủ hàng trăm từ khóa ngách địa phương (Location Pages) với chi phí tối thiểu.</a:t>
            </a:r>
          </a:p>
          <a:p>
            <a:pPr>
              <a:defRPr sz="850">
                <a:solidFill>
                  <a:srgbClr val="0F172A"/>
                </a:solidFill>
              </a:defRPr>
            </a:pPr>
            <a:r>
              <a:t>• Tốc độ viết bài thủ công trước đây (1-2 ngày/bài, chi phí 250K-500K/bài) không đủ nguồn lực mở rộng.</a:t>
            </a:r>
          </a:p>
        </p:txBody>
      </p:sp>
      <p:sp>
        <p:nvSpPr>
          <p:cNvPr id="7" name="Rounded Rectangle 6"/>
          <p:cNvSpPr/>
          <p:nvPr/>
        </p:nvSpPr>
        <p:spPr>
          <a:xfrm>
            <a:off x="6126479" y="960120"/>
            <a:ext cx="2651760" cy="5394960"/>
          </a:xfrm>
          <a:prstGeom prst="roundRect">
            <a:avLst/>
          </a:prstGeom>
          <a:solidFill>
            <a:srgbClr val="FFFFFF"/>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137160" rIns="137160" tIns="182880"/>
          <a:lstStyle/>
          <a:p>
            <a:pPr algn="ctr">
              <a:defRPr sz="1000" b="1">
                <a:solidFill>
                  <a:srgbClr val="16A34A"/>
                </a:solidFill>
              </a:defRPr>
            </a:pPr>
            <a:r>
              <a:t>KEY RESULTS (08/2026)</a:t>
            </a:r>
          </a:p>
          <a:p>
            <a:pPr>
              <a:defRPr sz="800">
                <a:solidFill>
                  <a:srgbClr val="E2E8F0"/>
                </a:solidFill>
              </a:defRPr>
            </a:pPr>
            <a:r>
              <a:t>———————————————</a:t>
            </a:r>
          </a:p>
          <a:p>
            <a:pPr>
              <a:defRPr sz="850">
                <a:solidFill>
                  <a:srgbClr val="0F172A"/>
                </a:solidFill>
              </a:defRPr>
            </a:pPr>
            <a:r>
              <a:t>• Tốc độ sản xuất: Đạt 4.5 phút / bài viết hoàn chỉnh.</a:t>
            </a:r>
          </a:p>
          <a:p>
            <a:pPr>
              <a:defRPr sz="850">
                <a:solidFill>
                  <a:srgbClr val="0F172A"/>
                </a:solidFill>
              </a:defRPr>
            </a:pPr>
            <a:r>
              <a:t>• Chi phí: Giảm 90% (chỉ 12.000 đ/bài).</a:t>
            </a:r>
          </a:p>
          <a:p>
            <a:pPr>
              <a:defRPr sz="850">
                <a:solidFill>
                  <a:srgbClr val="0F172A"/>
                </a:solidFill>
              </a:defRPr>
            </a:pPr>
            <a:r>
              <a:t>• Độ chính xác: Điểm SEO/GEO Score đạt &gt;= 85/100 điểm.</a:t>
            </a:r>
          </a:p>
          <a:p>
            <a:pPr>
              <a:defRPr sz="850">
                <a:solidFill>
                  <a:srgbClr val="0F172A"/>
                </a:solidFill>
              </a:defRPr>
            </a:pPr>
            <a:r>
              <a:t>• Đã xuất bản: 150+ Location Pages cho Phạt Nguội &amp; CIC.</a:t>
            </a:r>
          </a:p>
        </p:txBody>
      </p:sp>
      <p:sp>
        <p:nvSpPr>
          <p:cNvPr id="8" name="Rounded Rectangle 7"/>
          <p:cNvSpPr/>
          <p:nvPr/>
        </p:nvSpPr>
        <p:spPr>
          <a:xfrm>
            <a:off x="8915399" y="960120"/>
            <a:ext cx="2651760" cy="5394960"/>
          </a:xfrm>
          <a:prstGeom prst="roundRect">
            <a:avLst/>
          </a:prstGeom>
          <a:solidFill>
            <a:srgbClr val="F8FAFC"/>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137160" rIns="137160" tIns="182880"/>
          <a:lstStyle/>
          <a:p>
            <a:pPr algn="ctr">
              <a:defRPr sz="1000" b="1">
                <a:solidFill>
                  <a:srgbClr val="B0006D"/>
                </a:solidFill>
              </a:defRPr>
            </a:pPr>
            <a:r>
              <a:t>NEXT STEPS (09/2026)</a:t>
            </a:r>
          </a:p>
          <a:p>
            <a:pPr>
              <a:defRPr sz="800">
                <a:solidFill>
                  <a:srgbClr val="E2E8F0"/>
                </a:solidFill>
              </a:defRPr>
            </a:pPr>
            <a:r>
              <a:t>———————————————</a:t>
            </a:r>
          </a:p>
          <a:p>
            <a:pPr>
              <a:defRPr sz="850">
                <a:solidFill>
                  <a:srgbClr val="0F172A"/>
                </a:solidFill>
              </a:defRPr>
            </a:pPr>
            <a:r>
              <a:t>• [1] Tích hợp Guardrails tự động chấm điểm SEO/GEO trước khi publish.</a:t>
            </a:r>
          </a:p>
          <a:p>
            <a:pPr>
              <a:defRPr sz="850">
                <a:solidFill>
                  <a:srgbClr val="0F172A"/>
                </a:solidFill>
              </a:defRPr>
            </a:pPr>
            <a:r>
              <a:t>• [2] Xuất bản 30+ bài cẩm nang Tân Sinh Viên.</a:t>
            </a:r>
          </a:p>
          <a:p>
            <a:pPr>
              <a:defRPr sz="850">
                <a:solidFill>
                  <a:srgbClr val="0F172A"/>
                </a:solidFill>
              </a:defRPr>
            </a:pPr>
            <a:r>
              <a:t>• [3] Mở rộng kịch bản Chatbot AI giải đáp vé phim &amp; tính lãi vay.</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182880"/>
            <a:ext cx="7772400" cy="228600"/>
          </a:xfrm>
          <a:prstGeom prst="rect">
            <a:avLst/>
          </a:prstGeom>
          <a:noFill/>
        </p:spPr>
        <p:txBody>
          <a:bodyPr wrap="none">
            <a:spAutoFit/>
          </a:bodyPr>
          <a:lstStyle/>
          <a:p>
            <a:pPr>
              <a:defRPr sz="900" b="1">
                <a:solidFill>
                  <a:srgbClr val="B0006D"/>
                </a:solidFill>
              </a:defRPr>
            </a:pPr>
            <a:r>
              <a:t>STRATEGIC DISCUSSION · MOSPARK PLATFORM</a:t>
            </a:r>
          </a:p>
        </p:txBody>
      </p:sp>
      <p:sp>
        <p:nvSpPr>
          <p:cNvPr id="3" name="Rounded Rectangle 2"/>
          <p:cNvSpPr/>
          <p:nvPr/>
        </p:nvSpPr>
        <p:spPr>
          <a:xfrm>
            <a:off x="9692640" y="182880"/>
            <a:ext cx="1950415" cy="320040"/>
          </a:xfrm>
          <a:prstGeom prst="roundRect">
            <a:avLst/>
          </a:prstGeom>
          <a:solidFill>
            <a:srgbClr val="D9770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900" b="1">
                <a:solidFill>
                  <a:srgbClr val="FFFFFF"/>
                </a:solidFill>
              </a:defRPr>
            </a:pPr>
            <a:r>
              <a:t>[D] DISCUSSION</a:t>
            </a:r>
          </a:p>
        </p:txBody>
      </p:sp>
      <p:sp>
        <p:nvSpPr>
          <p:cNvPr id="4" name="TextBox 3"/>
          <p:cNvSpPr txBox="1"/>
          <p:nvPr/>
        </p:nvSpPr>
        <p:spPr>
          <a:xfrm>
            <a:off x="548640" y="384048"/>
            <a:ext cx="8961120" cy="411480"/>
          </a:xfrm>
          <a:prstGeom prst="rect">
            <a:avLst/>
          </a:prstGeom>
          <a:noFill/>
        </p:spPr>
        <p:txBody>
          <a:bodyPr wrap="none">
            <a:spAutoFit/>
          </a:bodyPr>
          <a:lstStyle/>
          <a:p>
            <a:pPr>
              <a:defRPr sz="1700" b="1">
                <a:solidFill>
                  <a:srgbClr val="0F172A"/>
                </a:solidFill>
              </a:defRPr>
            </a:pPr>
            <a:r>
              <a:t>DISCUSSION: HẠN NGẠCH SẢN XUẤT GENAI &amp; KIỂM DUYỆT GUARDRAILS</a:t>
            </a:r>
          </a:p>
        </p:txBody>
      </p:sp>
      <p:sp>
        <p:nvSpPr>
          <p:cNvPr id="5" name="Rounded Rectangle 4"/>
          <p:cNvSpPr/>
          <p:nvPr/>
        </p:nvSpPr>
        <p:spPr>
          <a:xfrm>
            <a:off x="548640" y="960120"/>
            <a:ext cx="3611880" cy="5394960"/>
          </a:xfrm>
          <a:prstGeom prst="roundRect">
            <a:avLst/>
          </a:prstGeom>
          <a:solidFill>
            <a:srgbClr val="FFFFFF"/>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182880" rIns="182880" tIns="182880" bIns="182880"/>
          <a:lstStyle/>
          <a:p>
            <a:pPr algn="ctr">
              <a:defRPr sz="1000" b="1">
                <a:solidFill>
                  <a:srgbClr val="B0006D"/>
                </a:solidFill>
              </a:defRPr>
            </a:pPr>
            <a:r>
              <a:t>1. PROBLEM STATEMENT</a:t>
            </a:r>
          </a:p>
          <a:p>
            <a:pPr>
              <a:defRPr sz="800">
                <a:solidFill>
                  <a:srgbClr val="E2E8F0"/>
                </a:solidFill>
              </a:defRPr>
            </a:pPr>
            <a:r>
              <a:t>————————————————————</a:t>
            </a:r>
          </a:p>
          <a:p>
            <a:pPr>
              <a:defRPr sz="850">
                <a:solidFill>
                  <a:srgbClr val="0F172A"/>
                </a:solidFill>
              </a:defRPr>
            </a:pPr>
            <a:r>
              <a:t>• Quyết định cơ chế kiểm soát chất lượng nội dung GenAI khi nâng quy mô lên 150+ bài/tháng: Áp dụng kiểm duyệt tự động qua Guardrails để xuất bản trực tiếp hay duy trì kiểm duyệt thủ công từng bài?</a:t>
            </a:r>
          </a:p>
          <a:p>
            <a:pPr>
              <a:defRPr sz="850">
                <a:solidFill>
                  <a:srgbClr val="0F172A"/>
                </a:solidFill>
              </a:defRPr>
            </a:pPr>
            <a:r>
              <a:t>• Tháo gỡ nút thắt vận hành để bảo đảm tiến độ sản xuất phục vụ chiến lược Financial Authority.</a:t>
            </a:r>
          </a:p>
          <a:p>
            <a:pPr>
              <a:defRPr sz="850">
                <a:solidFill>
                  <a:srgbClr val="0F172A"/>
                </a:solidFill>
              </a:defRPr>
            </a:pPr>
            <a:r>
              <a:t>• Phê duyệt hạn mức ngân sách sản xuất nội dung tự động trong 4 tháng cuối năm.</a:t>
            </a:r>
          </a:p>
        </p:txBody>
      </p:sp>
      <p:sp>
        <p:nvSpPr>
          <p:cNvPr id="6" name="Rounded Rectangle 5"/>
          <p:cNvSpPr/>
          <p:nvPr/>
        </p:nvSpPr>
        <p:spPr>
          <a:xfrm>
            <a:off x="4251960" y="960120"/>
            <a:ext cx="3611880" cy="5394960"/>
          </a:xfrm>
          <a:prstGeom prst="roundRect">
            <a:avLst/>
          </a:prstGeom>
          <a:solidFill>
            <a:srgbClr val="F8FAFC"/>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182880" rIns="182880" tIns="182880" bIns="182880"/>
          <a:lstStyle/>
          <a:p>
            <a:pPr algn="ctr">
              <a:defRPr sz="1000" b="1">
                <a:solidFill>
                  <a:srgbClr val="0F172A"/>
                </a:solidFill>
              </a:defRPr>
            </a:pPr>
            <a:r>
              <a:t>2. STATUS / ISSUES &amp; DATA POINTS</a:t>
            </a:r>
          </a:p>
          <a:p>
            <a:pPr>
              <a:defRPr sz="800">
                <a:solidFill>
                  <a:srgbClr val="E2E8F0"/>
                </a:solidFill>
              </a:defRPr>
            </a:pPr>
            <a:r>
              <a:t>————————————————————</a:t>
            </a:r>
          </a:p>
          <a:p>
            <a:pPr>
              <a:defRPr sz="850">
                <a:solidFill>
                  <a:srgbClr val="0F172A"/>
                </a:solidFill>
              </a:defRPr>
            </a:pPr>
            <a:r>
              <a:t>• Data Point: MoSpark GenAI đạt hiệu suất 4.5 phút/bài viết với chi phí 12.000 đ/bài (tiết kiệm 90% chi phí so với viết thủ công).</a:t>
            </a:r>
          </a:p>
          <a:p>
            <a:pPr>
              <a:defRPr sz="850">
                <a:solidFill>
                  <a:srgbClr val="0F172A"/>
                </a:solidFill>
              </a:defRPr>
            </a:pPr>
            <a:r>
              <a:t>• Data Point: Đã xuất bản 150+ Location Pages cho Phạt Nguội và CIC đạt điểm SEO/GEO Score &gt;= 85/100 điểm.</a:t>
            </a:r>
          </a:p>
          <a:p>
            <a:pPr>
              <a:defRPr sz="850">
                <a:solidFill>
                  <a:srgbClr val="0F172A"/>
                </a:solidFill>
              </a:defRPr>
            </a:pPr>
            <a:r>
              <a:t>• Issue: Quy trình duyệt bài thủ công qua con người hiện tại đang là điểm nghẽn lớn nhất, chỉ đáp ứng được tối đa 30 bài/tháng.</a:t>
            </a:r>
          </a:p>
        </p:txBody>
      </p:sp>
      <p:sp>
        <p:nvSpPr>
          <p:cNvPr id="7" name="Rounded Rectangle 6"/>
          <p:cNvSpPr/>
          <p:nvPr/>
        </p:nvSpPr>
        <p:spPr>
          <a:xfrm>
            <a:off x="7955279" y="960120"/>
            <a:ext cx="3611880" cy="5394960"/>
          </a:xfrm>
          <a:prstGeom prst="roundRect">
            <a:avLst/>
          </a:prstGeom>
          <a:solidFill>
            <a:srgbClr val="FFFFFF"/>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182880" rIns="182880" tIns="182880" bIns="182880"/>
          <a:lstStyle/>
          <a:p>
            <a:pPr algn="ctr">
              <a:defRPr sz="1000" b="1">
                <a:solidFill>
                  <a:srgbClr val="16A34A"/>
                </a:solidFill>
              </a:defRPr>
            </a:pPr>
            <a:r>
              <a:t>3. SOLUTIONS &amp; RECOMMENDATIONS</a:t>
            </a:r>
          </a:p>
          <a:p>
            <a:pPr>
              <a:defRPr sz="800">
                <a:solidFill>
                  <a:srgbClr val="E2E8F0"/>
                </a:solidFill>
              </a:defRPr>
            </a:pPr>
            <a:r>
              <a:t>————————————————————</a:t>
            </a:r>
          </a:p>
          <a:p>
            <a:pPr>
              <a:defRPr sz="850">
                <a:solidFill>
                  <a:srgbClr val="0F172A"/>
                </a:solidFill>
              </a:defRPr>
            </a:pPr>
            <a:r>
              <a:t>• Ban Giám Đốc phê duyệt cơ chế: Bài viết vượt qua hệ thống Guardrails AI (SEO/GEO Score &gt;= 85/100 điểm) được phép tự động publish lên Web.</a:t>
            </a:r>
          </a:p>
          <a:p>
            <a:pPr>
              <a:defRPr sz="850">
                <a:solidFill>
                  <a:srgbClr val="0F172A"/>
                </a:solidFill>
              </a:defRPr>
            </a:pPr>
            <a:r>
              <a:t>• Đội ngũ Content chuyên môn chuyển từ khâu duyệt trước sang khâu hậu kiểm ngẫu nhiên 10% bài viết định kỳ hàng tuần.</a:t>
            </a:r>
          </a:p>
          <a:p>
            <a:pPr>
              <a:defRPr sz="850">
                <a:solidFill>
                  <a:srgbClr val="0F172A"/>
                </a:solidFill>
              </a:defRPr>
            </a:pPr>
            <a:r>
              <a:t>• Phê duyệt hạn mức sản xuất 150+ bài/tháng trong Tháng 9 để dồn lực phủ mạng lưới bài viết tài chính và trường học.</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B0006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371600" y="2377440"/>
            <a:ext cx="9448495" cy="2011680"/>
          </a:xfrm>
          <a:prstGeom prst="rect">
            <a:avLst/>
          </a:prstGeom>
          <a:noFill/>
        </p:spPr>
        <p:txBody>
          <a:bodyPr wrap="square">
            <a:spAutoFit/>
          </a:bodyPr>
          <a:lstStyle/>
          <a:p>
            <a:pPr algn="ctr">
              <a:defRPr sz="4000" b="1">
                <a:solidFill>
                  <a:srgbClr val="FFFFFF"/>
                </a:solidFill>
              </a:defRPr>
            </a:pPr>
            <a:r>
              <a:t>THANK YOU — Q&amp;A / DISCUSSION</a:t>
            </a:r>
          </a:p>
          <a:p>
            <a:pPr algn="ctr">
              <a:defRPr sz="2000">
                <a:solidFill>
                  <a:srgbClr val="FED7E2"/>
                </a:solidFill>
              </a:defRPr>
            </a:pPr>
            <a:r>
              <a:t>Web Platform Team — Growth Platform Division</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