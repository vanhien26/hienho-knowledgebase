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8B0055"/>
        </a:solidFill>
        <a:effectLst/>
      </p:bgPr>
    </p:bg>
    <p:spTree>
      <p:nvGrpSpPr>
        <p:cNvPr id="1" name=""/>
        <p:cNvGrpSpPr/>
        <p:nvPr/>
      </p:nvGrpSpPr>
      <p:grpSpPr/>
      <p:sp>
        <p:nvSpPr>
          <p:cNvPr id="2" name="TextBox 1"/>
          <p:cNvSpPr txBox="1"/>
          <p:nvPr/>
        </p:nvSpPr>
        <p:spPr>
          <a:xfrm>
            <a:off x="0" y="1371600"/>
            <a:ext cx="12191695" cy="365760"/>
          </a:xfrm>
          <a:prstGeom prst="rect">
            <a:avLst/>
          </a:prstGeom>
          <a:noFill/>
        </p:spPr>
        <p:txBody>
          <a:bodyPr wrap="square">
            <a:spAutoFit/>
          </a:bodyPr>
          <a:lstStyle/>
          <a:p>
            <a:pPr algn="ctr">
              <a:defRPr sz="1300" b="1">
                <a:solidFill>
                  <a:srgbClr val="FFCCE5"/>
                </a:solidFill>
                <a:latin typeface="Calibri"/>
              </a:defRPr>
            </a:pPr>
            <a:r>
              <a:t>MOMO  ·  GROWTH PLATFORM DIVISION</a:t>
            </a:r>
          </a:p>
        </p:txBody>
      </p:sp>
      <p:sp>
        <p:nvSpPr>
          <p:cNvPr id="3" name="TextBox 2"/>
          <p:cNvSpPr txBox="1"/>
          <p:nvPr/>
        </p:nvSpPr>
        <p:spPr>
          <a:xfrm>
            <a:off x="1371600" y="2286000"/>
            <a:ext cx="9418320" cy="1280160"/>
          </a:xfrm>
          <a:prstGeom prst="rect">
            <a:avLst/>
          </a:prstGeom>
          <a:noFill/>
        </p:spPr>
        <p:txBody>
          <a:bodyPr wrap="square">
            <a:spAutoFit/>
          </a:bodyPr>
          <a:lstStyle/>
          <a:p>
            <a:pPr algn="ctr">
              <a:defRPr sz="3600" b="1">
                <a:solidFill>
                  <a:srgbClr val="FFFFFF"/>
                </a:solidFill>
                <a:latin typeface="Calibri"/>
              </a:defRPr>
            </a:pPr>
            <a:r>
              <a:t>Đề Xuất Chiến Lược PLG</a:t>
            </a:r>
            <a:br/>
            <a:r>
              <a:t>Trên Nền Tảng MoSpark</a:t>
            </a:r>
          </a:p>
        </p:txBody>
      </p:sp>
      <p:sp>
        <p:nvSpPr>
          <p:cNvPr id="4" name="TextBox 3"/>
          <p:cNvSpPr txBox="1"/>
          <p:nvPr/>
        </p:nvSpPr>
        <p:spPr>
          <a:xfrm>
            <a:off x="1828800" y="3749039"/>
            <a:ext cx="8503920" cy="457200"/>
          </a:xfrm>
          <a:prstGeom prst="rect">
            <a:avLst/>
          </a:prstGeom>
          <a:noFill/>
        </p:spPr>
        <p:txBody>
          <a:bodyPr wrap="square">
            <a:spAutoFit/>
          </a:bodyPr>
          <a:lstStyle/>
          <a:p>
            <a:pPr algn="ctr">
              <a:defRPr sz="1700" b="0">
                <a:solidFill>
                  <a:srgbClr val="FFCCE5"/>
                </a:solidFill>
                <a:latin typeface="Calibri"/>
              </a:defRPr>
            </a:pPr>
            <a:r>
              <a:t>Pilot: Chiến dịch Tra cứu Phạt Nguội</a:t>
            </a:r>
          </a:p>
        </p:txBody>
      </p:sp>
      <p:sp>
        <p:nvSpPr>
          <p:cNvPr id="5" name="Rectangle 4"/>
          <p:cNvSpPr/>
          <p:nvPr/>
        </p:nvSpPr>
        <p:spPr>
          <a:xfrm>
            <a:off x="5486400" y="4572000"/>
            <a:ext cx="118872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5029200"/>
            <a:ext cx="8503920" cy="365760"/>
          </a:xfrm>
          <a:prstGeom prst="rect">
            <a:avLst/>
          </a:prstGeom>
          <a:noFill/>
        </p:spPr>
        <p:txBody>
          <a:bodyPr wrap="square">
            <a:spAutoFit/>
          </a:bodyPr>
          <a:lstStyle/>
          <a:p>
            <a:pPr algn="ctr">
              <a:defRPr sz="1100" b="0">
                <a:solidFill>
                  <a:srgbClr val="BB88A0"/>
                </a:solidFill>
                <a:latin typeface="Calibri"/>
              </a:defRPr>
            </a:pPr>
            <a:r>
              <a:t>Tài liệu đọc hiểu dành cho C-Level và các Head of BUs  ·  Tháng 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01  —  ĐỊNH VỊ</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Web Platform &amp; MoSpark — Vai Trò Nền Tảng</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Vai trò chiến lược của momo.vn ngoài App và hạ tầng MoSpark</a:t>
            </a:r>
          </a:p>
        </p:txBody>
      </p:sp>
      <p:sp>
        <p:nvSpPr>
          <p:cNvPr id="5" name="Rectangle 4"/>
          <p:cNvSpPr/>
          <p:nvPr/>
        </p:nvSpPr>
        <p:spPr>
          <a:xfrm>
            <a:off x="914400" y="173736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9568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920240"/>
            <a:ext cx="4754880" cy="320040"/>
          </a:xfrm>
          <a:prstGeom prst="rect">
            <a:avLst/>
          </a:prstGeom>
          <a:noFill/>
        </p:spPr>
        <p:txBody>
          <a:bodyPr wrap="square">
            <a:spAutoFit/>
          </a:bodyPr>
          <a:lstStyle/>
          <a:p>
            <a:pPr algn="l">
              <a:defRPr sz="1500" b="1">
                <a:solidFill>
                  <a:srgbClr val="111827"/>
                </a:solidFill>
                <a:latin typeface="Calibri"/>
              </a:defRPr>
            </a:pPr>
            <a:r>
              <a:t>Web Platform (momo.vn) — Kênh ngoài App</a:t>
            </a:r>
          </a:p>
        </p:txBody>
      </p:sp>
      <p:sp>
        <p:nvSpPr>
          <p:cNvPr id="8" name="TextBox 7"/>
          <p:cNvSpPr txBox="1"/>
          <p:nvPr/>
        </p:nvSpPr>
        <p:spPr>
          <a:xfrm>
            <a:off x="1097280" y="2331720"/>
            <a:ext cx="457200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100" b="1">
                <a:solidFill>
                  <a:srgbClr val="111827"/>
                </a:solidFill>
                <a:latin typeface="Calibri"/>
              </a:rPr>
              <a:t>Financial Authority: </a:t>
            </a:r>
            <a:r>
              <a:rPr sz="1100">
                <a:solidFill>
                  <a:srgbClr val="374151"/>
                </a:solidFill>
                <a:latin typeface="Calibri"/>
              </a:rPr>
              <a:t>Xây dựng momo.vn thành nguồn thông tin tin cậy hàng đầu ngành tài chính và thanh toán, được cả người dùng lẫn AI Search Engine công nhận.</a:t>
            </a:r>
          </a:p>
          <a:p>
            <a:pPr>
              <a:spcBef>
                <a:spcPts val="200"/>
              </a:spcBef>
              <a:spcAft>
                <a:spcPts val="1000"/>
              </a:spcAft>
            </a:pPr>
            <a:r>
              <a:rPr sz="700">
                <a:solidFill>
                  <a:srgbClr val="A50064"/>
                </a:solidFill>
                <a:latin typeface="Calibri"/>
              </a:rPr>
              <a:t>●  </a:t>
            </a:r>
            <a:r>
              <a:rPr sz="1100" b="1">
                <a:solidFill>
                  <a:srgbClr val="111827"/>
                </a:solidFill>
                <a:latin typeface="Calibri"/>
              </a:rPr>
              <a:t>Growth &amp; MAU: </a:t>
            </a:r>
            <a:r>
              <a:rPr sz="1100">
                <a:solidFill>
                  <a:srgbClr val="374151"/>
                </a:solidFill>
                <a:latin typeface="Calibri"/>
              </a:rPr>
              <a:t>Thu hút traffic tự nhiên ngoài App, tối ưu phễu Web-to-App để mang về người dùng mới và tăng MAU.</a:t>
            </a:r>
          </a:p>
          <a:p>
            <a:pPr>
              <a:spcBef>
                <a:spcPts val="200"/>
              </a:spcBef>
              <a:spcAft>
                <a:spcPts val="1000"/>
              </a:spcAft>
            </a:pPr>
            <a:r>
              <a:rPr sz="700">
                <a:solidFill>
                  <a:srgbClr val="A50064"/>
                </a:solidFill>
                <a:latin typeface="Calibri"/>
              </a:rPr>
              <a:t>●  </a:t>
            </a:r>
            <a:r>
              <a:rPr sz="1100" b="1">
                <a:solidFill>
                  <a:srgbClr val="111827"/>
                </a:solidFill>
                <a:latin typeface="Calibri"/>
              </a:rPr>
              <a:t>Product-Led Growth: </a:t>
            </a:r>
            <a:r>
              <a:rPr sz="1100">
                <a:solidFill>
                  <a:srgbClr val="374151"/>
                </a:solidFill>
                <a:latin typeface="Calibri"/>
              </a:rPr>
              <a:t>Phát triển công cụ tương tác (Tra cứu, Calculator...) giải quyết nhu cầu thực tế, tạo lực kéo tự nhiên.</a:t>
            </a:r>
          </a:p>
        </p:txBody>
      </p:sp>
      <p:sp>
        <p:nvSpPr>
          <p:cNvPr id="9" name="Rectangle 8"/>
          <p:cNvSpPr/>
          <p:nvPr/>
        </p:nvSpPr>
        <p:spPr>
          <a:xfrm>
            <a:off x="6400800" y="19568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8816" y="1920240"/>
            <a:ext cx="4754880" cy="320040"/>
          </a:xfrm>
          <a:prstGeom prst="rect">
            <a:avLst/>
          </a:prstGeom>
          <a:noFill/>
        </p:spPr>
        <p:txBody>
          <a:bodyPr wrap="square">
            <a:spAutoFit/>
          </a:bodyPr>
          <a:lstStyle/>
          <a:p>
            <a:pPr algn="l">
              <a:defRPr sz="1500" b="1">
                <a:solidFill>
                  <a:srgbClr val="111827"/>
                </a:solidFill>
                <a:latin typeface="Calibri"/>
              </a:defRPr>
            </a:pPr>
            <a:r>
              <a:t>MoSpark — Hệ thống tự động hóa Web</a:t>
            </a:r>
          </a:p>
        </p:txBody>
      </p:sp>
      <p:sp>
        <p:nvSpPr>
          <p:cNvPr id="11" name="TextBox 10"/>
          <p:cNvSpPr txBox="1"/>
          <p:nvPr/>
        </p:nvSpPr>
        <p:spPr>
          <a:xfrm>
            <a:off x="6583680" y="2331720"/>
            <a:ext cx="457200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100" b="1">
                <a:solidFill>
                  <a:srgbClr val="111827"/>
                </a:solidFill>
                <a:latin typeface="Calibri"/>
              </a:rPr>
              <a:t>Platform-as-a-Service: </a:t>
            </a:r>
            <a:r>
              <a:rPr sz="1100">
                <a:solidFill>
                  <a:srgbClr val="374151"/>
                </a:solidFill>
                <a:latin typeface="Calibri"/>
              </a:rPr>
              <a:t>Cung cấp hạ tầng và Quality Gate để các Cell Team tự triển khai Mini Web mà không phụ thuộc Dev.</a:t>
            </a:r>
          </a:p>
          <a:p>
            <a:pPr>
              <a:spcBef>
                <a:spcPts val="200"/>
              </a:spcBef>
              <a:spcAft>
                <a:spcPts val="1000"/>
              </a:spcAft>
            </a:pPr>
            <a:r>
              <a:rPr sz="700">
                <a:solidFill>
                  <a:srgbClr val="A50064"/>
                </a:solidFill>
                <a:latin typeface="Calibri"/>
              </a:rPr>
              <a:t>●  </a:t>
            </a:r>
            <a:r>
              <a:rPr sz="1100" b="1">
                <a:solidFill>
                  <a:srgbClr val="111827"/>
                </a:solidFill>
                <a:latin typeface="Calibri"/>
              </a:rPr>
              <a:t>GenAI Content: </a:t>
            </a:r>
            <a:r>
              <a:rPr sz="1100">
                <a:solidFill>
                  <a:srgbClr val="374151"/>
                </a:solidFill>
                <a:latin typeface="Calibri"/>
              </a:rPr>
              <a:t>Tự động sản xuất nội dung quy mô lớn với quy trình kiểm duyệt chất lượng và pháp lý tài chính chặt chẽ.</a:t>
            </a:r>
          </a:p>
          <a:p>
            <a:pPr>
              <a:spcBef>
                <a:spcPts val="200"/>
              </a:spcBef>
              <a:spcAft>
                <a:spcPts val="1000"/>
              </a:spcAft>
            </a:pPr>
            <a:r>
              <a:rPr sz="700">
                <a:solidFill>
                  <a:srgbClr val="A50064"/>
                </a:solidFill>
                <a:latin typeface="Calibri"/>
              </a:rPr>
              <a:t>●  </a:t>
            </a:r>
            <a:r>
              <a:rPr sz="1100" b="1">
                <a:solidFill>
                  <a:srgbClr val="111827"/>
                </a:solidFill>
                <a:latin typeface="Calibri"/>
              </a:rPr>
              <a:t>SEO Inventory: </a:t>
            </a:r>
            <a:r>
              <a:rPr sz="1100">
                <a:solidFill>
                  <a:srgbClr val="374151"/>
                </a:solidFill>
                <a:latin typeface="Calibri"/>
              </a:rPr>
              <a:t>Hệ thống dữ liệu nghiên cứu thị trường, theo dõi và đo lường thị phần tìm kiếm (Share of Voice).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02  —  EXECUTIVE SUMMARY</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Tăng Trưởng Dẫn Dắt Bởi Sản Phẩm (PLG) Trên Nền Tảng MoSpark</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Tóm tắt cốt lõi</a:t>
            </a:r>
          </a:p>
        </p:txBody>
      </p:sp>
      <p:sp>
        <p:nvSpPr>
          <p:cNvPr id="5" name="Rectangle 4"/>
          <p:cNvSpPr/>
          <p:nvPr/>
        </p:nvSpPr>
        <p:spPr>
          <a:xfrm>
            <a:off x="914400" y="173736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1033272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300" b="1">
                <a:solidFill>
                  <a:srgbClr val="111827"/>
                </a:solidFill>
                <a:latin typeface="Calibri"/>
              </a:rPr>
              <a:t>Dịch chuyển chiến lược: </a:t>
            </a:r>
            <a:r>
              <a:rPr sz="1300">
                <a:solidFill>
                  <a:srgbClr val="374151"/>
                </a:solidFill>
                <a:latin typeface="Calibri"/>
              </a:rPr>
              <a:t>Chuyển đổi mô hình Web MoMo.vn từ "Sản xuất bài viết SEO" sang "Cung cấp Tiện ích tương tác (PLG Utilities)" để giải quyết trực tiếp nhu cầu thực tế của người dùng.</a:t>
            </a:r>
          </a:p>
          <a:p>
            <a:pPr>
              <a:spcBef>
                <a:spcPts val="200"/>
              </a:spcBef>
              <a:spcAft>
                <a:spcPts val="1000"/>
              </a:spcAft>
            </a:pPr>
            <a:r>
              <a:rPr sz="700">
                <a:solidFill>
                  <a:srgbClr val="A50064"/>
                </a:solidFill>
                <a:latin typeface="Calibri"/>
              </a:rPr>
              <a:t>●  </a:t>
            </a:r>
            <a:r>
              <a:rPr sz="1300" b="1">
                <a:solidFill>
                  <a:srgbClr val="111827"/>
                </a:solidFill>
                <a:latin typeface="Calibri"/>
              </a:rPr>
              <a:t>Kim chỉ nam: </a:t>
            </a:r>
            <a:r>
              <a:rPr sz="1300">
                <a:solidFill>
                  <a:srgbClr val="374151"/>
                </a:solidFill>
                <a:latin typeface="Calibri"/>
              </a:rPr>
              <a:t>Sử dụng hệ thống dữ liệu SEO Inventory để định lượng thị phần tìm kiếm (Share of Voice) và định hướng đầu tư Use Case có nhu cầu thực tế cao.</a:t>
            </a:r>
          </a:p>
          <a:p>
            <a:pPr>
              <a:spcBef>
                <a:spcPts val="200"/>
              </a:spcBef>
              <a:spcAft>
                <a:spcPts val="1000"/>
              </a:spcAft>
            </a:pPr>
            <a:r>
              <a:rPr sz="700">
                <a:solidFill>
                  <a:srgbClr val="A50064"/>
                </a:solidFill>
                <a:latin typeface="Calibri"/>
              </a:rPr>
              <a:t>●  </a:t>
            </a:r>
            <a:r>
              <a:rPr sz="1300" b="1">
                <a:solidFill>
                  <a:srgbClr val="111827"/>
                </a:solidFill>
                <a:latin typeface="Calibri"/>
              </a:rPr>
              <a:t>Dự án Pilot: </a:t>
            </a:r>
            <a:r>
              <a:rPr sz="1300">
                <a:solidFill>
                  <a:srgbClr val="374151"/>
                </a:solidFill>
                <a:latin typeface="Calibri"/>
              </a:rPr>
              <a:t>Chiến dịch Phạt Nguội chứng minh tính khả thi và hiệu năng bứt phá của mô hình PLG thông qua 4 bước:</a:t>
            </a:r>
          </a:p>
        </p:txBody>
      </p:sp>
      <p:graphicFrame>
        <p:nvGraphicFramePr>
          <p:cNvPr id="7" name="Table 6"/>
          <p:cNvGraphicFramePr>
            <a:graphicFrameLocks noGrp="1"/>
          </p:cNvGraphicFramePr>
          <p:nvPr/>
        </p:nvGraphicFramePr>
        <p:xfrm>
          <a:off x="1371600" y="4389120"/>
          <a:ext cx="9784080" cy="640080"/>
        </p:xfrm>
        <a:graphic>
          <a:graphicData uri="http://schemas.openxmlformats.org/drawingml/2006/table">
            <a:tbl>
              <a:tblPr firstRow="1" bandRow="1">
                <a:tableStyleId>{5C22544A-7EE6-4342-B048-85BDC9FD1C3A}</a:tableStyleId>
              </a:tblPr>
              <a:tblGrid>
                <a:gridCol w="2103120"/>
                <a:gridCol w="457200"/>
                <a:gridCol w="2103120"/>
                <a:gridCol w="457200"/>
                <a:gridCol w="2103120"/>
                <a:gridCol w="457200"/>
                <a:gridCol w="2103120"/>
              </a:tblGrid>
              <a:tr h="640080">
                <a:tc>
                  <a:txBody>
                    <a:bodyPr/>
                    <a:lstStyle/>
                    <a:p>
                      <a:pPr algn="ctr">
                        <a:defRPr sz="1100" b="1">
                          <a:solidFill>
                            <a:srgbClr val="A50064"/>
                          </a:solidFill>
                          <a:latin typeface="Calibri"/>
                        </a:defRPr>
                      </a:pPr>
                      <a:r>
                        <a:t>SEO Inventory</a:t>
                      </a:r>
                    </a:p>
                    <a:p>
                      <a:r>
                        <a:t>(Định vị)</a:t>
                      </a:r>
                    </a:p>
                  </a:txBody>
                  <a:tcPr anchor="ctr">
                    <a:solidFill>
                      <a:srgbClr val="FFFFFF"/>
                    </a:solidFill>
                  </a:tcPr>
                </a:tc>
                <a:tc>
                  <a:txBody>
                    <a:bodyPr/>
                    <a:lstStyle/>
                    <a:p>
                      <a:pPr algn="ctr">
                        <a:defRPr sz="1800" b="0">
                          <a:solidFill>
                            <a:srgbClr val="6B7280"/>
                          </a:solidFill>
                          <a:latin typeface="Calibri"/>
                        </a:defRPr>
                      </a:pPr>
                      <a:r>
                        <a:t>→</a:t>
                      </a:r>
                    </a:p>
                  </a:txBody>
                  <a:tcPr anchor="ctr">
                    <a:noFill/>
                  </a:tcPr>
                </a:tc>
                <a:tc>
                  <a:txBody>
                    <a:bodyPr/>
                    <a:lstStyle/>
                    <a:p>
                      <a:pPr algn="ctr">
                        <a:defRPr sz="1100" b="1">
                          <a:solidFill>
                            <a:srgbClr val="A50064"/>
                          </a:solidFill>
                          <a:latin typeface="Calibri"/>
                        </a:defRPr>
                      </a:pPr>
                      <a:r>
                        <a:t>Vibe Code</a:t>
                      </a:r>
                    </a:p>
                    <a:p>
                      <a:r>
                        <a:t>(Phát triển)</a:t>
                      </a:r>
                    </a:p>
                  </a:txBody>
                  <a:tcPr anchor="ctr">
                    <a:solidFill>
                      <a:srgbClr val="FFFFFF"/>
                    </a:solidFill>
                  </a:tcPr>
                </a:tc>
                <a:tc>
                  <a:txBody>
                    <a:bodyPr/>
                    <a:lstStyle/>
                    <a:p>
                      <a:pPr algn="ctr">
                        <a:defRPr sz="1800" b="0">
                          <a:solidFill>
                            <a:srgbClr val="6B7280"/>
                          </a:solidFill>
                          <a:latin typeface="Calibri"/>
                        </a:defRPr>
                      </a:pPr>
                      <a:r>
                        <a:t>→</a:t>
                      </a:r>
                    </a:p>
                  </a:txBody>
                  <a:tcPr anchor="ctr">
                    <a:noFill/>
                  </a:tcPr>
                </a:tc>
                <a:tc>
                  <a:txBody>
                    <a:bodyPr/>
                    <a:lstStyle/>
                    <a:p>
                      <a:pPr algn="ctr">
                        <a:defRPr sz="1100" b="1">
                          <a:solidFill>
                            <a:srgbClr val="A50064"/>
                          </a:solidFill>
                          <a:latin typeface="Calibri"/>
                        </a:defRPr>
                      </a:pPr>
                      <a:r>
                        <a:t>PLG Project</a:t>
                      </a:r>
                    </a:p>
                    <a:p>
                      <a:r>
                        <a:t>(Quản trị)</a:t>
                      </a:r>
                    </a:p>
                  </a:txBody>
                  <a:tcPr anchor="ctr">
                    <a:solidFill>
                      <a:srgbClr val="FFFFFF"/>
                    </a:solidFill>
                  </a:tcPr>
                </a:tc>
                <a:tc>
                  <a:txBody>
                    <a:bodyPr/>
                    <a:lstStyle/>
                    <a:p>
                      <a:pPr algn="ctr">
                        <a:defRPr sz="1800" b="0">
                          <a:solidFill>
                            <a:srgbClr val="6B7280"/>
                          </a:solidFill>
                          <a:latin typeface="Calibri"/>
                        </a:defRPr>
                      </a:pPr>
                      <a:r>
                        <a:t>→</a:t>
                      </a:r>
                    </a:p>
                  </a:txBody>
                  <a:tcPr anchor="ctr">
                    <a:noFill/>
                  </a:tcPr>
                </a:tc>
                <a:tc>
                  <a:txBody>
                    <a:bodyPr/>
                    <a:lstStyle/>
                    <a:p>
                      <a:pPr algn="ctr">
                        <a:defRPr sz="1100" b="1">
                          <a:solidFill>
                            <a:srgbClr val="FFFFFF"/>
                          </a:solidFill>
                          <a:latin typeface="Calibri"/>
                        </a:defRPr>
                      </a:pPr>
                      <a:r>
                        <a:t>Performance</a:t>
                      </a:r>
                    </a:p>
                    <a:p>
                      <a:r>
                        <a:t>(Hiệu quả)</a:t>
                      </a:r>
                    </a:p>
                  </a:txBody>
                  <a:tcPr anchor="ctr">
                    <a:solidFill>
                      <a:srgbClr val="A5006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03  —  BỐI CẢNH</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Sự Dịch Chuyển Của Search &amp; Nút Thắt Web Platform</a:t>
            </a:r>
          </a:p>
        </p:txBody>
      </p:sp>
      <p:sp>
        <p:nvSpPr>
          <p:cNvPr id="4" name="Rectangle 3"/>
          <p:cNvSpPr/>
          <p:nvPr/>
        </p:nvSpPr>
        <p:spPr>
          <a:xfrm>
            <a:off x="914400" y="168249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645920"/>
            <a:ext cx="4572000" cy="320040"/>
          </a:xfrm>
          <a:prstGeom prst="rect">
            <a:avLst/>
          </a:prstGeom>
          <a:noFill/>
        </p:spPr>
        <p:txBody>
          <a:bodyPr wrap="square">
            <a:spAutoFit/>
          </a:bodyPr>
          <a:lstStyle/>
          <a:p>
            <a:pPr algn="l">
              <a:defRPr sz="1500" b="1">
                <a:solidFill>
                  <a:srgbClr val="111827"/>
                </a:solidFill>
                <a:latin typeface="Calibri"/>
              </a:defRPr>
            </a:pPr>
            <a:r>
              <a:t>Sự dịch chuyển hành vi tìm kiếm</a:t>
            </a:r>
          </a:p>
        </p:txBody>
      </p:sp>
      <p:sp>
        <p:nvSpPr>
          <p:cNvPr id="6" name="TextBox 5"/>
          <p:cNvSpPr txBox="1"/>
          <p:nvPr/>
        </p:nvSpPr>
        <p:spPr>
          <a:xfrm>
            <a:off x="1097280" y="201168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a:solidFill>
                  <a:srgbClr val="374151"/>
                </a:solidFill>
                <a:latin typeface="Calibri"/>
              </a:rPr>
              <a:t>Lượng tìm kiếm truyền thống trên Google sụt giảm ~20% YoY, nhường chỗ cho các nền tảng AI Search (ChatGPT, Perplexity).</a:t>
            </a:r>
          </a:p>
          <a:p>
            <a:pPr>
              <a:spcBef>
                <a:spcPts val="200"/>
              </a:spcBef>
              <a:spcAft>
                <a:spcPts val="1000"/>
              </a:spcAft>
            </a:pPr>
            <a:r>
              <a:rPr sz="700">
                <a:solidFill>
                  <a:srgbClr val="A50064"/>
                </a:solidFill>
                <a:latin typeface="Calibri"/>
              </a:rPr>
              <a:t>●  </a:t>
            </a:r>
            <a:r>
              <a:rPr sz="1200">
                <a:solidFill>
                  <a:srgbClr val="374151"/>
                </a:solidFill>
                <a:latin typeface="Calibri"/>
              </a:rPr>
              <a:t>Người dùng có xu hướng tìm kiếm giải pháp tức thời thay vì đọc nội dung dài.</a:t>
            </a:r>
          </a:p>
        </p:txBody>
      </p:sp>
      <p:sp>
        <p:nvSpPr>
          <p:cNvPr id="7" name="Rectangle 6"/>
          <p:cNvSpPr/>
          <p:nvPr/>
        </p:nvSpPr>
        <p:spPr>
          <a:xfrm>
            <a:off x="6400800" y="168249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8816" y="1645920"/>
            <a:ext cx="4572000" cy="320040"/>
          </a:xfrm>
          <a:prstGeom prst="rect">
            <a:avLst/>
          </a:prstGeom>
          <a:noFill/>
        </p:spPr>
        <p:txBody>
          <a:bodyPr wrap="square">
            <a:spAutoFit/>
          </a:bodyPr>
          <a:lstStyle/>
          <a:p>
            <a:pPr algn="l">
              <a:defRPr sz="1500" b="1">
                <a:solidFill>
                  <a:srgbClr val="111827"/>
                </a:solidFill>
                <a:latin typeface="Calibri"/>
              </a:defRPr>
            </a:pPr>
            <a:r>
              <a:t>Nút thắt của Web MoMo hiện tại</a:t>
            </a:r>
          </a:p>
        </p:txBody>
      </p:sp>
      <p:sp>
        <p:nvSpPr>
          <p:cNvPr id="9" name="TextBox 8"/>
          <p:cNvSpPr txBox="1"/>
          <p:nvPr/>
        </p:nvSpPr>
        <p:spPr>
          <a:xfrm>
            <a:off x="6583680" y="201168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a:solidFill>
                  <a:srgbClr val="374151"/>
                </a:solidFill>
                <a:latin typeface="Calibri"/>
              </a:rPr>
              <a:t>Lưu lượng truy cập lớn ngoài App (Non-MoMo Users) chưa được tối ưu hóa chuyển đổi Web-to-App do thiếu công cụ giữ chân.</a:t>
            </a:r>
          </a:p>
          <a:p>
            <a:pPr>
              <a:spcBef>
                <a:spcPts val="200"/>
              </a:spcBef>
              <a:spcAft>
                <a:spcPts val="1000"/>
              </a:spcAft>
            </a:pPr>
            <a:r>
              <a:rPr sz="700">
                <a:solidFill>
                  <a:srgbClr val="A50064"/>
                </a:solidFill>
                <a:latin typeface="Calibri"/>
              </a:rPr>
              <a:t>●  </a:t>
            </a:r>
            <a:r>
              <a:rPr sz="1200">
                <a:solidFill>
                  <a:srgbClr val="374151"/>
                </a:solidFill>
                <a:latin typeface="Calibri"/>
              </a:rPr>
              <a:t>Người dùng tìm đến trang Blog, đọc thông tin và rời đi mà không phát sinh hành vi cài đặt App hay liên kết tài khoản.</a:t>
            </a:r>
          </a:p>
        </p:txBody>
      </p:sp>
      <p:sp>
        <p:nvSpPr>
          <p:cNvPr id="10" name="Rectangle 9"/>
          <p:cNvSpPr/>
          <p:nvPr/>
        </p:nvSpPr>
        <p:spPr>
          <a:xfrm>
            <a:off x="914400" y="393192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4114800"/>
            <a:ext cx="10332720" cy="914400"/>
          </a:xfrm>
          <a:prstGeom prst="rect">
            <a:avLst/>
          </a:prstGeom>
          <a:solidFill>
            <a:srgbClr val="F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114800"/>
            <a:ext cx="45720" cy="914400"/>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251960"/>
            <a:ext cx="9784080" cy="640080"/>
          </a:xfrm>
          <a:prstGeom prst="rect">
            <a:avLst/>
          </a:prstGeom>
          <a:noFill/>
        </p:spPr>
        <p:txBody>
          <a:bodyPr wrap="square">
            <a:spAutoFit/>
          </a:bodyPr>
          <a:lstStyle/>
          <a:p>
            <a:pPr algn="l"/>
            <a:r>
              <a:rPr sz="1300" b="1">
                <a:solidFill>
                  <a:srgbClr val="A50064"/>
                </a:solidFill>
                <a:latin typeface="Calibri"/>
              </a:rPr>
              <a:t>Nhận định chiến lược: </a:t>
            </a:r>
            <a:r>
              <a:rPr sz="1300" b="0">
                <a:solidFill>
                  <a:srgbClr val="374151"/>
                </a:solidFill>
                <a:latin typeface="Calibri"/>
              </a:rPr>
              <a:t>MoMo.vn cần dịch chuyển từ mô hình Blog SEO sang Nền tảng Công cụ Tiện ích để giữ vai trò là nguồn dữ liệu tin cậy được các AI Search Engine trích dẫn.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04  —  CHIẾN LƯỢC</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Chuyển Dịch Sang Chiến Lược PLG &amp; Co-Investment</a:t>
            </a:r>
          </a:p>
        </p:txBody>
      </p:sp>
      <p:sp>
        <p:nvSpPr>
          <p:cNvPr id="4" name="Rectangle 3"/>
          <p:cNvSpPr/>
          <p:nvPr/>
        </p:nvSpPr>
        <p:spPr>
          <a:xfrm>
            <a:off x="914400" y="163677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600200"/>
            <a:ext cx="9144000" cy="320040"/>
          </a:xfrm>
          <a:prstGeom prst="rect">
            <a:avLst/>
          </a:prstGeom>
          <a:noFill/>
        </p:spPr>
        <p:txBody>
          <a:bodyPr wrap="square">
            <a:spAutoFit/>
          </a:bodyPr>
          <a:lstStyle/>
          <a:p>
            <a:pPr algn="l">
              <a:defRPr sz="1500" b="1">
                <a:solidFill>
                  <a:srgbClr val="111827"/>
                </a:solidFill>
                <a:latin typeface="Calibri"/>
              </a:defRPr>
            </a:pPr>
            <a:r>
              <a:t>Triết lý PLG (Product-Led Growth) trên Web</a:t>
            </a:r>
          </a:p>
        </p:txBody>
      </p:sp>
      <p:sp>
        <p:nvSpPr>
          <p:cNvPr id="6" name="TextBox 5"/>
          <p:cNvSpPr txBox="1"/>
          <p:nvPr/>
        </p:nvSpPr>
        <p:spPr>
          <a:xfrm>
            <a:off x="1097280" y="1965960"/>
            <a:ext cx="10332720" cy="411480"/>
          </a:xfrm>
          <a:prstGeom prst="rect">
            <a:avLst/>
          </a:prstGeom>
          <a:noFill/>
        </p:spPr>
        <p:txBody>
          <a:bodyPr wrap="square">
            <a:spAutoFit/>
          </a:bodyPr>
          <a:lstStyle/>
          <a:p>
            <a:pPr algn="l">
              <a:defRPr sz="1200" b="0">
                <a:solidFill>
                  <a:srgbClr val="374151"/>
                </a:solidFill>
                <a:latin typeface="Calibri"/>
              </a:defRPr>
            </a:pPr>
            <a:r>
              <a:t>Lấy các công cụ tương tác tiện ích làm hạt nhân để giải quyết nhu cầu thực tế. Content bài viết chỉ đóng vai trò tối ưu hóa khả năng hiển thị.</a:t>
            </a:r>
          </a:p>
        </p:txBody>
      </p:sp>
      <p:graphicFrame>
        <p:nvGraphicFramePr>
          <p:cNvPr id="7" name="Table 6"/>
          <p:cNvGraphicFramePr>
            <a:graphicFrameLocks noGrp="1"/>
          </p:cNvGraphicFramePr>
          <p:nvPr/>
        </p:nvGraphicFramePr>
        <p:xfrm>
          <a:off x="1097280" y="2560320"/>
          <a:ext cx="10241280" cy="548640"/>
        </p:xfrm>
        <a:graphic>
          <a:graphicData uri="http://schemas.openxmlformats.org/drawingml/2006/table">
            <a:tbl>
              <a:tblPr firstRow="1" bandRow="1">
                <a:tableStyleId>{5C22544A-7EE6-4342-B048-85BDC9FD1C3A}</a:tableStyleId>
              </a:tblPr>
              <a:tblGrid>
                <a:gridCol w="2286000"/>
                <a:gridCol w="365760"/>
                <a:gridCol w="2286000"/>
                <a:gridCol w="365760"/>
                <a:gridCol w="2286000"/>
                <a:gridCol w="365760"/>
                <a:gridCol w="2286000"/>
              </a:tblGrid>
              <a:tr h="548640">
                <a:tc>
                  <a:txBody>
                    <a:bodyPr/>
                    <a:lstStyle/>
                    <a:p>
                      <a:pPr algn="ctr">
                        <a:defRPr sz="1100" b="1">
                          <a:solidFill>
                            <a:srgbClr val="A50064"/>
                          </a:solidFill>
                          <a:latin typeface="Calibri"/>
                        </a:defRPr>
                      </a:pPr>
                      <a:r>
                        <a:t>Tìm kiếm</a:t>
                      </a:r>
                    </a:p>
                  </a:txBody>
                  <a:tcPr anchor="ctr">
                    <a:solidFill>
                      <a:srgbClr val="FFFFFF"/>
                    </a:solidFill>
                  </a:tcPr>
                </a:tc>
                <a:tc>
                  <a:txBody>
                    <a:bodyPr/>
                    <a:lstStyle/>
                    <a:p>
                      <a:pPr algn="ctr">
                        <a:defRPr sz="1600">
                          <a:solidFill>
                            <a:srgbClr val="6B7280"/>
                          </a:solidFill>
                          <a:latin typeface="Calibri"/>
                        </a:defRPr>
                      </a:pPr>
                      <a:r>
                        <a:t>→</a:t>
                      </a:r>
                    </a:p>
                  </a:txBody>
                  <a:tcPr anchor="ctr">
                    <a:noFill/>
                  </a:tcPr>
                </a:tc>
                <a:tc>
                  <a:txBody>
                    <a:bodyPr/>
                    <a:lstStyle/>
                    <a:p>
                      <a:pPr algn="ctr">
                        <a:defRPr sz="1100" b="1">
                          <a:solidFill>
                            <a:srgbClr val="A50064"/>
                          </a:solidFill>
                          <a:latin typeface="Calibri"/>
                        </a:defRPr>
                      </a:pPr>
                      <a:r>
                        <a:t>Trải nghiệm Tool Web Lite</a:t>
                      </a:r>
                    </a:p>
                  </a:txBody>
                  <a:tcPr anchor="ctr">
                    <a:solidFill>
                      <a:srgbClr val="FFFFFF"/>
                    </a:solidFill>
                  </a:tcPr>
                </a:tc>
                <a:tc>
                  <a:txBody>
                    <a:bodyPr/>
                    <a:lstStyle/>
                    <a:p>
                      <a:pPr algn="ctr">
                        <a:defRPr sz="1600">
                          <a:solidFill>
                            <a:srgbClr val="6B7280"/>
                          </a:solidFill>
                          <a:latin typeface="Calibri"/>
                        </a:defRPr>
                      </a:pPr>
                      <a:r>
                        <a:t>→</a:t>
                      </a:r>
                    </a:p>
                  </a:txBody>
                  <a:tcPr anchor="ctr">
                    <a:noFill/>
                  </a:tcPr>
                </a:tc>
                <a:tc>
                  <a:txBody>
                    <a:bodyPr/>
                    <a:lstStyle/>
                    <a:p>
                      <a:pPr algn="ctr">
                        <a:defRPr sz="1100" b="1">
                          <a:solidFill>
                            <a:srgbClr val="A50064"/>
                          </a:solidFill>
                          <a:latin typeface="Calibri"/>
                        </a:defRPr>
                      </a:pPr>
                      <a:r>
                        <a:t>Kích hoạt Nhu cầu</a:t>
                      </a:r>
                    </a:p>
                  </a:txBody>
                  <a:tcPr anchor="ctr">
                    <a:solidFill>
                      <a:srgbClr val="FFFFFF"/>
                    </a:solidFill>
                  </a:tcPr>
                </a:tc>
                <a:tc>
                  <a:txBody>
                    <a:bodyPr/>
                    <a:lstStyle/>
                    <a:p>
                      <a:pPr algn="ctr">
                        <a:defRPr sz="1600">
                          <a:solidFill>
                            <a:srgbClr val="6B7280"/>
                          </a:solidFill>
                          <a:latin typeface="Calibri"/>
                        </a:defRPr>
                      </a:pPr>
                      <a:r>
                        <a:t>→</a:t>
                      </a:r>
                    </a:p>
                  </a:txBody>
                  <a:tcPr anchor="ctr">
                    <a:noFill/>
                  </a:tcPr>
                </a:tc>
                <a:tc>
                  <a:txBody>
                    <a:bodyPr/>
                    <a:lstStyle/>
                    <a:p>
                      <a:pPr algn="ctr">
                        <a:defRPr sz="1100" b="1">
                          <a:solidFill>
                            <a:srgbClr val="FFFFFF"/>
                          </a:solidFill>
                          <a:latin typeface="Calibri"/>
                        </a:defRPr>
                      </a:pPr>
                      <a:r>
                        <a:t>Chuyển đổi mở App (W2A)</a:t>
                      </a:r>
                    </a:p>
                  </a:txBody>
                  <a:tcPr anchor="ctr">
                    <a:solidFill>
                      <a:srgbClr val="A50064"/>
                    </a:solidFill>
                  </a:tcPr>
                </a:tc>
              </a:tr>
            </a:tbl>
          </a:graphicData>
        </a:graphic>
      </p:graphicFrame>
      <p:sp>
        <p:nvSpPr>
          <p:cNvPr id="8" name="Rectangle 7"/>
          <p:cNvSpPr/>
          <p:nvPr/>
        </p:nvSpPr>
        <p:spPr>
          <a:xfrm>
            <a:off x="914400" y="333756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5570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520440"/>
            <a:ext cx="9144000" cy="320040"/>
          </a:xfrm>
          <a:prstGeom prst="rect">
            <a:avLst/>
          </a:prstGeom>
          <a:noFill/>
        </p:spPr>
        <p:txBody>
          <a:bodyPr wrap="square">
            <a:spAutoFit/>
          </a:bodyPr>
          <a:lstStyle/>
          <a:p>
            <a:pPr algn="l">
              <a:defRPr sz="1500" b="1">
                <a:solidFill>
                  <a:srgbClr val="111827"/>
                </a:solidFill>
                <a:latin typeface="Calibri"/>
              </a:defRPr>
            </a:pPr>
            <a:r>
              <a:t>Hợp tác đồng đầu tư giữa các BU (Cross-BU Co-Investment)</a:t>
            </a:r>
          </a:p>
        </p:txBody>
      </p:sp>
      <p:sp>
        <p:nvSpPr>
          <p:cNvPr id="11" name="TextBox 10"/>
          <p:cNvSpPr txBox="1"/>
          <p:nvPr/>
        </p:nvSpPr>
        <p:spPr>
          <a:xfrm>
            <a:off x="1097280" y="3886200"/>
            <a:ext cx="10332720" cy="365760"/>
          </a:xfrm>
          <a:prstGeom prst="rect">
            <a:avLst/>
          </a:prstGeom>
          <a:noFill/>
        </p:spPr>
        <p:txBody>
          <a:bodyPr wrap="square">
            <a:spAutoFit/>
          </a:bodyPr>
          <a:lstStyle/>
          <a:p>
            <a:pPr algn="l">
              <a:defRPr sz="1200" b="0">
                <a:solidFill>
                  <a:srgbClr val="374151"/>
                </a:solidFill>
                <a:latin typeface="Calibri"/>
              </a:defRPr>
            </a:pPr>
            <a:r>
              <a:t>Phạt Nguội đóng vai trò phễu hút traffic đại chúng chất lượng cao để phân phối chéo Lead cho các BU hưởng lợi:</a:t>
            </a:r>
          </a:p>
        </p:txBody>
      </p:sp>
      <p:graphicFrame>
        <p:nvGraphicFramePr>
          <p:cNvPr id="12" name="Table 11"/>
          <p:cNvGraphicFramePr>
            <a:graphicFrameLocks noGrp="1"/>
          </p:cNvGraphicFramePr>
          <p:nvPr/>
        </p:nvGraphicFramePr>
        <p:xfrm>
          <a:off x="914400" y="4434840"/>
          <a:ext cx="10332720" cy="1828800"/>
        </p:xfrm>
        <a:graphic>
          <a:graphicData uri="http://schemas.openxmlformats.org/drawingml/2006/table">
            <a:tbl>
              <a:tblPr firstRow="1" bandRow="1">
                <a:tableStyleId>{5C22544A-7EE6-4342-B048-85BDC9FD1C3A}</a:tableStyleId>
              </a:tblPr>
              <a:tblGrid>
                <a:gridCol w="1645920"/>
                <a:gridCol w="5029200"/>
                <a:gridCol w="3657600"/>
              </a:tblGrid>
              <a:tr h="609600">
                <a:tc>
                  <a:txBody>
                    <a:bodyPr/>
                    <a:lstStyle/>
                    <a:p>
                      <a:pPr>
                        <a:defRPr sz="1100" b="1">
                          <a:solidFill>
                            <a:srgbClr val="FFFFFF"/>
                          </a:solidFill>
                          <a:latin typeface="Calibri"/>
                        </a:defRPr>
                      </a:pPr>
                      <a:r>
                        <a:t>BU</a:t>
                      </a:r>
                    </a:p>
                  </a:txBody>
                  <a:tcPr>
                    <a:solidFill>
                      <a:srgbClr val="A50064"/>
                    </a:solidFill>
                  </a:tcPr>
                </a:tc>
                <a:tc>
                  <a:txBody>
                    <a:bodyPr/>
                    <a:lstStyle/>
                    <a:p>
                      <a:pPr>
                        <a:defRPr sz="1100" b="1">
                          <a:solidFill>
                            <a:srgbClr val="FFFFFF"/>
                          </a:solidFill>
                          <a:latin typeface="Calibri"/>
                        </a:defRPr>
                      </a:pPr>
                      <a:r>
                        <a:t>Vai trò</a:t>
                      </a:r>
                    </a:p>
                  </a:txBody>
                  <a:tcPr>
                    <a:solidFill>
                      <a:srgbClr val="A50064"/>
                    </a:solidFill>
                  </a:tcPr>
                </a:tc>
                <a:tc>
                  <a:txBody>
                    <a:bodyPr/>
                    <a:lstStyle/>
                    <a:p>
                      <a:pPr>
                        <a:defRPr sz="1100" b="1">
                          <a:solidFill>
                            <a:srgbClr val="FFFFFF"/>
                          </a:solidFill>
                          <a:latin typeface="Calibri"/>
                        </a:defRPr>
                      </a:pPr>
                      <a:r>
                        <a:t>Mức đóng góp</a:t>
                      </a:r>
                    </a:p>
                  </a:txBody>
                  <a:tcPr>
                    <a:solidFill>
                      <a:srgbClr val="A50064"/>
                    </a:solidFill>
                  </a:tcPr>
                </a:tc>
              </a:tr>
              <a:tr h="609600">
                <a:tc>
                  <a:txBody>
                    <a:bodyPr/>
                    <a:lstStyle/>
                    <a:p>
                      <a:pPr>
                        <a:defRPr sz="1100" b="1">
                          <a:solidFill>
                            <a:srgbClr val="111827"/>
                          </a:solidFill>
                          <a:latin typeface="Calibri"/>
                        </a:defRPr>
                      </a:pPr>
                      <a:r>
                        <a:t>BU Bảo Hiểm</a:t>
                      </a:r>
                    </a:p>
                  </a:txBody>
                  <a:tcPr>
                    <a:solidFill>
                      <a:srgbClr val="FFFFFF"/>
                    </a:solidFill>
                  </a:tcPr>
                </a:tc>
                <a:tc>
                  <a:txBody>
                    <a:bodyPr/>
                    <a:lstStyle/>
                    <a:p>
                      <a:pPr>
                        <a:defRPr sz="1100">
                          <a:solidFill>
                            <a:srgbClr val="374151"/>
                          </a:solidFill>
                          <a:latin typeface="Calibri"/>
                        </a:defRPr>
                      </a:pPr>
                      <a:r>
                        <a:t>Tích hợp bán chéo Bảo hiểm TNDS và thân vỏ ngay tại màn hình kết quả xe không vi phạm</a:t>
                      </a:r>
                    </a:p>
                  </a:txBody>
                  <a:tcPr>
                    <a:solidFill>
                      <a:srgbClr val="FFFFFF"/>
                    </a:solidFill>
                  </a:tcPr>
                </a:tc>
                <a:tc>
                  <a:txBody>
                    <a:bodyPr/>
                    <a:lstStyle/>
                    <a:p>
                      <a:pPr>
                        <a:defRPr sz="1100">
                          <a:solidFill>
                            <a:srgbClr val="374151"/>
                          </a:solidFill>
                          <a:latin typeface="Calibri"/>
                        </a:defRPr>
                      </a:pPr>
                      <a:r>
                        <a:t>Tài trợ 35-40% chi phí tiếp thị và vận hành</a:t>
                      </a:r>
                    </a:p>
                  </a:txBody>
                  <a:tcPr>
                    <a:solidFill>
                      <a:srgbClr val="FFFFFF"/>
                    </a:solidFill>
                  </a:tcPr>
                </a:tc>
              </a:tr>
              <a:tr h="609600">
                <a:tc>
                  <a:txBody>
                    <a:bodyPr/>
                    <a:lstStyle/>
                    <a:p>
                      <a:pPr>
                        <a:defRPr sz="1100" b="1">
                          <a:solidFill>
                            <a:srgbClr val="111827"/>
                          </a:solidFill>
                          <a:latin typeface="Calibri"/>
                        </a:defRPr>
                      </a:pPr>
                      <a:r>
                        <a:t>BU Tài Chính</a:t>
                      </a:r>
                    </a:p>
                  </a:txBody>
                  <a:tcPr>
                    <a:solidFill>
                      <a:srgbClr val="FFFFFF"/>
                    </a:solidFill>
                  </a:tcPr>
                </a:tc>
                <a:tc>
                  <a:txBody>
                    <a:bodyPr/>
                    <a:lstStyle/>
                    <a:p>
                      <a:pPr>
                        <a:defRPr sz="1100">
                          <a:solidFill>
                            <a:srgbClr val="374151"/>
                          </a:solidFill>
                          <a:latin typeface="Calibri"/>
                        </a:defRPr>
                      </a:pPr>
                      <a:r>
                        <a:t>Đề xuất giải ngân đóng phạt nhanh qua Ví Trả Sau hoặc Vay Nhanh cho lỗi phạt nặng ≥1,000,000đ</a:t>
                      </a:r>
                    </a:p>
                  </a:txBody>
                  <a:tcPr>
                    <a:solidFill>
                      <a:srgbClr val="FFFFFF"/>
                    </a:solidFill>
                  </a:tcPr>
                </a:tc>
                <a:tc>
                  <a:txBody>
                    <a:bodyPr/>
                    <a:lstStyle/>
                    <a:p>
                      <a:pPr>
                        <a:defRPr sz="1100">
                          <a:solidFill>
                            <a:srgbClr val="374151"/>
                          </a:solidFill>
                          <a:latin typeface="Calibri"/>
                        </a:defRPr>
                      </a:pPr>
                      <a:r>
                        <a:t>Tài trợ 30% chi phí tiếp thị</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05  —  NỀN TẢNG</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MoSpark &amp; SEO Inventory — Hệ Sinh Thái Tự Động Hóa PLG</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Quy trình phát triển và vận hành PLG được tự động hóa thông qua 3 thành phần cốt lõi:</a:t>
            </a:r>
          </a:p>
        </p:txBody>
      </p:sp>
      <p:graphicFrame>
        <p:nvGraphicFramePr>
          <p:cNvPr id="5" name="Table 4"/>
          <p:cNvGraphicFramePr>
            <a:graphicFrameLocks noGrp="1"/>
          </p:cNvGraphicFramePr>
          <p:nvPr/>
        </p:nvGraphicFramePr>
        <p:xfrm>
          <a:off x="914400" y="2011680"/>
          <a:ext cx="10332720" cy="3502152"/>
        </p:xfrm>
        <a:graphic>
          <a:graphicData uri="http://schemas.openxmlformats.org/drawingml/2006/table">
            <a:tbl>
              <a:tblPr firstRow="1" bandRow="1">
                <a:tableStyleId>{5C22544A-7EE6-4342-B048-85BDC9FD1C3A}</a:tableStyleId>
              </a:tblPr>
              <a:tblGrid>
                <a:gridCol w="3447288"/>
                <a:gridCol w="3447288"/>
                <a:gridCol w="3438144"/>
              </a:tblGrid>
              <a:tr h="73152">
                <a:tc>
                  <a:txBody>
                    <a:bodyPr/>
                    <a:lstStyle/>
                    <a:p/>
                  </a:txBody>
                  <a:tcPr>
                    <a:solidFill>
                      <a:srgbClr val="A50064"/>
                    </a:solidFill>
                  </a:tcPr>
                </a:tc>
                <a:tc>
                  <a:txBody>
                    <a:bodyPr/>
                    <a:lstStyle/>
                    <a:p/>
                  </a:txBody>
                  <a:tcPr>
                    <a:solidFill>
                      <a:srgbClr val="E91E8C"/>
                    </a:solidFill>
                  </a:tcPr>
                </a:tc>
                <a:tc>
                  <a:txBody>
                    <a:bodyPr/>
                    <a:lstStyle/>
                    <a:p/>
                  </a:txBody>
                  <a:tcPr>
                    <a:solidFill>
                      <a:srgbClr val="3B82F6"/>
                    </a:solidFill>
                  </a:tcPr>
                </a:tc>
              </a:tr>
              <a:tr h="320040">
                <a:tc>
                  <a:txBody>
                    <a:bodyPr/>
                    <a:lstStyle/>
                    <a:p>
                      <a:pPr>
                        <a:defRPr sz="900" b="1">
                          <a:solidFill>
                            <a:srgbClr val="A50064"/>
                          </a:solidFill>
                          <a:latin typeface="Calibri"/>
                        </a:defRPr>
                      </a:pPr>
                      <a:r>
                        <a:t>THÀNH PHẦN 1</a:t>
                      </a:r>
                    </a:p>
                  </a:txBody>
                  <a:tcPr>
                    <a:solidFill>
                      <a:srgbClr val="F9FAFB"/>
                    </a:solidFill>
                  </a:tcPr>
                </a:tc>
                <a:tc>
                  <a:txBody>
                    <a:bodyPr/>
                    <a:lstStyle/>
                    <a:p>
                      <a:pPr>
                        <a:defRPr sz="900" b="1">
                          <a:solidFill>
                            <a:srgbClr val="A50064"/>
                          </a:solidFill>
                          <a:latin typeface="Calibri"/>
                        </a:defRPr>
                      </a:pPr>
                      <a:r>
                        <a:t>THÀNH PHẦN 2</a:t>
                      </a:r>
                    </a:p>
                  </a:txBody>
                  <a:tcPr>
                    <a:solidFill>
                      <a:srgbClr val="F9FAFB"/>
                    </a:solidFill>
                  </a:tcPr>
                </a:tc>
                <a:tc>
                  <a:txBody>
                    <a:bodyPr/>
                    <a:lstStyle/>
                    <a:p>
                      <a:pPr>
                        <a:defRPr sz="900" b="1">
                          <a:solidFill>
                            <a:srgbClr val="A50064"/>
                          </a:solidFill>
                          <a:latin typeface="Calibri"/>
                        </a:defRPr>
                      </a:pPr>
                      <a:r>
                        <a:t>THÀNH PHẦN 3</a:t>
                      </a:r>
                    </a:p>
                  </a:txBody>
                  <a:tcPr>
                    <a:solidFill>
                      <a:srgbClr val="F9FAFB"/>
                    </a:solidFill>
                  </a:tcPr>
                </a:tc>
              </a:tr>
              <a:tr h="822960">
                <a:tc>
                  <a:txBody>
                    <a:bodyPr wrap="square"/>
                    <a:lstStyle/>
                    <a:p>
                      <a:pPr>
                        <a:defRPr sz="1800" b="1">
                          <a:solidFill>
                            <a:srgbClr val="111827"/>
                          </a:solidFill>
                          <a:latin typeface="Calibri"/>
                        </a:defRPr>
                      </a:pPr>
                      <a:r>
                        <a:t>SEO Inventory</a:t>
                      </a:r>
                    </a:p>
                    <a:p>
                      <a:pPr>
                        <a:spcBef>
                          <a:spcPts val="400"/>
                        </a:spcBef>
                        <a:defRPr sz="1100">
                          <a:solidFill>
                            <a:srgbClr val="6B7280"/>
                          </a:solidFill>
                          <a:latin typeface="Calibri"/>
                        </a:defRPr>
                      </a:pPr>
                      <a:r>
                        <a:t>Định vị nhu cầu</a:t>
                      </a:r>
                    </a:p>
                  </a:txBody>
                  <a:tcPr>
                    <a:solidFill>
                      <a:srgbClr val="F9FAFB"/>
                    </a:solidFill>
                  </a:tcPr>
                </a:tc>
                <a:tc>
                  <a:txBody>
                    <a:bodyPr wrap="square"/>
                    <a:lstStyle/>
                    <a:p>
                      <a:pPr>
                        <a:defRPr sz="1800" b="1">
                          <a:solidFill>
                            <a:srgbClr val="111827"/>
                          </a:solidFill>
                          <a:latin typeface="Calibri"/>
                        </a:defRPr>
                      </a:pPr>
                      <a:r>
                        <a:t>PLG Project</a:t>
                      </a:r>
                    </a:p>
                    <a:p>
                      <a:pPr>
                        <a:spcBef>
                          <a:spcPts val="400"/>
                        </a:spcBef>
                        <a:defRPr sz="1100">
                          <a:solidFill>
                            <a:srgbClr val="6B7280"/>
                          </a:solidFill>
                          <a:latin typeface="Calibri"/>
                        </a:defRPr>
                      </a:pPr>
                      <a:r>
                        <a:t>Quy hoạch &amp; Quản trị chiến dịch</a:t>
                      </a:r>
                    </a:p>
                  </a:txBody>
                  <a:tcPr>
                    <a:solidFill>
                      <a:srgbClr val="F9FAFB"/>
                    </a:solidFill>
                  </a:tcPr>
                </a:tc>
                <a:tc>
                  <a:txBody>
                    <a:bodyPr wrap="square"/>
                    <a:lstStyle/>
                    <a:p>
                      <a:pPr>
                        <a:defRPr sz="1800" b="1">
                          <a:solidFill>
                            <a:srgbClr val="111827"/>
                          </a:solidFill>
                          <a:latin typeface="Calibri"/>
                        </a:defRPr>
                      </a:pPr>
                      <a:r>
                        <a:t>GenAI Content</a:t>
                      </a:r>
                    </a:p>
                    <a:p>
                      <a:pPr>
                        <a:spcBef>
                          <a:spcPts val="400"/>
                        </a:spcBef>
                        <a:defRPr sz="1100">
                          <a:solidFill>
                            <a:srgbClr val="6B7280"/>
                          </a:solidFill>
                          <a:latin typeface="Calibri"/>
                        </a:defRPr>
                      </a:pPr>
                      <a:r>
                        <a:t>Tự động hóa nội dung</a:t>
                      </a:r>
                    </a:p>
                  </a:txBody>
                  <a:tcPr>
                    <a:solidFill>
                      <a:srgbClr val="F9FAFB"/>
                    </a:solidFill>
                  </a:tcPr>
                </a:tc>
              </a:tr>
              <a:tr h="2286000">
                <a:tc>
                  <a:txBody>
                    <a:bodyPr wrap="square"/>
                    <a:lstStyle/>
                    <a:p>
                      <a:pPr>
                        <a:defRPr sz="1200">
                          <a:solidFill>
                            <a:srgbClr val="374151"/>
                          </a:solidFill>
                          <a:latin typeface="Calibri"/>
                        </a:defRPr>
                      </a:pPr>
                      <a:r>
                        <a:t>Khai thác dữ liệu tìm kiếm thị trường để định lượng dung lượng và định hướng Use Case đầu tư, đảm bảo mọi quyết định phát triển công cụ đều dựa trên nhu cầu thực tế.</a:t>
                      </a:r>
                    </a:p>
                  </a:txBody>
                  <a:tcPr anchor="t">
                    <a:solidFill>
                      <a:srgbClr val="F9FAFB"/>
                    </a:solidFill>
                  </a:tcPr>
                </a:tc>
                <a:tc>
                  <a:txBody>
                    <a:bodyPr wrap="square"/>
                    <a:lstStyle/>
                    <a:p>
                      <a:pPr>
                        <a:defRPr sz="1200">
                          <a:solidFill>
                            <a:srgbClr val="374151"/>
                          </a:solidFill>
                          <a:latin typeface="Calibri"/>
                        </a:defRPr>
                      </a:pPr>
                      <a:r>
                        <a:t>Bộ não điều phối cấu trúc website. Cung cấp hệ quản trị nội dung (CMS) linh hoạt trong việc xây dựng, cập nhật trang và cơ chế phân quyền vai trò rõ ràng giữa Platform Team (quản trị kỹ thuật &amp; khung chuẩn) và Cell Teams (tự chủ biên tập nội dung).</a:t>
                      </a:r>
                    </a:p>
                  </a:txBody>
                  <a:tcPr anchor="t">
                    <a:solidFill>
                      <a:srgbClr val="F9FAFB"/>
                    </a:solidFill>
                  </a:tcPr>
                </a:tc>
                <a:tc>
                  <a:txBody>
                    <a:bodyPr wrap="square"/>
                    <a:lstStyle/>
                    <a:p>
                      <a:pPr>
                        <a:defRPr sz="1200">
                          <a:solidFill>
                            <a:srgbClr val="374151"/>
                          </a:solidFill>
                          <a:latin typeface="Calibri"/>
                        </a:defRPr>
                      </a:pPr>
                      <a:r>
                        <a:t>Hệ thống sản xuất nội dung quy mô lớn, cho phép tích hợp đa dạng các AI Model để tạo lập nội dung chuẩn SEO và thiết kế hình ảnh chuẩn Brand Guideline, đi kèm quy trình kiểm duyệt chất lượng nghiêm ngặt.</a:t>
                      </a:r>
                    </a:p>
                  </a:txBody>
                  <a:tcPr anchor="t">
                    <a:solidFill>
                      <a:srgbClr val="F9FA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06  —  CASE STUDY: PHẠT NGUỘI</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1. SEO Inventory — Tiềm Năng Thị Trường</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Nhu cầu thị trường &amp; Quy mô tiếp cận (Market Potential)</a:t>
            </a:r>
          </a:p>
        </p:txBody>
      </p:sp>
      <p:graphicFrame>
        <p:nvGraphicFramePr>
          <p:cNvPr id="5" name="Table 4"/>
          <p:cNvGraphicFramePr>
            <a:graphicFrameLocks noGrp="1"/>
          </p:cNvGraphicFramePr>
          <p:nvPr/>
        </p:nvGraphicFramePr>
        <p:xfrm>
          <a:off x="914400" y="1920240"/>
          <a:ext cx="7315200" cy="1005840"/>
        </p:xfrm>
        <a:graphic>
          <a:graphicData uri="http://schemas.openxmlformats.org/drawingml/2006/table">
            <a:tbl>
              <a:tblPr firstRow="1" bandRow="1">
                <a:tableStyleId>{5C22544A-7EE6-4342-B048-85BDC9FD1C3A}</a:tableStyleId>
              </a:tblPr>
              <a:tblGrid>
                <a:gridCol w="3657600"/>
                <a:gridCol w="3657600"/>
              </a:tblGrid>
              <a:tr h="594360">
                <a:tc>
                  <a:txBody>
                    <a:bodyPr/>
                    <a:lstStyle/>
                    <a:p>
                      <a:pPr algn="ctr">
                        <a:defRPr sz="2800" b="1">
                          <a:solidFill>
                            <a:srgbClr val="A50064"/>
                          </a:solidFill>
                          <a:latin typeface="Calibri"/>
                        </a:defRPr>
                      </a:pPr>
                      <a:r>
                        <a:t>~3.56M</a:t>
                      </a:r>
                    </a:p>
                  </a:txBody>
                  <a:tcPr>
                    <a:solidFill>
                      <a:srgbClr val="F9FAFB"/>
                    </a:solidFill>
                  </a:tcPr>
                </a:tc>
                <a:tc>
                  <a:txBody>
                    <a:bodyPr/>
                    <a:lstStyle/>
                    <a:p>
                      <a:pPr algn="ctr">
                        <a:defRPr sz="2800" b="1">
                          <a:solidFill>
                            <a:srgbClr val="A50064"/>
                          </a:solidFill>
                          <a:latin typeface="Calibri"/>
                        </a:defRPr>
                      </a:pPr>
                      <a:r>
                        <a:t>~356K</a:t>
                      </a:r>
                    </a:p>
                  </a:txBody>
                  <a:tcPr>
                    <a:solidFill>
                      <a:srgbClr val="F9FAFB"/>
                    </a:solidFill>
                  </a:tcPr>
                </a:tc>
              </a:tr>
              <a:tr h="411480">
                <a:tc>
                  <a:txBody>
                    <a:bodyPr/>
                    <a:lstStyle/>
                    <a:p>
                      <a:pPr algn="ctr">
                        <a:defRPr sz="1000">
                          <a:solidFill>
                            <a:srgbClr val="6B7280"/>
                          </a:solidFill>
                          <a:latin typeface="Calibri"/>
                        </a:defRPr>
                      </a:pPr>
                      <a:r>
                        <a:t>lượt search/tháng — Volume lớn nhất nhóm Dịch vụ công</a:t>
                      </a:r>
                    </a:p>
                  </a:txBody>
                  <a:tcPr>
                    <a:solidFill>
                      <a:srgbClr val="F9FAFB"/>
                    </a:solidFill>
                  </a:tcPr>
                </a:tc>
                <a:tc>
                  <a:txBody>
                    <a:bodyPr/>
                    <a:lstStyle/>
                    <a:p>
                      <a:pPr algn="ctr">
                        <a:defRPr sz="1000">
                          <a:solidFill>
                            <a:srgbClr val="6B7280"/>
                          </a:solidFill>
                          <a:latin typeface="Calibri"/>
                        </a:defRPr>
                      </a:pPr>
                      <a:r>
                        <a:t>organic sessions/tháng — Mục tiêu 10% SoV</a:t>
                      </a:r>
                    </a:p>
                  </a:txBody>
                  <a:tcPr>
                    <a:solidFill>
                      <a:srgbClr val="F9FAFB"/>
                    </a:solidFill>
                  </a:tcPr>
                </a:tc>
              </a:tr>
            </a:tbl>
          </a:graphicData>
        </a:graphic>
      </p:graphicFrame>
      <p:sp>
        <p:nvSpPr>
          <p:cNvPr id="6" name="Rectangle 5"/>
          <p:cNvSpPr/>
          <p:nvPr/>
        </p:nvSpPr>
        <p:spPr>
          <a:xfrm>
            <a:off x="914400" y="320040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1033272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b="1">
                <a:solidFill>
                  <a:srgbClr val="111827"/>
                </a:solidFill>
                <a:latin typeface="Calibri"/>
              </a:rPr>
              <a:t>Quy mô tìm kiếm lớn: </a:t>
            </a:r>
            <a:r>
              <a:rPr sz="1200">
                <a:solidFill>
                  <a:srgbClr val="374151"/>
                </a:solidFill>
                <a:latin typeface="Calibri"/>
              </a:rPr>
              <a:t>Đạt ~3.56M lượt search/tháng. Đây là cụm từ khóa có volume lớn nhất thuộc nhóm Dịch vụ công và Giao thông.</a:t>
            </a:r>
          </a:p>
          <a:p>
            <a:pPr>
              <a:spcBef>
                <a:spcPts val="200"/>
              </a:spcBef>
              <a:spcAft>
                <a:spcPts val="1000"/>
              </a:spcAft>
            </a:pPr>
            <a:r>
              <a:rPr sz="700">
                <a:solidFill>
                  <a:srgbClr val="A50064"/>
                </a:solidFill>
                <a:latin typeface="Calibri"/>
              </a:rPr>
              <a:t>●  </a:t>
            </a:r>
            <a:r>
              <a:rPr sz="1200" b="1">
                <a:solidFill>
                  <a:srgbClr val="111827"/>
                </a:solidFill>
                <a:latin typeface="Calibri"/>
              </a:rPr>
              <a:t>Nhu cầu thường trực: </a:t>
            </a:r>
            <a:r>
              <a:rPr sz="1200">
                <a:solidFill>
                  <a:srgbClr val="374151"/>
                </a:solidFill>
                <a:latin typeface="Calibri"/>
              </a:rPr>
              <a:t>Quy định pháp luật tăng mức phạt vi phạm giao thông, thúc đẩy nhu cầu tra cứu thường trực của tài xế.</a:t>
            </a:r>
          </a:p>
          <a:p>
            <a:pPr>
              <a:spcBef>
                <a:spcPts val="200"/>
              </a:spcBef>
              <a:spcAft>
                <a:spcPts val="1000"/>
              </a:spcAft>
            </a:pPr>
            <a:r>
              <a:rPr sz="700">
                <a:solidFill>
                  <a:srgbClr val="A50064"/>
                </a:solidFill>
                <a:latin typeface="Calibri"/>
              </a:rPr>
              <a:t>●  </a:t>
            </a:r>
            <a:r>
              <a:rPr sz="1200" b="1">
                <a:solidFill>
                  <a:srgbClr val="111827"/>
                </a:solidFill>
                <a:latin typeface="Calibri"/>
              </a:rPr>
              <a:t>Tệp người dùng giá trị: </a:t>
            </a:r>
            <a:r>
              <a:rPr sz="1200">
                <a:solidFill>
                  <a:srgbClr val="374151"/>
                </a:solidFill>
                <a:latin typeface="Calibri"/>
              </a:rPr>
              <a:t>Hướng đến nhóm sở hữu phương tiện (ô tô, xe máy) có khả năng chi trả cao — đối tượng mục tiêu của các dịch vụ bảo hiểm và tài chính tiêu dùng.</a:t>
            </a:r>
          </a:p>
          <a:p>
            <a:pPr>
              <a:spcBef>
                <a:spcPts val="200"/>
              </a:spcBef>
              <a:spcAft>
                <a:spcPts val="1000"/>
              </a:spcAft>
            </a:pPr>
            <a:r>
              <a:rPr sz="700">
                <a:solidFill>
                  <a:srgbClr val="A50064"/>
                </a:solidFill>
                <a:latin typeface="Calibri"/>
              </a:rPr>
              <a:t>●  </a:t>
            </a:r>
            <a:r>
              <a:rPr sz="1200" b="1">
                <a:solidFill>
                  <a:srgbClr val="111827"/>
                </a:solidFill>
                <a:latin typeface="Calibri"/>
              </a:rPr>
              <a:t>Mục tiêu chiếm lĩnh: </a:t>
            </a:r>
            <a:r>
              <a:rPr sz="1200">
                <a:solidFill>
                  <a:srgbClr val="374151"/>
                </a:solidFill>
                <a:latin typeface="Calibri"/>
              </a:rPr>
              <a:t>Đón đầu và chuyển đổi 10% thị phần tìm kiếm (Share of Voice), tương đương ~356,000 lượt truy cập tự nhiên/tháng.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07  —  CASE STUDY: PHẠT NGUỘI</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2. Vibe Code — Tốc Độ &amp; Phát Triển</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Phương thức phát triển siêu tốc với sự hỗ trợ của AI</a:t>
            </a:r>
          </a:p>
        </p:txBody>
      </p:sp>
      <p:sp>
        <p:nvSpPr>
          <p:cNvPr id="5" name="Rectangle 4"/>
          <p:cNvSpPr/>
          <p:nvPr/>
        </p:nvSpPr>
        <p:spPr>
          <a:xfrm>
            <a:off x="914400" y="19568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 y="1920240"/>
            <a:ext cx="4572000" cy="320040"/>
          </a:xfrm>
          <a:prstGeom prst="rect">
            <a:avLst/>
          </a:prstGeom>
          <a:noFill/>
        </p:spPr>
        <p:txBody>
          <a:bodyPr wrap="square">
            <a:spAutoFit/>
          </a:bodyPr>
          <a:lstStyle/>
          <a:p>
            <a:pPr algn="l">
              <a:defRPr sz="1500" b="1">
                <a:solidFill>
                  <a:srgbClr val="111827"/>
                </a:solidFill>
                <a:latin typeface="Calibri"/>
              </a:defRPr>
            </a:pPr>
            <a:r>
              <a:t>Rút ngắn thời gian ra mắt (Time-to-Market)</a:t>
            </a:r>
          </a:p>
        </p:txBody>
      </p:sp>
      <p:sp>
        <p:nvSpPr>
          <p:cNvPr id="7" name="TextBox 6"/>
          <p:cNvSpPr txBox="1"/>
          <p:nvPr/>
        </p:nvSpPr>
        <p:spPr>
          <a:xfrm>
            <a:off x="1097280" y="228600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b="1">
                <a:solidFill>
                  <a:srgbClr val="111827"/>
                </a:solidFill>
                <a:latin typeface="Calibri"/>
              </a:rPr>
              <a:t>Chu kỳ phát triển tối giản: </a:t>
            </a:r>
            <a:r>
              <a:rPr sz="1200">
                <a:solidFill>
                  <a:srgbClr val="374151"/>
                </a:solidFill>
                <a:latin typeface="Calibri"/>
              </a:rPr>
              <a:t>Vibe Code hỗ trợ bởi AI giúp rút ngắn chu kỳ từ 1 tháng xuống còn 1 tuần để Go-live toàn bộ hệ thống (Trang chủ, trang ngách Ô tô, Xe máy, Xe máy điện và Blog).</a:t>
            </a:r>
          </a:p>
          <a:p>
            <a:pPr>
              <a:spcBef>
                <a:spcPts val="200"/>
              </a:spcBef>
              <a:spcAft>
                <a:spcPts val="1000"/>
              </a:spcAft>
            </a:pPr>
            <a:r>
              <a:rPr sz="700">
                <a:solidFill>
                  <a:srgbClr val="A50064"/>
                </a:solidFill>
                <a:latin typeface="Calibri"/>
              </a:rPr>
              <a:t>●  </a:t>
            </a:r>
            <a:r>
              <a:rPr sz="1200" b="1">
                <a:solidFill>
                  <a:srgbClr val="111827"/>
                </a:solidFill>
                <a:latin typeface="Calibri"/>
              </a:rPr>
              <a:t>Tự chủ vận hành: </a:t>
            </a:r>
            <a:r>
              <a:rPr sz="1200">
                <a:solidFill>
                  <a:srgbClr val="374151"/>
                </a:solidFill>
                <a:latin typeface="Calibri"/>
              </a:rPr>
              <a:t>PM và Editor có thể tự cấu hình SEO/GEO On-page trực tiếp mà không phụ thuộc đội ngũ lập trình Web.</a:t>
            </a:r>
          </a:p>
        </p:txBody>
      </p:sp>
      <p:sp>
        <p:nvSpPr>
          <p:cNvPr id="8" name="Rectangle 7"/>
          <p:cNvSpPr/>
          <p:nvPr/>
        </p:nvSpPr>
        <p:spPr>
          <a:xfrm>
            <a:off x="6400800" y="19568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8816" y="1920240"/>
            <a:ext cx="4572000" cy="320040"/>
          </a:xfrm>
          <a:prstGeom prst="rect">
            <a:avLst/>
          </a:prstGeom>
          <a:noFill/>
        </p:spPr>
        <p:txBody>
          <a:bodyPr wrap="square">
            <a:spAutoFit/>
          </a:bodyPr>
          <a:lstStyle/>
          <a:p>
            <a:pPr algn="l">
              <a:defRPr sz="1500" b="1">
                <a:solidFill>
                  <a:srgbClr val="111827"/>
                </a:solidFill>
                <a:latin typeface="Calibri"/>
              </a:defRPr>
            </a:pPr>
            <a:r>
              <a:t>Trải nghiệm Mobile-First</a:t>
            </a:r>
          </a:p>
        </p:txBody>
      </p:sp>
      <p:sp>
        <p:nvSpPr>
          <p:cNvPr id="10" name="TextBox 9"/>
          <p:cNvSpPr txBox="1"/>
          <p:nvPr/>
        </p:nvSpPr>
        <p:spPr>
          <a:xfrm>
            <a:off x="6583680" y="228600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a:solidFill>
                  <a:srgbClr val="374151"/>
                </a:solidFill>
                <a:latin typeface="Calibri"/>
              </a:rPr>
              <a:t>Tối ưu tốc độ tải trang nhanh dưới 2 giây.</a:t>
            </a:r>
          </a:p>
          <a:p>
            <a:pPr>
              <a:spcBef>
                <a:spcPts val="200"/>
              </a:spcBef>
              <a:spcAft>
                <a:spcPts val="1000"/>
              </a:spcAft>
            </a:pPr>
            <a:r>
              <a:rPr sz="700">
                <a:solidFill>
                  <a:srgbClr val="A50064"/>
                </a:solidFill>
                <a:latin typeface="Calibri"/>
              </a:rPr>
              <a:t>●  </a:t>
            </a:r>
            <a:r>
              <a:rPr sz="1200">
                <a:solidFill>
                  <a:srgbClr val="374151"/>
                </a:solidFill>
                <a:latin typeface="Calibri"/>
              </a:rPr>
              <a:t>Giao diện tương tác, nhập biển số và trả kết quả mượt mà tương đương trải nghiệm in-app.</a:t>
            </a:r>
          </a:p>
        </p:txBody>
      </p:sp>
      <p:sp>
        <p:nvSpPr>
          <p:cNvPr id="11" name="Rectangle 10"/>
          <p:cNvSpPr/>
          <p:nvPr/>
        </p:nvSpPr>
        <p:spPr>
          <a:xfrm>
            <a:off x="914400" y="429768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914400" y="4572000"/>
          <a:ext cx="7315200" cy="1005840"/>
        </p:xfrm>
        <a:graphic>
          <a:graphicData uri="http://schemas.openxmlformats.org/drawingml/2006/table">
            <a:tbl>
              <a:tblPr firstRow="1" bandRow="1">
                <a:tableStyleId>{5C22544A-7EE6-4342-B048-85BDC9FD1C3A}</a:tableStyleId>
              </a:tblPr>
              <a:tblGrid>
                <a:gridCol w="3657600"/>
                <a:gridCol w="3657600"/>
              </a:tblGrid>
              <a:tr h="594360">
                <a:tc>
                  <a:txBody>
                    <a:bodyPr/>
                    <a:lstStyle/>
                    <a:p>
                      <a:pPr algn="ctr">
                        <a:defRPr sz="2600" b="1">
                          <a:solidFill>
                            <a:srgbClr val="10B981"/>
                          </a:solidFill>
                          <a:latin typeface="Calibri"/>
                        </a:defRPr>
                      </a:pPr>
                      <a:r>
                        <a:t>1 tuần</a:t>
                      </a:r>
                    </a:p>
                  </a:txBody>
                  <a:tcPr>
                    <a:solidFill>
                      <a:srgbClr val="F9FAFB"/>
                    </a:solidFill>
                  </a:tcPr>
                </a:tc>
                <a:tc>
                  <a:txBody>
                    <a:bodyPr/>
                    <a:lstStyle/>
                    <a:p>
                      <a:pPr algn="ctr">
                        <a:defRPr sz="2600" b="1">
                          <a:solidFill>
                            <a:srgbClr val="3B82F6"/>
                          </a:solidFill>
                          <a:latin typeface="Calibri"/>
                        </a:defRPr>
                      </a:pPr>
                      <a:r>
                        <a:t>&lt; 2 giây</a:t>
                      </a:r>
                    </a:p>
                  </a:txBody>
                  <a:tcPr>
                    <a:solidFill>
                      <a:srgbClr val="F9FAFB"/>
                    </a:solidFill>
                  </a:tcPr>
                </a:tc>
              </a:tr>
              <a:tr h="411480">
                <a:tc>
                  <a:txBody>
                    <a:bodyPr/>
                    <a:lstStyle/>
                    <a:p>
                      <a:pPr algn="ctr">
                        <a:defRPr sz="1000">
                          <a:solidFill>
                            <a:srgbClr val="6B7280"/>
                          </a:solidFill>
                          <a:latin typeface="Calibri"/>
                        </a:defRPr>
                      </a:pPr>
                      <a:r>
                        <a:t>Go-live toàn hệ thống (thay vì 1 tháng)</a:t>
                      </a:r>
                    </a:p>
                  </a:txBody>
                  <a:tcPr>
                    <a:solidFill>
                      <a:srgbClr val="F9FAFB"/>
                    </a:solidFill>
                  </a:tcPr>
                </a:tc>
                <a:tc>
                  <a:txBody>
                    <a:bodyPr/>
                    <a:lstStyle/>
                    <a:p>
                      <a:pPr algn="ctr">
                        <a:defRPr sz="1000">
                          <a:solidFill>
                            <a:srgbClr val="6B7280"/>
                          </a:solidFill>
                          <a:latin typeface="Calibri"/>
                        </a:defRPr>
                      </a:pPr>
                      <a:r>
                        <a:t>Thời gian tải trang Mobile-First</a:t>
                      </a:r>
                    </a:p>
                  </a:txBody>
                  <a:tcPr>
                    <a:solidFill>
                      <a:srgbClr val="F9FA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08  —  CASE STUDY: PHẠT NGUỘI</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3. PLG Project — Quản Trị Chiến Dịch</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Phân tách mục tiêu và cơ chế vận hành tự động hóa</a:t>
            </a:r>
          </a:p>
        </p:txBody>
      </p:sp>
      <p:sp>
        <p:nvSpPr>
          <p:cNvPr id="5" name="Rectangle 4"/>
          <p:cNvSpPr/>
          <p:nvPr/>
        </p:nvSpPr>
        <p:spPr>
          <a:xfrm>
            <a:off x="914400" y="19568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 y="1920240"/>
            <a:ext cx="9144000" cy="320040"/>
          </a:xfrm>
          <a:prstGeom prst="rect">
            <a:avLst/>
          </a:prstGeom>
          <a:noFill/>
        </p:spPr>
        <p:txBody>
          <a:bodyPr wrap="square">
            <a:spAutoFit/>
          </a:bodyPr>
          <a:lstStyle/>
          <a:p>
            <a:pPr algn="l">
              <a:defRPr sz="1500" b="1">
                <a:solidFill>
                  <a:srgbClr val="111827"/>
                </a:solidFill>
                <a:latin typeface="Calibri"/>
              </a:defRPr>
            </a:pPr>
            <a:r>
              <a:t>Phân tách mục tiêu quản trị</a:t>
            </a:r>
          </a:p>
        </p:txBody>
      </p:sp>
      <p:graphicFrame>
        <p:nvGraphicFramePr>
          <p:cNvPr id="7" name="Table 6"/>
          <p:cNvGraphicFramePr>
            <a:graphicFrameLocks noGrp="1"/>
          </p:cNvGraphicFramePr>
          <p:nvPr/>
        </p:nvGraphicFramePr>
        <p:xfrm>
          <a:off x="914400" y="2331720"/>
          <a:ext cx="10332720" cy="1188720"/>
        </p:xfrm>
        <a:graphic>
          <a:graphicData uri="http://schemas.openxmlformats.org/drawingml/2006/table">
            <a:tbl>
              <a:tblPr firstRow="1" bandRow="1">
                <a:tableStyleId>{5C22544A-7EE6-4342-B048-85BDC9FD1C3A}</a:tableStyleId>
              </a:tblPr>
              <a:tblGrid>
                <a:gridCol w="1828800"/>
                <a:gridCol w="2286000"/>
                <a:gridCol w="6217920"/>
              </a:tblGrid>
              <a:tr h="396240">
                <a:tc>
                  <a:txBody>
                    <a:bodyPr/>
                    <a:lstStyle/>
                    <a:p>
                      <a:pPr>
                        <a:defRPr sz="1100" b="1">
                          <a:solidFill>
                            <a:srgbClr val="FFFFFF"/>
                          </a:solidFill>
                          <a:latin typeface="Calibri"/>
                        </a:defRPr>
                      </a:pPr>
                      <a:r>
                        <a:t>Quản lý</a:t>
                      </a:r>
                    </a:p>
                  </a:txBody>
                  <a:tcPr>
                    <a:solidFill>
                      <a:srgbClr val="A50064"/>
                    </a:solidFill>
                  </a:tcPr>
                </a:tc>
                <a:tc>
                  <a:txBody>
                    <a:bodyPr/>
                    <a:lstStyle/>
                    <a:p>
                      <a:pPr>
                        <a:defRPr sz="1100" b="1">
                          <a:solidFill>
                            <a:srgbClr val="FFFFFF"/>
                          </a:solidFill>
                          <a:latin typeface="Calibri"/>
                        </a:defRPr>
                      </a:pPr>
                      <a:r>
                        <a:t>Dự án</a:t>
                      </a:r>
                    </a:p>
                  </a:txBody>
                  <a:tcPr>
                    <a:solidFill>
                      <a:srgbClr val="A50064"/>
                    </a:solidFill>
                  </a:tcPr>
                </a:tc>
                <a:tc>
                  <a:txBody>
                    <a:bodyPr/>
                    <a:lstStyle/>
                    <a:p>
                      <a:pPr>
                        <a:defRPr sz="1100" b="1">
                          <a:solidFill>
                            <a:srgbClr val="FFFFFF"/>
                          </a:solidFill>
                          <a:latin typeface="Calibri"/>
                        </a:defRPr>
                      </a:pPr>
                      <a:r>
                        <a:t>Mô tả</a:t>
                      </a:r>
                    </a:p>
                  </a:txBody>
                  <a:tcPr>
                    <a:solidFill>
                      <a:srgbClr val="A50064"/>
                    </a:solidFill>
                  </a:tcPr>
                </a:tc>
              </a:tr>
              <a:tr h="396240">
                <a:tc>
                  <a:txBody>
                    <a:bodyPr/>
                    <a:lstStyle/>
                    <a:p>
                      <a:pPr>
                        <a:defRPr sz="1100" b="1">
                          <a:solidFill>
                            <a:srgbClr val="111827"/>
                          </a:solidFill>
                          <a:latin typeface="Calibri"/>
                        </a:defRPr>
                      </a:pPr>
                      <a:r>
                        <a:t>BU vận hành</a:t>
                      </a:r>
                    </a:p>
                  </a:txBody>
                  <a:tcPr>
                    <a:solidFill>
                      <a:srgbClr val="FFFFFF"/>
                    </a:solidFill>
                  </a:tcPr>
                </a:tc>
                <a:tc>
                  <a:txBody>
                    <a:bodyPr/>
                    <a:lstStyle/>
                    <a:p>
                      <a:pPr>
                        <a:defRPr sz="1100" b="1">
                          <a:solidFill>
                            <a:srgbClr val="111827"/>
                          </a:solidFill>
                          <a:latin typeface="Calibri"/>
                        </a:defRPr>
                      </a:pPr>
                      <a:r>
                        <a:t>Dự án Use Case</a:t>
                      </a:r>
                    </a:p>
                  </a:txBody>
                  <a:tcPr>
                    <a:solidFill>
                      <a:srgbClr val="FFFFFF"/>
                    </a:solidFill>
                  </a:tcPr>
                </a:tc>
                <a:tc>
                  <a:txBody>
                    <a:bodyPr/>
                    <a:lstStyle/>
                    <a:p>
                      <a:pPr>
                        <a:defRPr sz="1100">
                          <a:solidFill>
                            <a:srgbClr val="374151"/>
                          </a:solidFill>
                          <a:latin typeface="Calibri"/>
                        </a:defRPr>
                      </a:pPr>
                      <a:r>
                        <a:t>Triển khai công cụ tiện ích (Phạt Nguội, eSIM) nhằm thu hút traffic tìm kiếm và chuyển đổi Web-to-App.</a:t>
                      </a:r>
                    </a:p>
                  </a:txBody>
                  <a:tcPr>
                    <a:solidFill>
                      <a:srgbClr val="FFFFFF"/>
                    </a:solidFill>
                  </a:tcPr>
                </a:tc>
              </a:tr>
              <a:tr h="396240">
                <a:tc>
                  <a:txBody>
                    <a:bodyPr/>
                    <a:lstStyle/>
                    <a:p>
                      <a:pPr>
                        <a:defRPr sz="1100" b="1">
                          <a:solidFill>
                            <a:srgbClr val="111827"/>
                          </a:solidFill>
                          <a:latin typeface="Calibri"/>
                        </a:defRPr>
                      </a:pPr>
                      <a:r>
                        <a:t>Platform vận hành</a:t>
                      </a:r>
                    </a:p>
                  </a:txBody>
                  <a:tcPr>
                    <a:solidFill>
                      <a:srgbClr val="FFFFFF"/>
                    </a:solidFill>
                  </a:tcPr>
                </a:tc>
                <a:tc>
                  <a:txBody>
                    <a:bodyPr/>
                    <a:lstStyle/>
                    <a:p>
                      <a:pPr>
                        <a:defRPr sz="1100" b="1">
                          <a:solidFill>
                            <a:srgbClr val="111827"/>
                          </a:solidFill>
                          <a:latin typeface="Calibri"/>
                        </a:defRPr>
                      </a:pPr>
                      <a:r>
                        <a:t>Dự án Merchant Page</a:t>
                      </a:r>
                    </a:p>
                  </a:txBody>
                  <a:tcPr>
                    <a:solidFill>
                      <a:srgbClr val="FFFFFF"/>
                    </a:solidFill>
                  </a:tcPr>
                </a:tc>
                <a:tc>
                  <a:txBody>
                    <a:bodyPr/>
                    <a:lstStyle/>
                    <a:p>
                      <a:pPr>
                        <a:defRPr sz="1100">
                          <a:solidFill>
                            <a:srgbClr val="374151"/>
                          </a:solidFill>
                          <a:latin typeface="Calibri"/>
                        </a:defRPr>
                      </a:pPr>
                      <a:r>
                        <a:t>Tăng Local SEO và thúc đẩy thanh toán Ví Trả Sau tại cửa hàng đối tác.</a:t>
                      </a:r>
                    </a:p>
                  </a:txBody>
                  <a:tcPr>
                    <a:solidFill>
                      <a:srgbClr val="FFFFFF"/>
                    </a:solidFill>
                  </a:tcPr>
                </a:tc>
              </a:tr>
            </a:tbl>
          </a:graphicData>
        </a:graphic>
      </p:graphicFrame>
      <p:sp>
        <p:nvSpPr>
          <p:cNvPr id="8" name="Rectangle 7"/>
          <p:cNvSpPr/>
          <p:nvPr/>
        </p:nvSpPr>
        <p:spPr>
          <a:xfrm>
            <a:off x="914400" y="379476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4014215"/>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977639"/>
            <a:ext cx="9144000" cy="320040"/>
          </a:xfrm>
          <a:prstGeom prst="rect">
            <a:avLst/>
          </a:prstGeom>
          <a:noFill/>
        </p:spPr>
        <p:txBody>
          <a:bodyPr wrap="square">
            <a:spAutoFit/>
          </a:bodyPr>
          <a:lstStyle/>
          <a:p>
            <a:pPr algn="l">
              <a:defRPr sz="1500" b="1">
                <a:solidFill>
                  <a:srgbClr val="111827"/>
                </a:solidFill>
                <a:latin typeface="Calibri"/>
              </a:defRPr>
            </a:pPr>
            <a:r>
              <a:t>Cơ chế vận hành tự động hóa &amp; Quản trị</a:t>
            </a:r>
          </a:p>
        </p:txBody>
      </p:sp>
      <p:sp>
        <p:nvSpPr>
          <p:cNvPr id="11" name="TextBox 10"/>
          <p:cNvSpPr txBox="1"/>
          <p:nvPr/>
        </p:nvSpPr>
        <p:spPr>
          <a:xfrm>
            <a:off x="914400" y="4343400"/>
            <a:ext cx="1033272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100" b="1">
                <a:solidFill>
                  <a:srgbClr val="111827"/>
                </a:solidFill>
                <a:latin typeface="Calibri"/>
              </a:rPr>
              <a:t>Content Plan &amp; Direction: </a:t>
            </a:r>
            <a:r>
              <a:rPr sz="1100">
                <a:solidFill>
                  <a:srgbClr val="374151"/>
                </a:solidFill>
                <a:latin typeface="Calibri"/>
              </a:rPr>
              <a:t>Quy hoạch từ khóa phân cấp (Topic → Cluster → Keyword) làm định hướng sản xuất nội dung có chủ đích, ngăn chặn chồng chéo từ khóa.</a:t>
            </a:r>
          </a:p>
          <a:p>
            <a:pPr>
              <a:spcBef>
                <a:spcPts val="200"/>
              </a:spcBef>
              <a:spcAft>
                <a:spcPts val="1000"/>
              </a:spcAft>
            </a:pPr>
            <a:r>
              <a:rPr sz="700">
                <a:solidFill>
                  <a:srgbClr val="A50064"/>
                </a:solidFill>
                <a:latin typeface="Calibri"/>
              </a:rPr>
              <a:t>●  </a:t>
            </a:r>
            <a:r>
              <a:rPr sz="1100" b="1">
                <a:solidFill>
                  <a:srgbClr val="111827"/>
                </a:solidFill>
                <a:latin typeface="Calibri"/>
              </a:rPr>
              <a:t>Quản trị CMS linh hoạt &amp; Phân quyền rõ ràng: </a:t>
            </a:r>
            <a:r>
              <a:rPr sz="1100">
                <a:solidFill>
                  <a:srgbClr val="374151"/>
                </a:solidFill>
                <a:latin typeface="Calibri"/>
              </a:rPr>
              <a:t>Cho phép xây dựng, cập nhật nội dung tức thời mà không cần deploy lại hệ thống. Phân quyền rõ ràng giữa Platform Team (kiểm soát Technical Gate &amp; Template chuẩn) và Cell Teams (tự chủ quản trị, biên tập nội dung).</a:t>
            </a:r>
          </a:p>
          <a:p>
            <a:pPr>
              <a:spcBef>
                <a:spcPts val="200"/>
              </a:spcBef>
              <a:spcAft>
                <a:spcPts val="1000"/>
              </a:spcAft>
            </a:pPr>
            <a:r>
              <a:rPr sz="700">
                <a:solidFill>
                  <a:srgbClr val="A50064"/>
                </a:solidFill>
                <a:latin typeface="Calibri"/>
              </a:rPr>
              <a:t>●  </a:t>
            </a:r>
            <a:r>
              <a:rPr sz="1100" b="1">
                <a:solidFill>
                  <a:srgbClr val="111827"/>
                </a:solidFill>
                <a:latin typeface="Calibri"/>
              </a:rPr>
              <a:t>Tích hợp đa dạng AI Model (GenAI Content): </a:t>
            </a:r>
            <a:r>
              <a:rPr sz="1100">
                <a:solidFill>
                  <a:srgbClr val="374151"/>
                </a:solidFill>
                <a:latin typeface="Calibri"/>
              </a:rPr>
              <a:t>Kết nối linh hoạt nhiều mô hình AI khác nhau để tự động hóa sản xuất bài viết chuẩn SEO và thiết kế hình ảnh chuẩn Brand Guideline.</a:t>
            </a:r>
          </a:p>
          <a:p>
            <a:pPr>
              <a:spcBef>
                <a:spcPts val="200"/>
              </a:spcBef>
              <a:spcAft>
                <a:spcPts val="1000"/>
              </a:spcAft>
            </a:pPr>
            <a:r>
              <a:rPr sz="700">
                <a:solidFill>
                  <a:srgbClr val="A50064"/>
                </a:solidFill>
                <a:latin typeface="Calibri"/>
              </a:rPr>
              <a:t>●  </a:t>
            </a:r>
            <a:r>
              <a:rPr sz="1100" b="1">
                <a:solidFill>
                  <a:srgbClr val="111827"/>
                </a:solidFill>
                <a:latin typeface="Calibri"/>
              </a:rPr>
              <a:t>Cổng kiểm duyệt chất lượng &amp; pháp lý (Quality Gate): </a:t>
            </a:r>
            <a:r>
              <a:rPr sz="1100">
                <a:solidFill>
                  <a:srgbClr val="374151"/>
                </a:solidFill>
                <a:latin typeface="Calibri"/>
              </a:rPr>
              <a:t>Đóng gói Prompt riêng biệt để chặn nội dung vi phạm pháp lý hoặc các từ khóa nhạy cảm về mặt tài chính.</a:t>
            </a:r>
          </a:p>
          <a:p>
            <a:pPr>
              <a:spcBef>
                <a:spcPts val="200"/>
              </a:spcBef>
              <a:spcAft>
                <a:spcPts val="1000"/>
              </a:spcAft>
            </a:pPr>
            <a:r>
              <a:rPr sz="700">
                <a:solidFill>
                  <a:srgbClr val="A50064"/>
                </a:solidFill>
                <a:latin typeface="Calibri"/>
              </a:rPr>
              <a:t>●  </a:t>
            </a:r>
            <a:r>
              <a:rPr sz="1100" b="1">
                <a:solidFill>
                  <a:srgbClr val="111827"/>
                </a:solidFill>
                <a:latin typeface="Calibri"/>
              </a:rPr>
              <a:t>Quy trình phê duyệt 2 lớp (Human-in-the-loop): </a:t>
            </a:r>
            <a:r>
              <a:rPr sz="1100">
                <a:solidFill>
                  <a:srgbClr val="374151"/>
                </a:solidFill>
                <a:latin typeface="Calibri"/>
              </a:rPr>
              <a:t>AI sinh dàn ý → PM phê duyệt → AI sinh bài chi tiết để xuất bản.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09  —  CASE STUDY: PHẠT NGUỘI</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4. SEO/GEO Performance — Hiệu Quả Thực Tế</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Số liệu tháng 6/2026</a:t>
            </a:r>
          </a:p>
        </p:txBody>
      </p:sp>
      <p:graphicFrame>
        <p:nvGraphicFramePr>
          <p:cNvPr id="5" name="Table 4"/>
          <p:cNvGraphicFramePr>
            <a:graphicFrameLocks noGrp="1"/>
          </p:cNvGraphicFramePr>
          <p:nvPr/>
        </p:nvGraphicFramePr>
        <p:xfrm>
          <a:off x="914400" y="1828800"/>
          <a:ext cx="10332720" cy="1188720"/>
        </p:xfrm>
        <a:graphic>
          <a:graphicData uri="http://schemas.openxmlformats.org/drawingml/2006/table">
            <a:tbl>
              <a:tblPr firstRow="1" bandRow="1">
                <a:tableStyleId>{5C22544A-7EE6-4342-B048-85BDC9FD1C3A}</a:tableStyleId>
              </a:tblPr>
              <a:tblGrid>
                <a:gridCol w="3447288"/>
                <a:gridCol w="3447288"/>
                <a:gridCol w="3438144"/>
              </a:tblGrid>
              <a:tr h="548640">
                <a:tc>
                  <a:txBody>
                    <a:bodyPr/>
                    <a:lstStyle/>
                    <a:p>
                      <a:pPr algn="ctr">
                        <a:defRPr sz="2600" b="1">
                          <a:solidFill>
                            <a:srgbClr val="A50064"/>
                          </a:solidFill>
                          <a:latin typeface="Calibri"/>
                        </a:defRPr>
                      </a:pPr>
                      <a:r>
                        <a:t>267.3K</a:t>
                      </a:r>
                    </a:p>
                  </a:txBody>
                  <a:tcPr>
                    <a:solidFill>
                      <a:srgbClr val="F9FAFB"/>
                    </a:solidFill>
                  </a:tcPr>
                </a:tc>
                <a:tc>
                  <a:txBody>
                    <a:bodyPr/>
                    <a:lstStyle/>
                    <a:p>
                      <a:pPr algn="ctr">
                        <a:defRPr sz="2600" b="1">
                          <a:solidFill>
                            <a:srgbClr val="A50064"/>
                          </a:solidFill>
                          <a:latin typeface="Calibri"/>
                        </a:defRPr>
                      </a:pPr>
                      <a:r>
                        <a:t>78.16%</a:t>
                      </a:r>
                    </a:p>
                  </a:txBody>
                  <a:tcPr>
                    <a:solidFill>
                      <a:srgbClr val="F9FAFB"/>
                    </a:solidFill>
                  </a:tcPr>
                </a:tc>
                <a:tc>
                  <a:txBody>
                    <a:bodyPr/>
                    <a:lstStyle/>
                    <a:p>
                      <a:pPr algn="ctr">
                        <a:defRPr sz="2600" b="1">
                          <a:solidFill>
                            <a:srgbClr val="A50064"/>
                          </a:solidFill>
                          <a:latin typeface="Calibri"/>
                        </a:defRPr>
                      </a:pPr>
                      <a:r>
                        <a:t>14,886</a:t>
                      </a:r>
                    </a:p>
                  </a:txBody>
                  <a:tcPr>
                    <a:solidFill>
                      <a:srgbClr val="F9FAFB"/>
                    </a:solidFill>
                  </a:tcPr>
                </a:tc>
              </a:tr>
              <a:tr h="274320">
                <a:tc>
                  <a:txBody>
                    <a:bodyPr/>
                    <a:lstStyle/>
                    <a:p>
                      <a:pPr algn="ctr">
                        <a:defRPr sz="1000" b="1">
                          <a:solidFill>
                            <a:srgbClr val="10B981"/>
                          </a:solidFill>
                          <a:latin typeface="Calibri"/>
                        </a:defRPr>
                      </a:pPr>
                      <a:r>
                        <a:t>+17.1% MoM</a:t>
                      </a:r>
                    </a:p>
                  </a:txBody>
                  <a:tcPr>
                    <a:solidFill>
                      <a:srgbClr val="F9FAFB"/>
                    </a:solidFill>
                  </a:tcPr>
                </a:tc>
                <a:tc>
                  <a:txBody>
                    <a:bodyPr/>
                    <a:lstStyle/>
                    <a:p>
                      <a:pPr algn="ctr">
                        <a:defRPr sz="1000" b="1">
                          <a:solidFill>
                            <a:srgbClr val="E5E7EB"/>
                          </a:solidFill>
                          <a:latin typeface="Calibri"/>
                        </a:defRPr>
                      </a:pPr>
                      <a:r>
                        <a:t>—</a:t>
                      </a:r>
                    </a:p>
                  </a:txBody>
                  <a:tcPr>
                    <a:solidFill>
                      <a:srgbClr val="F9FAFB"/>
                    </a:solidFill>
                  </a:tcPr>
                </a:tc>
                <a:tc>
                  <a:txBody>
                    <a:bodyPr/>
                    <a:lstStyle/>
                    <a:p>
                      <a:pPr algn="ctr">
                        <a:defRPr sz="1000" b="1">
                          <a:solidFill>
                            <a:srgbClr val="10B981"/>
                          </a:solidFill>
                          <a:latin typeface="Calibri"/>
                        </a:defRPr>
                      </a:pPr>
                      <a:r>
                        <a:t>+47.4% MoM</a:t>
                      </a:r>
                    </a:p>
                  </a:txBody>
                  <a:tcPr>
                    <a:solidFill>
                      <a:srgbClr val="F9FAFB"/>
                    </a:solidFill>
                  </a:tcPr>
                </a:tc>
              </a:tr>
              <a:tr h="365760">
                <a:tc>
                  <a:txBody>
                    <a:bodyPr/>
                    <a:lstStyle/>
                    <a:p>
                      <a:pPr algn="ctr">
                        <a:defRPr sz="1000">
                          <a:solidFill>
                            <a:srgbClr val="6B7280"/>
                          </a:solidFill>
                          <a:latin typeface="Calibri"/>
                        </a:defRPr>
                      </a:pPr>
                      <a:r>
                        <a:t>Views</a:t>
                      </a:r>
                    </a:p>
                  </a:txBody>
                  <a:tcPr>
                    <a:solidFill>
                      <a:srgbClr val="F9FAFB"/>
                    </a:solidFill>
                  </a:tcPr>
                </a:tc>
                <a:tc>
                  <a:txBody>
                    <a:bodyPr/>
                    <a:lstStyle/>
                    <a:p>
                      <a:pPr algn="ctr">
                        <a:defRPr sz="1000">
                          <a:solidFill>
                            <a:srgbClr val="6B7280"/>
                          </a:solidFill>
                          <a:latin typeface="Calibri"/>
                        </a:defRPr>
                      </a:pPr>
                      <a:r>
                        <a:t>Tỷ lệ điền tra cứu</a:t>
                      </a:r>
                    </a:p>
                  </a:txBody>
                  <a:tcPr>
                    <a:solidFill>
                      <a:srgbClr val="F9FAFB"/>
                    </a:solidFill>
                  </a:tcPr>
                </a:tc>
                <a:tc>
                  <a:txBody>
                    <a:bodyPr/>
                    <a:lstStyle/>
                    <a:p>
                      <a:pPr algn="ctr">
                        <a:defRPr sz="1000">
                          <a:solidFill>
                            <a:srgbClr val="6B7280"/>
                          </a:solidFill>
                          <a:latin typeface="Calibri"/>
                        </a:defRPr>
                      </a:pPr>
                      <a:r>
                        <a:t>Lượt đăng nhập App từ Web</a:t>
                      </a:r>
                    </a:p>
                  </a:txBody>
                  <a:tcPr>
                    <a:solidFill>
                      <a:srgbClr val="F9FAFB"/>
                    </a:solidFill>
                  </a:tcPr>
                </a:tc>
              </a:tr>
            </a:tbl>
          </a:graphicData>
        </a:graphic>
      </p:graphicFrame>
      <p:sp>
        <p:nvSpPr>
          <p:cNvPr id="6" name="Rectangle 5"/>
          <p:cNvSpPr/>
          <p:nvPr/>
        </p:nvSpPr>
        <p:spPr>
          <a:xfrm>
            <a:off x="914400" y="337413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3337560"/>
            <a:ext cx="9144000" cy="320040"/>
          </a:xfrm>
          <a:prstGeom prst="rect">
            <a:avLst/>
          </a:prstGeom>
          <a:noFill/>
        </p:spPr>
        <p:txBody>
          <a:bodyPr wrap="square">
            <a:spAutoFit/>
          </a:bodyPr>
          <a:lstStyle/>
          <a:p>
            <a:pPr algn="l">
              <a:defRPr sz="1500" b="1">
                <a:solidFill>
                  <a:srgbClr val="111827"/>
                </a:solidFill>
                <a:latin typeface="Calibri"/>
              </a:defRPr>
            </a:pPr>
            <a:r>
              <a:t>Kênh dẫn dắt Login App &amp; Tăng trưởng MAU (Ecosystem Entry Point)</a:t>
            </a:r>
          </a:p>
        </p:txBody>
      </p:sp>
      <p:sp>
        <p:nvSpPr>
          <p:cNvPr id="8" name="TextBox 7"/>
          <p:cNvSpPr txBox="1"/>
          <p:nvPr/>
        </p:nvSpPr>
        <p:spPr>
          <a:xfrm>
            <a:off x="914400" y="3749039"/>
            <a:ext cx="1033272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b="1">
                <a:solidFill>
                  <a:srgbClr val="111827"/>
                </a:solidFill>
                <a:latin typeface="Calibri"/>
              </a:rPr>
              <a:t>Kênh mang lại Login App hiệu quả: </a:t>
            </a:r>
            <a:r>
              <a:rPr sz="1200">
                <a:solidFill>
                  <a:srgbClr val="374151"/>
                </a:solidFill>
                <a:latin typeface="Calibri"/>
              </a:rPr>
              <a:t>Chứng minh Web là phễu gom và điều hướng người dùng ngoài App vào App MoMo tối ưu.</a:t>
            </a:r>
          </a:p>
          <a:p>
            <a:pPr>
              <a:spcBef>
                <a:spcPts val="200"/>
              </a:spcBef>
              <a:spcAft>
                <a:spcPts val="1000"/>
              </a:spcAft>
            </a:pPr>
            <a:r>
              <a:rPr sz="700">
                <a:solidFill>
                  <a:srgbClr val="A50064"/>
                </a:solidFill>
                <a:latin typeface="Calibri"/>
              </a:rPr>
              <a:t>●  </a:t>
            </a:r>
            <a:r>
              <a:rPr sz="1200" b="1">
                <a:solidFill>
                  <a:srgbClr val="111827"/>
                </a:solidFill>
                <a:latin typeface="Calibri"/>
              </a:rPr>
              <a:t>Tăng trưởng MAU cho các dịch vụ khác trong hệ sinh thái: </a:t>
            </a:r>
            <a:r>
              <a:rPr sz="1200">
                <a:solidFill>
                  <a:srgbClr val="374151"/>
                </a:solidFill>
                <a:latin typeface="Calibri"/>
              </a:rPr>
              <a:t>Ghi nhận 9,825 người dùng đăng nhập thành công phát sinh giao dịch chéo (Ví Trả Sau, Bảo hiểm...), chiếm 66.0% tổng lượng đăng nhập từ Web.</a:t>
            </a:r>
          </a:p>
        </p:txBody>
      </p:sp>
      <p:sp>
        <p:nvSpPr>
          <p:cNvPr id="9" name="Rectangle 8"/>
          <p:cNvSpPr/>
          <p:nvPr/>
        </p:nvSpPr>
        <p:spPr>
          <a:xfrm>
            <a:off x="914400" y="493776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515721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5120640"/>
            <a:ext cx="9144000" cy="320040"/>
          </a:xfrm>
          <a:prstGeom prst="rect">
            <a:avLst/>
          </a:prstGeom>
          <a:noFill/>
        </p:spPr>
        <p:txBody>
          <a:bodyPr wrap="square">
            <a:spAutoFit/>
          </a:bodyPr>
          <a:lstStyle/>
          <a:p>
            <a:pPr algn="l">
              <a:defRPr sz="1500" b="1">
                <a:solidFill>
                  <a:srgbClr val="111827"/>
                </a:solidFill>
                <a:latin typeface="Calibri"/>
              </a:defRPr>
            </a:pPr>
            <a:r>
              <a:t>Hiệu quả hiển thị trên AI Search (GEO)</a:t>
            </a:r>
          </a:p>
        </p:txBody>
      </p:sp>
      <p:graphicFrame>
        <p:nvGraphicFramePr>
          <p:cNvPr id="12" name="Table 11"/>
          <p:cNvGraphicFramePr>
            <a:graphicFrameLocks noGrp="1"/>
          </p:cNvGraphicFramePr>
          <p:nvPr/>
        </p:nvGraphicFramePr>
        <p:xfrm>
          <a:off x="914400" y="5486400"/>
          <a:ext cx="10332720" cy="822960"/>
        </p:xfrm>
        <a:graphic>
          <a:graphicData uri="http://schemas.openxmlformats.org/drawingml/2006/table">
            <a:tbl>
              <a:tblPr firstRow="1" bandRow="1">
                <a:tableStyleId>{5C22544A-7EE6-4342-B048-85BDC9FD1C3A}</a:tableStyleId>
              </a:tblPr>
              <a:tblGrid>
                <a:gridCol w="3447288"/>
                <a:gridCol w="3447288"/>
                <a:gridCol w="3438144"/>
              </a:tblGrid>
              <a:tr h="457200">
                <a:tc>
                  <a:txBody>
                    <a:bodyPr/>
                    <a:lstStyle/>
                    <a:p>
                      <a:pPr algn="ctr">
                        <a:defRPr sz="2200" b="1">
                          <a:solidFill>
                            <a:srgbClr val="A50064"/>
                          </a:solidFill>
                          <a:latin typeface="Calibri"/>
                        </a:defRPr>
                      </a:pPr>
                      <a:r>
                        <a:t>1,920</a:t>
                      </a:r>
                    </a:p>
                  </a:txBody>
                  <a:tcPr>
                    <a:solidFill>
                      <a:srgbClr val="F9FAFB"/>
                    </a:solidFill>
                  </a:tcPr>
                </a:tc>
                <a:tc>
                  <a:txBody>
                    <a:bodyPr/>
                    <a:lstStyle/>
                    <a:p>
                      <a:pPr algn="ctr">
                        <a:defRPr sz="2200" b="1">
                          <a:solidFill>
                            <a:srgbClr val="A50064"/>
                          </a:solidFill>
                          <a:latin typeface="Calibri"/>
                        </a:defRPr>
                      </a:pPr>
                      <a:r>
                        <a:t>697</a:t>
                      </a:r>
                    </a:p>
                  </a:txBody>
                  <a:tcPr>
                    <a:solidFill>
                      <a:srgbClr val="F9FAFB"/>
                    </a:solidFill>
                  </a:tcPr>
                </a:tc>
                <a:tc>
                  <a:txBody>
                    <a:bodyPr/>
                    <a:lstStyle/>
                    <a:p>
                      <a:pPr algn="ctr">
                        <a:defRPr sz="2200" b="1">
                          <a:solidFill>
                            <a:srgbClr val="A50064"/>
                          </a:solidFill>
                          <a:latin typeface="Calibri"/>
                        </a:defRPr>
                      </a:pPr>
                      <a:r>
                        <a:t>7.84%</a:t>
                      </a:r>
                    </a:p>
                  </a:txBody>
                  <a:tcPr>
                    <a:solidFill>
                      <a:srgbClr val="F9FAFB"/>
                    </a:solidFill>
                  </a:tcPr>
                </a:tc>
              </a:tr>
              <a:tr h="365760">
                <a:tc>
                  <a:txBody>
                    <a:bodyPr/>
                    <a:lstStyle/>
                    <a:p>
                      <a:pPr algn="ctr">
                        <a:defRPr sz="1000">
                          <a:solidFill>
                            <a:srgbClr val="6B7280"/>
                          </a:solidFill>
                          <a:latin typeface="Calibri"/>
                        </a:defRPr>
                      </a:pPr>
                      <a:r>
                        <a:t>searches/tháng — Branded Search</a:t>
                      </a:r>
                    </a:p>
                  </a:txBody>
                  <a:tcPr>
                    <a:solidFill>
                      <a:srgbClr val="F9FAFB"/>
                    </a:solidFill>
                  </a:tcPr>
                </a:tc>
                <a:tc>
                  <a:txBody>
                    <a:bodyPr/>
                    <a:lstStyle/>
                    <a:p>
                      <a:pPr algn="ctr">
                        <a:defRPr sz="1000">
                          <a:solidFill>
                            <a:srgbClr val="6B7280"/>
                          </a:solidFill>
                          <a:latin typeface="Calibri"/>
                        </a:defRPr>
                      </a:pPr>
                      <a:r>
                        <a:t>lượt trích dẫn — GEO Citations</a:t>
                      </a:r>
                    </a:p>
                  </a:txBody>
                  <a:tcPr>
                    <a:solidFill>
                      <a:srgbClr val="F9FAFB"/>
                    </a:solidFill>
                  </a:tcPr>
                </a:tc>
                <a:tc>
                  <a:txBody>
                    <a:bodyPr/>
                    <a:lstStyle/>
                    <a:p>
                      <a:pPr algn="ctr">
                        <a:defRPr sz="1000">
                          <a:solidFill>
                            <a:srgbClr val="6B7280"/>
                          </a:solidFill>
                          <a:latin typeface="Calibri"/>
                        </a:defRPr>
                      </a:pPr>
                      <a:r>
                        <a:t>SoA trên ChatGPT/Perplexity</a:t>
                      </a:r>
                    </a:p>
                  </a:txBody>
                  <a:tcPr>
                    <a:solidFill>
                      <a:srgbClr val="F9FAFB"/>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10  —  VẬN HÀNH</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Quy Trình Vận Hành &amp; Điều Kiện Tiên Quyết</a:t>
            </a:r>
          </a:p>
        </p:txBody>
      </p:sp>
      <p:sp>
        <p:nvSpPr>
          <p:cNvPr id="4" name="TextBox 3"/>
          <p:cNvSpPr txBox="1"/>
          <p:nvPr/>
        </p:nvSpPr>
        <p:spPr>
          <a:xfrm>
            <a:off x="914400" y="1417320"/>
            <a:ext cx="10332720" cy="365760"/>
          </a:xfrm>
          <a:prstGeom prst="rect">
            <a:avLst/>
          </a:prstGeom>
          <a:noFill/>
        </p:spPr>
        <p:txBody>
          <a:bodyPr wrap="square">
            <a:spAutoFit/>
          </a:bodyPr>
          <a:lstStyle/>
          <a:p>
            <a:pPr algn="l">
              <a:defRPr sz="1200" b="0">
                <a:solidFill>
                  <a:srgbClr val="6B7280"/>
                </a:solidFill>
                <a:latin typeface="Calibri"/>
              </a:defRPr>
            </a:pPr>
            <a:r>
              <a:t>Để bắt đầu một dự án Product Growth mới trên nền tảng MoSpark, Cell Team và Web Platform cần đáp ứng các điều kiện cốt lõi sau</a:t>
            </a:r>
          </a:p>
        </p:txBody>
      </p:sp>
      <p:sp>
        <p:nvSpPr>
          <p:cNvPr id="5" name="Rectangle 4"/>
          <p:cNvSpPr/>
          <p:nvPr/>
        </p:nvSpPr>
        <p:spPr>
          <a:xfrm>
            <a:off x="914400" y="200253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 y="1965960"/>
            <a:ext cx="9144000" cy="320040"/>
          </a:xfrm>
          <a:prstGeom prst="rect">
            <a:avLst/>
          </a:prstGeom>
          <a:noFill/>
        </p:spPr>
        <p:txBody>
          <a:bodyPr wrap="square">
            <a:spAutoFit/>
          </a:bodyPr>
          <a:lstStyle/>
          <a:p>
            <a:pPr algn="l">
              <a:defRPr sz="1500" b="1">
                <a:solidFill>
                  <a:srgbClr val="111827"/>
                </a:solidFill>
                <a:latin typeface="Calibri"/>
              </a:defRPr>
            </a:pPr>
            <a:r>
              <a:t>Hai điều kiện tiên quyết áp dụng Use Case</a:t>
            </a:r>
          </a:p>
        </p:txBody>
      </p:sp>
      <p:sp>
        <p:nvSpPr>
          <p:cNvPr id="7" name="TextBox 6"/>
          <p:cNvSpPr txBox="1"/>
          <p:nvPr/>
        </p:nvSpPr>
        <p:spPr>
          <a:xfrm>
            <a:off x="914400" y="2331720"/>
            <a:ext cx="1033272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200" b="1">
                <a:solidFill>
                  <a:srgbClr val="111827"/>
                </a:solidFill>
                <a:latin typeface="Calibri"/>
              </a:rPr>
              <a:t>Sản phẩm phù hợp tinh thần Product-Led Growth: </a:t>
            </a:r>
            <a:r>
              <a:rPr sz="1200">
                <a:solidFill>
                  <a:srgbClr val="374151"/>
                </a:solidFill>
                <a:latin typeface="Calibri"/>
              </a:rPr>
              <a:t>Cell Team sở hữu sản phẩm hoặc công cụ tiện ích tương tác giải quyết trực tiếp nhu cầu (JTBD) của người dùng trên Web (thay vì bài viết thông tin đơn thuần).</a:t>
            </a:r>
          </a:p>
          <a:p>
            <a:pPr>
              <a:spcBef>
                <a:spcPts val="200"/>
              </a:spcBef>
              <a:spcAft>
                <a:spcPts val="1000"/>
              </a:spcAft>
            </a:pPr>
            <a:r>
              <a:rPr sz="700">
                <a:solidFill>
                  <a:srgbClr val="A50064"/>
                </a:solidFill>
                <a:latin typeface="Calibri"/>
              </a:rPr>
              <a:t>●  </a:t>
            </a:r>
            <a:r>
              <a:rPr sz="1200" b="1">
                <a:solidFill>
                  <a:srgbClr val="111827"/>
                </a:solidFill>
                <a:latin typeface="Calibri"/>
              </a:rPr>
              <a:t>Cam kết đầu tư tiếp thị (SEO/GEO &amp; Off-Page): </a:t>
            </a:r>
            <a:r>
              <a:rPr sz="1200">
                <a:solidFill>
                  <a:srgbClr val="374151"/>
                </a:solidFill>
                <a:latin typeface="Calibri"/>
              </a:rPr>
              <a:t>Cell Team sẵn sàng đầu tư ngân sách và nguồn lực tiếp thị tương ứng để tạo lực đẩy traffic ban đầu và xây dựng Domain Authority.</a:t>
            </a:r>
          </a:p>
        </p:txBody>
      </p:sp>
      <p:sp>
        <p:nvSpPr>
          <p:cNvPr id="8" name="Rectangle 7"/>
          <p:cNvSpPr/>
          <p:nvPr/>
        </p:nvSpPr>
        <p:spPr>
          <a:xfrm>
            <a:off x="914400" y="3474720"/>
            <a:ext cx="1033272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69417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657600"/>
            <a:ext cx="4572000" cy="320040"/>
          </a:xfrm>
          <a:prstGeom prst="rect">
            <a:avLst/>
          </a:prstGeom>
          <a:noFill/>
        </p:spPr>
        <p:txBody>
          <a:bodyPr wrap="square">
            <a:spAutoFit/>
          </a:bodyPr>
          <a:lstStyle/>
          <a:p>
            <a:pPr algn="l">
              <a:defRPr sz="1500" b="1">
                <a:solidFill>
                  <a:srgbClr val="111827"/>
                </a:solidFill>
                <a:latin typeface="Calibri"/>
              </a:defRPr>
            </a:pPr>
            <a:r>
              <a:t>Dữ liệu đầu vào cần chuẩn bị</a:t>
            </a:r>
          </a:p>
        </p:txBody>
      </p:sp>
      <p:sp>
        <p:nvSpPr>
          <p:cNvPr id="11" name="TextBox 10"/>
          <p:cNvSpPr txBox="1"/>
          <p:nvPr/>
        </p:nvSpPr>
        <p:spPr>
          <a:xfrm>
            <a:off x="1097280" y="402336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100" b="1">
                <a:solidFill>
                  <a:srgbClr val="111827"/>
                </a:solidFill>
                <a:latin typeface="Calibri"/>
              </a:rPr>
              <a:t>Tài liệu nghiệp vụ (Markdown): </a:t>
            </a:r>
            <a:r>
              <a:rPr sz="1100">
                <a:solidFill>
                  <a:srgbClr val="374151"/>
                </a:solidFill>
                <a:latin typeface="Calibri"/>
              </a:rPr>
              <a:t>Đặc tả nghiệp vụ, luật pháp, USP và thông điệp sản phẩm.</a:t>
            </a:r>
          </a:p>
          <a:p>
            <a:pPr>
              <a:spcBef>
                <a:spcPts val="200"/>
              </a:spcBef>
              <a:spcAft>
                <a:spcPts val="1000"/>
              </a:spcAft>
            </a:pPr>
            <a:r>
              <a:rPr sz="700">
                <a:solidFill>
                  <a:srgbClr val="A50064"/>
                </a:solidFill>
                <a:latin typeface="Calibri"/>
              </a:rPr>
              <a:t>●  </a:t>
            </a:r>
            <a:r>
              <a:rPr sz="1100" b="1">
                <a:solidFill>
                  <a:srgbClr val="111827"/>
                </a:solidFill>
                <a:latin typeface="Calibri"/>
              </a:rPr>
              <a:t>Danh sách nghiên cứu từ khóa (CSV): </a:t>
            </a:r>
            <a:r>
              <a:rPr sz="1100">
                <a:solidFill>
                  <a:srgbClr val="374151"/>
                </a:solidFill>
                <a:latin typeface="Calibri"/>
              </a:rPr>
              <a:t>Danh mục từ khóa phân cấp kèm volume search thị trường.</a:t>
            </a:r>
          </a:p>
          <a:p>
            <a:pPr>
              <a:spcBef>
                <a:spcPts val="200"/>
              </a:spcBef>
              <a:spcAft>
                <a:spcPts val="1000"/>
              </a:spcAft>
            </a:pPr>
            <a:r>
              <a:rPr sz="700">
                <a:solidFill>
                  <a:srgbClr val="A50064"/>
                </a:solidFill>
                <a:latin typeface="Calibri"/>
              </a:rPr>
              <a:t>●  </a:t>
            </a:r>
            <a:r>
              <a:rPr sz="1100" b="1">
                <a:solidFill>
                  <a:srgbClr val="111827"/>
                </a:solidFill>
                <a:latin typeface="Calibri"/>
              </a:rPr>
              <a:t>Prompt &amp; API Keys riêng biệt: </a:t>
            </a:r>
            <a:r>
              <a:rPr sz="1100">
                <a:solidFill>
                  <a:srgbClr val="374151"/>
                </a:solidFill>
                <a:latin typeface="Calibri"/>
              </a:rPr>
              <a:t>Cấu hình Prompt phù hợp ngành hàng và gán API key riêng.</a:t>
            </a:r>
          </a:p>
        </p:txBody>
      </p:sp>
      <p:sp>
        <p:nvSpPr>
          <p:cNvPr id="12" name="Rectangle 11"/>
          <p:cNvSpPr/>
          <p:nvPr/>
        </p:nvSpPr>
        <p:spPr>
          <a:xfrm>
            <a:off x="6400800" y="3694176"/>
            <a:ext cx="45720" cy="237744"/>
          </a:xfrm>
          <a:prstGeom prst="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3657600"/>
            <a:ext cx="4572000" cy="320040"/>
          </a:xfrm>
          <a:prstGeom prst="rect">
            <a:avLst/>
          </a:prstGeom>
          <a:noFill/>
        </p:spPr>
        <p:txBody>
          <a:bodyPr wrap="square">
            <a:spAutoFit/>
          </a:bodyPr>
          <a:lstStyle/>
          <a:p>
            <a:pPr algn="l">
              <a:defRPr sz="1500" b="1">
                <a:solidFill>
                  <a:srgbClr val="111827"/>
                </a:solidFill>
                <a:latin typeface="Calibri"/>
              </a:defRPr>
            </a:pPr>
            <a:r>
              <a:t>Quy trình phê duyệt &amp; Kích hoạt</a:t>
            </a:r>
          </a:p>
        </p:txBody>
      </p:sp>
      <p:sp>
        <p:nvSpPr>
          <p:cNvPr id="14" name="TextBox 13"/>
          <p:cNvSpPr txBox="1"/>
          <p:nvPr/>
        </p:nvSpPr>
        <p:spPr>
          <a:xfrm>
            <a:off x="6583680" y="4023360"/>
            <a:ext cx="4754880" cy="4572000"/>
          </a:xfrm>
          <a:prstGeom prst="rect">
            <a:avLst/>
          </a:prstGeom>
          <a:noFill/>
        </p:spPr>
        <p:txBody>
          <a:bodyPr wrap="square">
            <a:spAutoFit/>
          </a:bodyPr>
          <a:lstStyle/>
          <a:p>
            <a:pPr>
              <a:spcBef>
                <a:spcPts val="200"/>
              </a:spcBef>
              <a:spcAft>
                <a:spcPts val="1000"/>
              </a:spcAft>
            </a:pPr>
            <a:r>
              <a:rPr sz="700">
                <a:solidFill>
                  <a:srgbClr val="A50064"/>
                </a:solidFill>
                <a:latin typeface="Calibri"/>
              </a:rPr>
              <a:t>●  </a:t>
            </a:r>
            <a:r>
              <a:rPr sz="1100" b="1">
                <a:solidFill>
                  <a:srgbClr val="111827"/>
                </a:solidFill>
                <a:latin typeface="Calibri"/>
              </a:rPr>
              <a:t>Technical Readiness: </a:t>
            </a:r>
            <a:r>
              <a:rPr sz="1100">
                <a:solidFill>
                  <a:srgbClr val="374151"/>
                </a:solidFill>
                <a:latin typeface="Calibri"/>
              </a:rPr>
              <a:t>Core API của Cell Team hoàn tất kết nối kỹ thuật cho luồng Web-to-App.</a:t>
            </a:r>
          </a:p>
          <a:p>
            <a:pPr>
              <a:spcBef>
                <a:spcPts val="200"/>
              </a:spcBef>
              <a:spcAft>
                <a:spcPts val="1000"/>
              </a:spcAft>
            </a:pPr>
            <a:r>
              <a:rPr sz="700">
                <a:solidFill>
                  <a:srgbClr val="A50064"/>
                </a:solidFill>
                <a:latin typeface="Calibri"/>
              </a:rPr>
              <a:t>●  </a:t>
            </a:r>
            <a:r>
              <a:rPr sz="1100" b="1">
                <a:solidFill>
                  <a:srgbClr val="111827"/>
                </a:solidFill>
                <a:latin typeface="Calibri"/>
              </a:rPr>
              <a:t>Quyết định phê duyệt: </a:t>
            </a:r>
            <a:r>
              <a:rPr sz="1100">
                <a:solidFill>
                  <a:srgbClr val="374151"/>
                </a:solidFill>
                <a:latin typeface="Calibri"/>
              </a:rPr>
              <a:t>Đánh giá mức độ sẵn sàng kỹ thuật và chất lượng bởi Web Product Lead để kích hoạt dự án trên hệ thống MoSpark.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457200"/>
            <a:ext cx="3200400" cy="292608"/>
          </a:xfrm>
          <a:prstGeom prst="roundRect">
            <a:avLst/>
          </a:prstGeom>
          <a:solidFill>
            <a:srgbClr val="A50064"/>
          </a:solidFill>
          <a:ln>
            <a:no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defRPr sz="1000" b="1">
                <a:solidFill>
                  <a:srgbClr val="FFFFFF"/>
                </a:solidFill>
                <a:latin typeface="Calibri"/>
              </a:defRPr>
            </a:pPr>
            <a:r>
              <a:t>SLIDE 11  —  ĐO LƯỜNG</a:t>
            </a:r>
          </a:p>
        </p:txBody>
      </p:sp>
      <p:sp>
        <p:nvSpPr>
          <p:cNvPr id="3" name="TextBox 2"/>
          <p:cNvSpPr txBox="1"/>
          <p:nvPr/>
        </p:nvSpPr>
        <p:spPr>
          <a:xfrm>
            <a:off x="914400" y="914400"/>
            <a:ext cx="10332720" cy="502920"/>
          </a:xfrm>
          <a:prstGeom prst="rect">
            <a:avLst/>
          </a:prstGeom>
          <a:noFill/>
        </p:spPr>
        <p:txBody>
          <a:bodyPr wrap="square">
            <a:spAutoFit/>
          </a:bodyPr>
          <a:lstStyle/>
          <a:p>
            <a:pPr algn="l">
              <a:defRPr sz="2400" b="1">
                <a:solidFill>
                  <a:srgbClr val="111827"/>
                </a:solidFill>
                <a:latin typeface="Calibri"/>
              </a:defRPr>
            </a:pPr>
            <a:r>
              <a:t>Kỳ Vọng &amp; Chỉ Số Đo Lường Cốt Lõi</a:t>
            </a:r>
          </a:p>
        </p:txBody>
      </p:sp>
      <p:sp>
        <p:nvSpPr>
          <p:cNvPr id="4" name="TextBox 3"/>
          <p:cNvSpPr txBox="1"/>
          <p:nvPr/>
        </p:nvSpPr>
        <p:spPr>
          <a:xfrm>
            <a:off x="914400" y="1417320"/>
            <a:ext cx="10332720" cy="274320"/>
          </a:xfrm>
          <a:prstGeom prst="rect">
            <a:avLst/>
          </a:prstGeom>
          <a:noFill/>
        </p:spPr>
        <p:txBody>
          <a:bodyPr wrap="square">
            <a:spAutoFit/>
          </a:bodyPr>
          <a:lstStyle/>
          <a:p>
            <a:pPr algn="l">
              <a:defRPr sz="1200" b="0">
                <a:solidFill>
                  <a:srgbClr val="6B7280"/>
                </a:solidFill>
                <a:latin typeface="Calibri"/>
              </a:defRPr>
            </a:pPr>
            <a:r>
              <a:t>North Star Metrics — H2/2026</a:t>
            </a:r>
          </a:p>
        </p:txBody>
      </p:sp>
      <p:graphicFrame>
        <p:nvGraphicFramePr>
          <p:cNvPr id="5" name="Table 4"/>
          <p:cNvGraphicFramePr>
            <a:graphicFrameLocks noGrp="1"/>
          </p:cNvGraphicFramePr>
          <p:nvPr/>
        </p:nvGraphicFramePr>
        <p:xfrm>
          <a:off x="914400" y="2011680"/>
          <a:ext cx="10332720" cy="3657600"/>
        </p:xfrm>
        <a:graphic>
          <a:graphicData uri="http://schemas.openxmlformats.org/drawingml/2006/table">
            <a:tbl>
              <a:tblPr firstRow="1" bandRow="1">
                <a:tableStyleId>{5C22544A-7EE6-4342-B048-85BDC9FD1C3A}</a:tableStyleId>
              </a:tblPr>
              <a:tblGrid>
                <a:gridCol w="2560320"/>
                <a:gridCol w="3200400"/>
                <a:gridCol w="4572000"/>
              </a:tblGrid>
              <a:tr h="731520">
                <a:tc>
                  <a:txBody>
                    <a:bodyPr/>
                    <a:lstStyle/>
                    <a:p>
                      <a:pPr>
                        <a:defRPr sz="1100" b="1">
                          <a:solidFill>
                            <a:srgbClr val="FFFFFF"/>
                          </a:solidFill>
                          <a:latin typeface="Calibri"/>
                        </a:defRPr>
                      </a:pPr>
                      <a:r>
                        <a:t>Phân Loại</a:t>
                      </a:r>
                    </a:p>
                  </a:txBody>
                  <a:tcPr>
                    <a:solidFill>
                      <a:srgbClr val="A50064"/>
                    </a:solidFill>
                  </a:tcPr>
                </a:tc>
                <a:tc>
                  <a:txBody>
                    <a:bodyPr/>
                    <a:lstStyle/>
                    <a:p>
                      <a:pPr>
                        <a:defRPr sz="1100" b="1">
                          <a:solidFill>
                            <a:srgbClr val="FFFFFF"/>
                          </a:solidFill>
                          <a:latin typeface="Calibri"/>
                        </a:defRPr>
                      </a:pPr>
                      <a:r>
                        <a:t>Chỉ Số Cốt Lõi</a:t>
                      </a:r>
                    </a:p>
                  </a:txBody>
                  <a:tcPr>
                    <a:solidFill>
                      <a:srgbClr val="A50064"/>
                    </a:solidFill>
                  </a:tcPr>
                </a:tc>
                <a:tc>
                  <a:txBody>
                    <a:bodyPr/>
                    <a:lstStyle/>
                    <a:p>
                      <a:pPr>
                        <a:defRPr sz="1100" b="1">
                          <a:solidFill>
                            <a:srgbClr val="FFFFFF"/>
                          </a:solidFill>
                          <a:latin typeface="Calibri"/>
                        </a:defRPr>
                      </a:pPr>
                      <a:r>
                        <a:t>Kỳ Vọng Đạt Được (H2/2026)</a:t>
                      </a:r>
                    </a:p>
                  </a:txBody>
                  <a:tcPr>
                    <a:solidFill>
                      <a:srgbClr val="A50064"/>
                    </a:solidFill>
                  </a:tcPr>
                </a:tc>
              </a:tr>
              <a:tr h="731520">
                <a:tc>
                  <a:txBody>
                    <a:bodyPr/>
                    <a:lstStyle/>
                    <a:p>
                      <a:pPr>
                        <a:defRPr sz="1100">
                          <a:solidFill>
                            <a:srgbClr val="374151"/>
                          </a:solidFill>
                          <a:latin typeface="Calibri"/>
                        </a:defRPr>
                      </a:pPr>
                      <a:r>
                        <a:t>North Star (Web)</a:t>
                      </a:r>
                    </a:p>
                  </a:txBody>
                  <a:tcPr>
                    <a:solidFill>
                      <a:srgbClr val="FFFFFF"/>
                    </a:solidFill>
                  </a:tcPr>
                </a:tc>
                <a:tc>
                  <a:txBody>
                    <a:bodyPr/>
                    <a:lstStyle/>
                    <a:p>
                      <a:pPr>
                        <a:defRPr sz="1100" b="1">
                          <a:solidFill>
                            <a:srgbClr val="111827"/>
                          </a:solidFill>
                          <a:latin typeface="Calibri"/>
                        </a:defRPr>
                      </a:pPr>
                      <a:r>
                        <a:t>Web-to-App Conversion (W2A CVR)</a:t>
                      </a:r>
                    </a:p>
                  </a:txBody>
                  <a:tcPr>
                    <a:solidFill>
                      <a:srgbClr val="FFFFFF"/>
                    </a:solidFill>
                  </a:tcPr>
                </a:tc>
                <a:tc>
                  <a:txBody>
                    <a:bodyPr/>
                    <a:lstStyle/>
                    <a:p>
                      <a:pPr>
                        <a:defRPr sz="1100">
                          <a:solidFill>
                            <a:srgbClr val="374151"/>
                          </a:solidFill>
                          <a:latin typeface="Calibri"/>
                        </a:defRPr>
                      </a:pPr>
                      <a:r>
                        <a:t>Đạt tỷ lệ trung bình &gt;10% (hướng tới target 12.5%)</a:t>
                      </a:r>
                    </a:p>
                  </a:txBody>
                  <a:tcPr>
                    <a:solidFill>
                      <a:srgbClr val="FFFFFF"/>
                    </a:solidFill>
                  </a:tcPr>
                </a:tc>
              </a:tr>
              <a:tr h="731520">
                <a:tc>
                  <a:txBody>
                    <a:bodyPr/>
                    <a:lstStyle/>
                    <a:p>
                      <a:pPr>
                        <a:defRPr sz="1100">
                          <a:solidFill>
                            <a:srgbClr val="374151"/>
                          </a:solidFill>
                          <a:latin typeface="Calibri"/>
                        </a:defRPr>
                      </a:pPr>
                      <a:r>
                        <a:t>North Star (SEO)</a:t>
                      </a:r>
                    </a:p>
                  </a:txBody>
                  <a:tcPr>
                    <a:solidFill>
                      <a:srgbClr val="F9FAFB"/>
                    </a:solidFill>
                  </a:tcPr>
                </a:tc>
                <a:tc>
                  <a:txBody>
                    <a:bodyPr/>
                    <a:lstStyle/>
                    <a:p>
                      <a:pPr>
                        <a:defRPr sz="1100" b="1">
                          <a:solidFill>
                            <a:srgbClr val="111827"/>
                          </a:solidFill>
                          <a:latin typeface="Calibri"/>
                        </a:defRPr>
                      </a:pPr>
                      <a:r>
                        <a:t>Share of Voice (SoV)</a:t>
                      </a:r>
                    </a:p>
                  </a:txBody>
                  <a:tcPr>
                    <a:solidFill>
                      <a:srgbClr val="F9FAFB"/>
                    </a:solidFill>
                  </a:tcPr>
                </a:tc>
                <a:tc>
                  <a:txBody>
                    <a:bodyPr/>
                    <a:lstStyle/>
                    <a:p>
                      <a:pPr>
                        <a:defRPr sz="1100">
                          <a:solidFill>
                            <a:srgbClr val="374151"/>
                          </a:solidFill>
                          <a:latin typeface="Calibri"/>
                        </a:defRPr>
                      </a:pPr>
                      <a:r>
                        <a:t>Đạt 10% SoV (tương đương ~356,000 organic sessions/tháng)</a:t>
                      </a:r>
                    </a:p>
                  </a:txBody>
                  <a:tcPr>
                    <a:solidFill>
                      <a:srgbClr val="F9FAFB"/>
                    </a:solidFill>
                  </a:tcPr>
                </a:tc>
              </a:tr>
              <a:tr h="731520">
                <a:tc>
                  <a:txBody>
                    <a:bodyPr/>
                    <a:lstStyle/>
                    <a:p>
                      <a:pPr>
                        <a:defRPr sz="1100">
                          <a:solidFill>
                            <a:srgbClr val="374151"/>
                          </a:solidFill>
                          <a:latin typeface="Calibri"/>
                        </a:defRPr>
                      </a:pPr>
                      <a:r>
                        <a:t>Business (Acquisition)</a:t>
                      </a:r>
                    </a:p>
                  </a:txBody>
                  <a:tcPr>
                    <a:solidFill>
                      <a:srgbClr val="FFFFFF"/>
                    </a:solidFill>
                  </a:tcPr>
                </a:tc>
                <a:tc>
                  <a:txBody>
                    <a:bodyPr/>
                    <a:lstStyle/>
                    <a:p>
                      <a:pPr>
                        <a:defRPr sz="1100" b="1">
                          <a:solidFill>
                            <a:srgbClr val="111827"/>
                          </a:solidFill>
                          <a:latin typeface="Calibri"/>
                        </a:defRPr>
                      </a:pPr>
                      <a:r>
                        <a:t>Monthly Engagement Users (MEU)</a:t>
                      </a:r>
                    </a:p>
                  </a:txBody>
                  <a:tcPr>
                    <a:solidFill>
                      <a:srgbClr val="FFFFFF"/>
                    </a:solidFill>
                  </a:tcPr>
                </a:tc>
                <a:tc>
                  <a:txBody>
                    <a:bodyPr/>
                    <a:lstStyle/>
                    <a:p>
                      <a:pPr>
                        <a:defRPr sz="1100">
                          <a:solidFill>
                            <a:srgbClr val="374151"/>
                          </a:solidFill>
                          <a:latin typeface="Calibri"/>
                        </a:defRPr>
                      </a:pPr>
                      <a:r>
                        <a:t>Đo lường bằng lượng xe lưu định theo dõi cảnh báo trên Web</a:t>
                      </a:r>
                    </a:p>
                  </a:txBody>
                  <a:tcPr>
                    <a:solidFill>
                      <a:srgbClr val="FFFFFF"/>
                    </a:solidFill>
                  </a:tcPr>
                </a:tc>
              </a:tr>
              <a:tr h="731520">
                <a:tc>
                  <a:txBody>
                    <a:bodyPr/>
                    <a:lstStyle/>
                    <a:p>
                      <a:pPr>
                        <a:defRPr sz="1100">
                          <a:solidFill>
                            <a:srgbClr val="374151"/>
                          </a:solidFill>
                          <a:latin typeface="Calibri"/>
                        </a:defRPr>
                      </a:pPr>
                      <a:r>
                        <a:t>Business (Ecosystem)</a:t>
                      </a:r>
                    </a:p>
                  </a:txBody>
                  <a:tcPr>
                    <a:solidFill>
                      <a:srgbClr val="F9FAFB"/>
                    </a:solidFill>
                  </a:tcPr>
                </a:tc>
                <a:tc>
                  <a:txBody>
                    <a:bodyPr/>
                    <a:lstStyle/>
                    <a:p>
                      <a:pPr>
                        <a:defRPr sz="1100" b="1">
                          <a:solidFill>
                            <a:srgbClr val="111827"/>
                          </a:solidFill>
                          <a:latin typeface="Calibri"/>
                        </a:defRPr>
                      </a:pPr>
                      <a:r>
                        <a:t>Cross-BU Conversion (Insurance &amp; VTS)</a:t>
                      </a:r>
                    </a:p>
                  </a:txBody>
                  <a:tcPr>
                    <a:solidFill>
                      <a:srgbClr val="F9FAFB"/>
                    </a:solidFill>
                  </a:tcPr>
                </a:tc>
                <a:tc>
                  <a:txBody>
                    <a:bodyPr/>
                    <a:lstStyle/>
                    <a:p>
                      <a:pPr>
                        <a:defRPr sz="1100">
                          <a:solidFill>
                            <a:srgbClr val="374151"/>
                          </a:solidFill>
                          <a:latin typeface="Calibri"/>
                        </a:defRPr>
                      </a:pPr>
                      <a:r>
                        <a:t>Tỷ lệ User mở Ví Trả Sau hoặc mua bảo hiểm từ phễu Phạt Nguội</a:t>
                      </a:r>
                    </a:p>
                  </a:txBody>
                  <a:tcPr>
                    <a:solidFill>
                      <a:srgbClr val="F9FAFB"/>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8B0055"/>
        </a:solidFill>
        <a:effectLst/>
      </p:bgPr>
    </p:bg>
    <p:spTree>
      <p:nvGrpSpPr>
        <p:cNvPr id="1" name=""/>
        <p:cNvGrpSpPr/>
        <p:nvPr/>
      </p:nvGrpSpPr>
      <p:grpSpPr/>
      <p:sp>
        <p:nvSpPr>
          <p:cNvPr id="2" name="TextBox 1"/>
          <p:cNvSpPr txBox="1"/>
          <p:nvPr/>
        </p:nvSpPr>
        <p:spPr>
          <a:xfrm>
            <a:off x="0" y="2103120"/>
            <a:ext cx="12191695" cy="731520"/>
          </a:xfrm>
          <a:prstGeom prst="rect">
            <a:avLst/>
          </a:prstGeom>
          <a:noFill/>
        </p:spPr>
        <p:txBody>
          <a:bodyPr wrap="square">
            <a:spAutoFit/>
          </a:bodyPr>
          <a:lstStyle/>
          <a:p>
            <a:pPr algn="ctr">
              <a:defRPr sz="4600" b="1">
                <a:solidFill>
                  <a:srgbClr val="FFFFFF"/>
                </a:solidFill>
                <a:latin typeface="Calibri"/>
              </a:defRPr>
            </a:pPr>
            <a:r>
              <a:t>Thank You</a:t>
            </a:r>
          </a:p>
        </p:txBody>
      </p:sp>
      <p:sp>
        <p:nvSpPr>
          <p:cNvPr id="3" name="Rectangle 2"/>
          <p:cNvSpPr/>
          <p:nvPr/>
        </p:nvSpPr>
        <p:spPr>
          <a:xfrm>
            <a:off x="5486400" y="3108960"/>
            <a:ext cx="118872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474720"/>
            <a:ext cx="8503920" cy="365760"/>
          </a:xfrm>
          <a:prstGeom prst="rect">
            <a:avLst/>
          </a:prstGeom>
          <a:noFill/>
        </p:spPr>
        <p:txBody>
          <a:bodyPr wrap="square">
            <a:spAutoFit/>
          </a:bodyPr>
          <a:lstStyle/>
          <a:p>
            <a:pPr algn="ctr">
              <a:defRPr sz="1400" b="0">
                <a:solidFill>
                  <a:srgbClr val="FFCCE5"/>
                </a:solidFill>
                <a:latin typeface="Calibri"/>
              </a:defRPr>
            </a:pPr>
            <a:r>
              <a:t>Growth Platform Division (GPD) — Hỗ trợ phát triển và vận hành hệ thống MoSpark</a:t>
            </a:r>
          </a:p>
        </p:txBody>
      </p:sp>
      <p:sp>
        <p:nvSpPr>
          <p:cNvPr id="5" name="TextBox 4"/>
          <p:cNvSpPr txBox="1"/>
          <p:nvPr/>
        </p:nvSpPr>
        <p:spPr>
          <a:xfrm>
            <a:off x="1828800" y="3931920"/>
            <a:ext cx="8503920" cy="365760"/>
          </a:xfrm>
          <a:prstGeom prst="rect">
            <a:avLst/>
          </a:prstGeom>
          <a:noFill/>
        </p:spPr>
        <p:txBody>
          <a:bodyPr wrap="square">
            <a:spAutoFit/>
          </a:bodyPr>
          <a:lstStyle/>
          <a:p>
            <a:pPr algn="ctr">
              <a:defRPr sz="1400" b="0">
                <a:solidFill>
                  <a:srgbClr val="FFCCE5"/>
                </a:solidFill>
                <a:latin typeface="Calibri"/>
              </a:defRPr>
            </a:pPr>
            <a:r>
              <a:t>Chúc dự án Pilot Phạt Nguội mang lại tăng trưởng bứt phá trong H2/2026</a:t>
            </a:r>
          </a:p>
        </p:txBody>
      </p:sp>
      <p:sp>
        <p:nvSpPr>
          <p:cNvPr id="6" name="TextBox 5"/>
          <p:cNvSpPr txBox="1"/>
          <p:nvPr/>
        </p:nvSpPr>
        <p:spPr>
          <a:xfrm>
            <a:off x="1828800" y="4663440"/>
            <a:ext cx="8503920" cy="365760"/>
          </a:xfrm>
          <a:prstGeom prst="rect">
            <a:avLst/>
          </a:prstGeom>
          <a:noFill/>
        </p:spPr>
        <p:txBody>
          <a:bodyPr wrap="square">
            <a:spAutoFit/>
          </a:bodyPr>
          <a:lstStyle/>
          <a:p>
            <a:pPr algn="ctr">
              <a:defRPr sz="1200" b="0">
                <a:solidFill>
                  <a:srgbClr val="BB88A0"/>
                </a:solidFill>
                <a:latin typeface="Calibri"/>
              </a:defRPr>
            </a:pPr>
            <a:r>
              <a:t>Liên hệ hỗ trợ: Văn Hiến (Web Product Lead)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